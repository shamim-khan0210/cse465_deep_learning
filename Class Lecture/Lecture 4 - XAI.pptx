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9"/>
  </p:notesMasterIdLst>
  <p:sldIdLst>
    <p:sldId id="256" r:id="rId2"/>
    <p:sldId id="261"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3" d="100"/>
          <a:sy n="73" d="100"/>
        </p:scale>
        <p:origin x="380"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AC9EB2-261C-42F6-B0AC-B8255E2C17FC}" type="datetimeFigureOut">
              <a:rPr lang="en-US" smtClean="0"/>
              <a:t>7/19/2025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DADE1-A21E-402D-995D-208013D5489C}" type="slidenum">
              <a:rPr lang="en-US" smtClean="0"/>
              <a:t>‹#›</a:t>
            </a:fld>
            <a:endParaRPr lang="en-US"/>
          </a:p>
        </p:txBody>
      </p:sp>
    </p:spTree>
    <p:extLst>
      <p:ext uri="{BB962C8B-B14F-4D97-AF65-F5344CB8AC3E}">
        <p14:creationId xmlns:p14="http://schemas.microsoft.com/office/powerpoint/2010/main" val="1120486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8FDADE1-A21E-402D-995D-208013D5489C}" type="slidenum">
              <a:rPr lang="en-US" smtClean="0"/>
              <a:t>1</a:t>
            </a:fld>
            <a:endParaRPr lang="en-US"/>
          </a:p>
        </p:txBody>
      </p:sp>
    </p:spTree>
    <p:extLst>
      <p:ext uri="{BB962C8B-B14F-4D97-AF65-F5344CB8AC3E}">
        <p14:creationId xmlns:p14="http://schemas.microsoft.com/office/powerpoint/2010/main" val="2494133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65E2C5-B693-43C2-B7B5-7C8C50F94B24}"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1960444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D095466-1B48-4C2D-A078-BFA4A4F6382F}"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926996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A6DCDD-DFB9-4420-BD3E-A2D7879A6A49}"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1553300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C3ACA-9BB2-4974-ADC0-CF903B9C6959}" type="datetime1">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150657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C9C3FA-5774-4533-95D6-34EE7E7ADDC5}" type="datetime1">
              <a:rPr lang="en-US" smtClean="0"/>
              <a:t>7/19/2025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361732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1CBC70D-D3A4-42AD-BB7B-F2A3212AA7D5}" type="datetime1">
              <a:rPr lang="en-US" smtClean="0"/>
              <a:t>7/19/2025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300700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2886661-62C1-4294-B0DB-D660061C603C}" type="datetime1">
              <a:rPr lang="en-US" smtClean="0"/>
              <a:t>7/19/2025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2149171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E3C6EC8-2D38-4CC0-9B30-62F69F0B90BA}" type="datetime1">
              <a:rPr lang="en-US" smtClean="0"/>
              <a:t>7/19/2025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2434344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B2A43A-A829-4937-AF50-3D54DC36C76C}" type="datetime1">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227728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6E4C14-F15F-4A88-941D-7FA4C5BE7A41}" type="datetime1">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1654293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342381-D49C-4191-B934-A797AE424BE7}"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634065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D471ACC-2237-46B4-9D65-388879F9AFDD}"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70768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666433-A873-4580-B607-E1CEAC884F27}"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895368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5A76B39-3751-41C4-9837-556A11742FC3}" type="datetime1">
              <a:rPr lang="en-US" smtClean="0"/>
              <a:t>7/19/2025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3078453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33C35F3-0A8C-480D-9F3E-5B11E7A6019D}" type="datetime1">
              <a:rPr lang="en-US" smtClean="0"/>
              <a:t>7/19/2025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2094578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9C1BFE-DC09-4B2E-88F3-36D37AAD9478}"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1127822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E0147-23D2-4357-BDAB-E620C1E7939F}" type="datetime1">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18EED-815E-4430-B4BD-6788AF5F3FAA}" type="slidenum">
              <a:rPr lang="en-US" smtClean="0"/>
              <a:t>‹#›</a:t>
            </a:fld>
            <a:endParaRPr lang="en-US"/>
          </a:p>
        </p:txBody>
      </p:sp>
    </p:spTree>
    <p:extLst>
      <p:ext uri="{BB962C8B-B14F-4D97-AF65-F5344CB8AC3E}">
        <p14:creationId xmlns:p14="http://schemas.microsoft.com/office/powerpoint/2010/main" val="952385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E797DC2-C4DC-4ACA-BA46-2CEC77FF728F}" type="datetime1">
              <a:rPr lang="en-US" smtClean="0"/>
              <a:t>7/19/2025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3918EED-815E-4430-B4BD-6788AF5F3FAA}" type="slidenum">
              <a:rPr lang="en-US" smtClean="0"/>
              <a:t>‹#›</a:t>
            </a:fld>
            <a:endParaRPr lang="en-US"/>
          </a:p>
        </p:txBody>
      </p:sp>
    </p:spTree>
    <p:extLst>
      <p:ext uri="{BB962C8B-B14F-4D97-AF65-F5344CB8AC3E}">
        <p14:creationId xmlns:p14="http://schemas.microsoft.com/office/powerpoint/2010/main" val="1657079189"/>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Explainable Artificial Intelligence (XAI)</a:t>
            </a:r>
          </a:p>
        </p:txBody>
      </p:sp>
      <p:sp>
        <p:nvSpPr>
          <p:cNvPr id="3" name="Subtitle 2"/>
          <p:cNvSpPr>
            <a:spLocks noGrp="1"/>
          </p:cNvSpPr>
          <p:nvPr>
            <p:ph type="subTitle" idx="1"/>
          </p:nvPr>
        </p:nvSpPr>
        <p:spPr/>
        <p:txBody>
          <a:bodyPr/>
          <a:lstStyle/>
          <a:p>
            <a:r>
              <a:rPr lang="en-US" dirty="0"/>
              <a:t>Dr. </a:t>
            </a:r>
            <a:r>
              <a:rPr lang="en-US" dirty="0" err="1"/>
              <a:t>Sifat</a:t>
            </a:r>
            <a:r>
              <a:rPr lang="en-US" dirty="0"/>
              <a:t> </a:t>
            </a:r>
            <a:r>
              <a:rPr lang="en-US" dirty="0" err="1"/>
              <a:t>Momen</a:t>
            </a:r>
            <a:endParaRPr lang="en-US" dirty="0"/>
          </a:p>
        </p:txBody>
      </p:sp>
      <p:sp>
        <p:nvSpPr>
          <p:cNvPr id="4" name="Slide Number Placeholder 3"/>
          <p:cNvSpPr>
            <a:spLocks noGrp="1"/>
          </p:cNvSpPr>
          <p:nvPr>
            <p:ph type="sldNum" sz="quarter" idx="12"/>
          </p:nvPr>
        </p:nvSpPr>
        <p:spPr/>
        <p:txBody>
          <a:bodyPr/>
          <a:lstStyle/>
          <a:p>
            <a:fld id="{53918EED-815E-4430-B4BD-6788AF5F3FAA}" type="slidenum">
              <a:rPr lang="en-US" smtClean="0"/>
              <a:t>1</a:t>
            </a:fld>
            <a:endParaRPr lang="en-US"/>
          </a:p>
        </p:txBody>
      </p:sp>
    </p:spTree>
    <p:extLst>
      <p:ext uri="{BB962C8B-B14F-4D97-AF65-F5344CB8AC3E}">
        <p14:creationId xmlns:p14="http://schemas.microsoft.com/office/powerpoint/2010/main" val="2325459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Blackbox</a:t>
            </a:r>
            <a:r>
              <a:rPr lang="en-US" dirty="0"/>
              <a:t> versus </a:t>
            </a:r>
            <a:r>
              <a:rPr lang="en-US" dirty="0" err="1"/>
              <a:t>Whitebox</a:t>
            </a:r>
            <a:r>
              <a:rPr lang="en-US" dirty="0"/>
              <a:t> Machine Learning</a:t>
            </a:r>
          </a:p>
        </p:txBody>
      </p:sp>
      <p:sp>
        <p:nvSpPr>
          <p:cNvPr id="4" name="Slide Number Placeholder 3"/>
          <p:cNvSpPr>
            <a:spLocks noGrp="1"/>
          </p:cNvSpPr>
          <p:nvPr>
            <p:ph type="sldNum" sz="quarter" idx="12"/>
          </p:nvPr>
        </p:nvSpPr>
        <p:spPr/>
        <p:txBody>
          <a:bodyPr/>
          <a:lstStyle/>
          <a:p>
            <a:fld id="{53918EED-815E-4430-B4BD-6788AF5F3FAA}" type="slidenum">
              <a:rPr lang="en-US" smtClean="0"/>
              <a:t>2</a:t>
            </a:fld>
            <a:endParaRPr lang="en-US"/>
          </a:p>
        </p:txBody>
      </p:sp>
      <p:pic>
        <p:nvPicPr>
          <p:cNvPr id="2050" name="Picture 2" descr="What is Black Box AI, And What Does It Promise U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4302" y="1952054"/>
            <a:ext cx="5828794" cy="4874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768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Explainability</a:t>
            </a:r>
            <a:r>
              <a:rPr lang="en-US" dirty="0"/>
              <a:t> in AI</a:t>
            </a:r>
          </a:p>
        </p:txBody>
      </p:sp>
      <p:sp>
        <p:nvSpPr>
          <p:cNvPr id="3" name="Content Placeholder 2"/>
          <p:cNvSpPr>
            <a:spLocks noGrp="1"/>
          </p:cNvSpPr>
          <p:nvPr>
            <p:ph idx="1"/>
          </p:nvPr>
        </p:nvSpPr>
        <p:spPr/>
        <p:txBody>
          <a:bodyPr/>
          <a:lstStyle/>
          <a:p>
            <a:r>
              <a:rPr lang="en-US" dirty="0"/>
              <a:t>&lt;&lt;To describe the purpose, rationale, and decision-making process of the AI tool in a way that can be understood by the average person&gt;&gt;</a:t>
            </a:r>
          </a:p>
          <a:p>
            <a:pPr lvl="1"/>
            <a:r>
              <a:rPr lang="en-US" dirty="0"/>
              <a:t>Data Scientist</a:t>
            </a:r>
          </a:p>
          <a:p>
            <a:pPr lvl="1"/>
            <a:r>
              <a:rPr lang="en-US" dirty="0"/>
              <a:t>Domain Expert (medical doctor for instance)</a:t>
            </a:r>
          </a:p>
          <a:p>
            <a:pPr lvl="1"/>
            <a:r>
              <a:rPr lang="en-US" dirty="0"/>
              <a:t>User/customer</a:t>
            </a:r>
          </a:p>
          <a:p>
            <a:pPr lvl="1"/>
            <a:r>
              <a:rPr lang="en-US" dirty="0"/>
              <a:t>Regulator/lawyer/ …</a:t>
            </a:r>
          </a:p>
          <a:p>
            <a:pPr lvl="1"/>
            <a:endParaRPr lang="en-US" dirty="0"/>
          </a:p>
        </p:txBody>
      </p:sp>
      <p:sp>
        <p:nvSpPr>
          <p:cNvPr id="4" name="Slide Number Placeholder 3"/>
          <p:cNvSpPr>
            <a:spLocks noGrp="1"/>
          </p:cNvSpPr>
          <p:nvPr>
            <p:ph type="sldNum" sz="quarter" idx="12"/>
          </p:nvPr>
        </p:nvSpPr>
        <p:spPr/>
        <p:txBody>
          <a:bodyPr/>
          <a:lstStyle/>
          <a:p>
            <a:fld id="{53918EED-815E-4430-B4BD-6788AF5F3FAA}" type="slidenum">
              <a:rPr lang="en-US" smtClean="0"/>
              <a:t>3</a:t>
            </a:fld>
            <a:endParaRPr lang="en-US"/>
          </a:p>
        </p:txBody>
      </p:sp>
    </p:spTree>
    <p:extLst>
      <p:ext uri="{BB962C8B-B14F-4D97-AF65-F5344CB8AC3E}">
        <p14:creationId xmlns:p14="http://schemas.microsoft.com/office/powerpoint/2010/main" val="164687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and interpretability tradeoff</a:t>
            </a:r>
          </a:p>
        </p:txBody>
      </p:sp>
      <p:pic>
        <p:nvPicPr>
          <p:cNvPr id="1026" name="Picture 2" descr="Trade-off between model interpretability and performance, and a...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1" y="2209799"/>
            <a:ext cx="8096250" cy="46482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53918EED-815E-4430-B4BD-6788AF5F3FAA}" type="slidenum">
              <a:rPr lang="en-US" smtClean="0"/>
              <a:t>4</a:t>
            </a:fld>
            <a:endParaRPr lang="en-US"/>
          </a:p>
        </p:txBody>
      </p:sp>
    </p:spTree>
    <p:extLst>
      <p:ext uri="{BB962C8B-B14F-4D97-AF65-F5344CB8AC3E}">
        <p14:creationId xmlns:p14="http://schemas.microsoft.com/office/powerpoint/2010/main" val="100382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Interpretable Model-Agnostic Explanations (LIME)</a:t>
            </a:r>
          </a:p>
        </p:txBody>
      </p:sp>
      <p:sp>
        <p:nvSpPr>
          <p:cNvPr id="4" name="Slide Number Placeholder 3"/>
          <p:cNvSpPr>
            <a:spLocks noGrp="1"/>
          </p:cNvSpPr>
          <p:nvPr>
            <p:ph type="sldNum" sz="quarter" idx="12"/>
          </p:nvPr>
        </p:nvSpPr>
        <p:spPr/>
        <p:txBody>
          <a:bodyPr/>
          <a:lstStyle/>
          <a:p>
            <a:fld id="{53918EED-815E-4430-B4BD-6788AF5F3FAA}" type="slidenum">
              <a:rPr lang="en-US" smtClean="0"/>
              <a:t>5</a:t>
            </a:fld>
            <a:endParaRPr lang="en-US"/>
          </a:p>
        </p:txBody>
      </p:sp>
      <p:pic>
        <p:nvPicPr>
          <p:cNvPr id="5" name="Picture 4"/>
          <p:cNvPicPr>
            <a:picLocks noChangeAspect="1"/>
          </p:cNvPicPr>
          <p:nvPr/>
        </p:nvPicPr>
        <p:blipFill>
          <a:blip r:embed="rId2"/>
          <a:stretch>
            <a:fillRect/>
          </a:stretch>
        </p:blipFill>
        <p:spPr>
          <a:xfrm>
            <a:off x="-19904" y="1942892"/>
            <a:ext cx="12231807" cy="2972215"/>
          </a:xfrm>
          <a:prstGeom prst="rect">
            <a:avLst/>
          </a:prstGeom>
        </p:spPr>
      </p:pic>
      <p:sp>
        <p:nvSpPr>
          <p:cNvPr id="6" name="TextBox 5"/>
          <p:cNvSpPr txBox="1"/>
          <p:nvPr/>
        </p:nvSpPr>
        <p:spPr>
          <a:xfrm>
            <a:off x="192024" y="5038344"/>
            <a:ext cx="3538728" cy="369332"/>
          </a:xfrm>
          <a:prstGeom prst="rect">
            <a:avLst/>
          </a:prstGeom>
          <a:noFill/>
        </p:spPr>
        <p:txBody>
          <a:bodyPr wrap="square" rtlCol="0">
            <a:spAutoFit/>
          </a:bodyPr>
          <a:lstStyle/>
          <a:p>
            <a:r>
              <a:rPr lang="en-US" dirty="0"/>
              <a:t>Instance Specific Explanations</a:t>
            </a:r>
          </a:p>
        </p:txBody>
      </p:sp>
      <p:pic>
        <p:nvPicPr>
          <p:cNvPr id="7" name="Picture 6"/>
          <p:cNvPicPr>
            <a:picLocks noChangeAspect="1"/>
          </p:cNvPicPr>
          <p:nvPr/>
        </p:nvPicPr>
        <p:blipFill>
          <a:blip r:embed="rId3"/>
          <a:stretch>
            <a:fillRect/>
          </a:stretch>
        </p:blipFill>
        <p:spPr>
          <a:xfrm>
            <a:off x="5541264" y="4961459"/>
            <a:ext cx="6670639" cy="1867584"/>
          </a:xfrm>
          <a:prstGeom prst="rect">
            <a:avLst/>
          </a:prstGeom>
        </p:spPr>
      </p:pic>
    </p:spTree>
    <p:extLst>
      <p:ext uri="{BB962C8B-B14F-4D97-AF65-F5344CB8AC3E}">
        <p14:creationId xmlns:p14="http://schemas.microsoft.com/office/powerpoint/2010/main" val="675883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need for </a:t>
            </a:r>
            <a:r>
              <a:rPr lang="en-US" dirty="0" err="1"/>
              <a:t>Explainability</a:t>
            </a:r>
            <a:endParaRPr lang="en-US" dirty="0"/>
          </a:p>
        </p:txBody>
      </p:sp>
      <p:sp>
        <p:nvSpPr>
          <p:cNvPr id="4" name="Slide Number Placeholder 3"/>
          <p:cNvSpPr>
            <a:spLocks noGrp="1"/>
          </p:cNvSpPr>
          <p:nvPr>
            <p:ph type="sldNum" sz="quarter" idx="12"/>
          </p:nvPr>
        </p:nvSpPr>
        <p:spPr/>
        <p:txBody>
          <a:bodyPr/>
          <a:lstStyle/>
          <a:p>
            <a:fld id="{53918EED-815E-4430-B4BD-6788AF5F3FAA}" type="slidenum">
              <a:rPr lang="en-US" smtClean="0"/>
              <a:t>6</a:t>
            </a:fld>
            <a:endParaRPr lang="en-US"/>
          </a:p>
        </p:txBody>
      </p:sp>
      <p:pic>
        <p:nvPicPr>
          <p:cNvPr id="5" name="Picture 4"/>
          <p:cNvPicPr>
            <a:picLocks noChangeAspect="1"/>
          </p:cNvPicPr>
          <p:nvPr/>
        </p:nvPicPr>
        <p:blipFill>
          <a:blip r:embed="rId2"/>
          <a:stretch>
            <a:fillRect/>
          </a:stretch>
        </p:blipFill>
        <p:spPr>
          <a:xfrm>
            <a:off x="646111" y="2240279"/>
            <a:ext cx="11387709" cy="4173631"/>
          </a:xfrm>
          <a:prstGeom prst="rect">
            <a:avLst/>
          </a:prstGeom>
        </p:spPr>
      </p:pic>
    </p:spTree>
    <p:extLst>
      <p:ext uri="{BB962C8B-B14F-4D97-AF65-F5344CB8AC3E}">
        <p14:creationId xmlns:p14="http://schemas.microsoft.com/office/powerpoint/2010/main" val="4128884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need for </a:t>
            </a:r>
            <a:r>
              <a:rPr lang="en-US" dirty="0" err="1"/>
              <a:t>Explainability</a:t>
            </a:r>
            <a:endParaRPr lang="en-US" dirty="0"/>
          </a:p>
        </p:txBody>
      </p:sp>
      <p:sp>
        <p:nvSpPr>
          <p:cNvPr id="4" name="Slide Number Placeholder 3"/>
          <p:cNvSpPr>
            <a:spLocks noGrp="1"/>
          </p:cNvSpPr>
          <p:nvPr>
            <p:ph type="sldNum" sz="quarter" idx="12"/>
          </p:nvPr>
        </p:nvSpPr>
        <p:spPr/>
        <p:txBody>
          <a:bodyPr/>
          <a:lstStyle/>
          <a:p>
            <a:fld id="{53918EED-815E-4430-B4BD-6788AF5F3FAA}" type="slidenum">
              <a:rPr lang="en-US" smtClean="0"/>
              <a:t>7</a:t>
            </a:fld>
            <a:endParaRPr lang="en-US"/>
          </a:p>
        </p:txBody>
      </p:sp>
      <p:pic>
        <p:nvPicPr>
          <p:cNvPr id="5" name="Picture 4"/>
          <p:cNvPicPr>
            <a:picLocks noChangeAspect="1"/>
          </p:cNvPicPr>
          <p:nvPr/>
        </p:nvPicPr>
        <p:blipFill>
          <a:blip r:embed="rId2"/>
          <a:stretch>
            <a:fillRect/>
          </a:stretch>
        </p:blipFill>
        <p:spPr>
          <a:xfrm>
            <a:off x="646111" y="1260358"/>
            <a:ext cx="9878804" cy="2581635"/>
          </a:xfrm>
          <a:prstGeom prst="rect">
            <a:avLst/>
          </a:prstGeom>
        </p:spPr>
      </p:pic>
      <p:sp>
        <p:nvSpPr>
          <p:cNvPr id="6" name="TextBox 5"/>
          <p:cNvSpPr txBox="1"/>
          <p:nvPr/>
        </p:nvSpPr>
        <p:spPr>
          <a:xfrm>
            <a:off x="822960" y="3941064"/>
            <a:ext cx="10241280" cy="1200329"/>
          </a:xfrm>
          <a:prstGeom prst="rect">
            <a:avLst/>
          </a:prstGeom>
          <a:noFill/>
        </p:spPr>
        <p:txBody>
          <a:bodyPr wrap="square" rtlCol="0">
            <a:spAutoFit/>
          </a:bodyPr>
          <a:lstStyle/>
          <a:p>
            <a:r>
              <a:rPr lang="en-US" dirty="0"/>
              <a:t>A challenging example cited by Kaufman et al. is one where the patient ID was found to be heavily correlated with the target class in the training and validation data. This issue would be incredibly challenging to identify just by observing the predictions and the raw data, but much easier if explanations could have been provided.</a:t>
            </a:r>
          </a:p>
        </p:txBody>
      </p:sp>
    </p:spTree>
    <p:extLst>
      <p:ext uri="{BB962C8B-B14F-4D97-AF65-F5344CB8AC3E}">
        <p14:creationId xmlns:p14="http://schemas.microsoft.com/office/powerpoint/2010/main" val="369321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need for </a:t>
            </a:r>
            <a:r>
              <a:rPr lang="en-US" dirty="0" err="1"/>
              <a:t>Explainability</a:t>
            </a:r>
            <a:endParaRPr lang="en-US" dirty="0"/>
          </a:p>
        </p:txBody>
      </p:sp>
      <p:sp>
        <p:nvSpPr>
          <p:cNvPr id="4" name="Slide Number Placeholder 3"/>
          <p:cNvSpPr>
            <a:spLocks noGrp="1"/>
          </p:cNvSpPr>
          <p:nvPr>
            <p:ph type="sldNum" sz="quarter" idx="12"/>
          </p:nvPr>
        </p:nvSpPr>
        <p:spPr/>
        <p:txBody>
          <a:bodyPr/>
          <a:lstStyle/>
          <a:p>
            <a:fld id="{53918EED-815E-4430-B4BD-6788AF5F3FAA}" type="slidenum">
              <a:rPr lang="en-US" smtClean="0"/>
              <a:t>8</a:t>
            </a:fld>
            <a:endParaRPr lang="en-US"/>
          </a:p>
        </p:txBody>
      </p:sp>
      <p:pic>
        <p:nvPicPr>
          <p:cNvPr id="5" name="Picture 4"/>
          <p:cNvPicPr>
            <a:picLocks noChangeAspect="1"/>
          </p:cNvPicPr>
          <p:nvPr/>
        </p:nvPicPr>
        <p:blipFill>
          <a:blip r:embed="rId2"/>
          <a:stretch>
            <a:fillRect/>
          </a:stretch>
        </p:blipFill>
        <p:spPr>
          <a:xfrm>
            <a:off x="646111" y="1239105"/>
            <a:ext cx="6444396" cy="5538400"/>
          </a:xfrm>
          <a:prstGeom prst="rect">
            <a:avLst/>
          </a:prstGeom>
        </p:spPr>
      </p:pic>
      <p:sp>
        <p:nvSpPr>
          <p:cNvPr id="6" name="TextBox 5"/>
          <p:cNvSpPr txBox="1"/>
          <p:nvPr/>
        </p:nvSpPr>
        <p:spPr>
          <a:xfrm>
            <a:off x="7370064" y="3712464"/>
            <a:ext cx="4608576" cy="2031325"/>
          </a:xfrm>
          <a:prstGeom prst="rect">
            <a:avLst/>
          </a:prstGeom>
          <a:noFill/>
        </p:spPr>
        <p:txBody>
          <a:bodyPr wrap="square" rtlCol="0">
            <a:spAutoFit/>
          </a:bodyPr>
          <a:lstStyle/>
          <a:p>
            <a:r>
              <a:rPr lang="en-US" dirty="0" err="1"/>
              <a:t>Explainability</a:t>
            </a:r>
            <a:r>
              <a:rPr lang="en-US" dirty="0"/>
              <a:t> can be very useful for model selection as well. The algorithm with higher accuracy on the validation set is actually much worse, a fact that is easy to see when explanations are provided (again, due to human prior knowledge), but hard otherwise.</a:t>
            </a:r>
          </a:p>
        </p:txBody>
      </p:sp>
    </p:spTree>
    <p:extLst>
      <p:ext uri="{BB962C8B-B14F-4D97-AF65-F5344CB8AC3E}">
        <p14:creationId xmlns:p14="http://schemas.microsoft.com/office/powerpoint/2010/main" val="2211773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Desired Characteristics for Explainers</a:t>
            </a:r>
          </a:p>
        </p:txBody>
      </p:sp>
      <p:sp>
        <p:nvSpPr>
          <p:cNvPr id="3" name="Content Placeholder 2"/>
          <p:cNvSpPr>
            <a:spLocks noGrp="1"/>
          </p:cNvSpPr>
          <p:nvPr>
            <p:ph idx="1"/>
          </p:nvPr>
        </p:nvSpPr>
        <p:spPr/>
        <p:txBody>
          <a:bodyPr/>
          <a:lstStyle/>
          <a:p>
            <a:r>
              <a:rPr lang="en-US" dirty="0"/>
              <a:t>An essential criterion for explanations is that they must be </a:t>
            </a:r>
            <a:r>
              <a:rPr lang="en-US" b="1" dirty="0"/>
              <a:t>interpretable</a:t>
            </a:r>
            <a:r>
              <a:rPr lang="en-US" dirty="0"/>
              <a:t>, i.e., provide qualitative understanding between the input variables and the response.</a:t>
            </a:r>
          </a:p>
          <a:p>
            <a:r>
              <a:rPr lang="en-US" dirty="0"/>
              <a:t>For example, if hundreds or thousands of features significantly contribute to a prediction, it is not reasonable to expect any user to comprehend why the prediction was made, even if individual weights can be inspected.</a:t>
            </a:r>
          </a:p>
          <a:p>
            <a:r>
              <a:rPr lang="en-US" dirty="0"/>
              <a:t>This requirement further implies that explanations should be easy to understand.</a:t>
            </a:r>
          </a:p>
          <a:p>
            <a:r>
              <a:rPr lang="en-US" dirty="0"/>
              <a:t>Finally, note that the notion of interpretability also depends on the target audience.</a:t>
            </a:r>
          </a:p>
        </p:txBody>
      </p:sp>
      <p:sp>
        <p:nvSpPr>
          <p:cNvPr id="4" name="Slide Number Placeholder 3"/>
          <p:cNvSpPr>
            <a:spLocks noGrp="1"/>
          </p:cNvSpPr>
          <p:nvPr>
            <p:ph type="sldNum" sz="quarter" idx="12"/>
          </p:nvPr>
        </p:nvSpPr>
        <p:spPr/>
        <p:txBody>
          <a:bodyPr/>
          <a:lstStyle/>
          <a:p>
            <a:fld id="{53918EED-815E-4430-B4BD-6788AF5F3FAA}" type="slidenum">
              <a:rPr lang="en-US" smtClean="0"/>
              <a:t>9</a:t>
            </a:fld>
            <a:endParaRPr lang="en-US"/>
          </a:p>
        </p:txBody>
      </p:sp>
    </p:spTree>
    <p:extLst>
      <p:ext uri="{BB962C8B-B14F-4D97-AF65-F5344CB8AC3E}">
        <p14:creationId xmlns:p14="http://schemas.microsoft.com/office/powerpoint/2010/main" val="1343259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Desired Characteristics for Explainers</a:t>
            </a:r>
          </a:p>
        </p:txBody>
      </p:sp>
      <p:sp>
        <p:nvSpPr>
          <p:cNvPr id="3" name="Content Placeholder 2"/>
          <p:cNvSpPr>
            <a:spLocks noGrp="1"/>
          </p:cNvSpPr>
          <p:nvPr>
            <p:ph idx="1"/>
          </p:nvPr>
        </p:nvSpPr>
        <p:spPr/>
        <p:txBody>
          <a:bodyPr/>
          <a:lstStyle/>
          <a:p>
            <a:r>
              <a:rPr lang="en-US" dirty="0"/>
              <a:t>Another essential criterion is </a:t>
            </a:r>
            <a:r>
              <a:rPr lang="en-US" b="1" dirty="0"/>
              <a:t>local fidelity</a:t>
            </a:r>
            <a:r>
              <a:rPr lang="en-US" dirty="0"/>
              <a:t>. </a:t>
            </a:r>
          </a:p>
          <a:p>
            <a:r>
              <a:rPr lang="en-US" dirty="0"/>
              <a:t>Although it is often impossible for an explanation to be completely faithful unless it is the complete description of the model itself, for an explanation to be meaningful it must at least be locally faithful, i.e. it must correspond to how the model behaves in the vicinity of the instance being predicted. </a:t>
            </a:r>
          </a:p>
          <a:p>
            <a:r>
              <a:rPr lang="en-US" dirty="0"/>
              <a:t>Please note that local fidelity does not imply global fidelity: features that are globally important may not be important in the local context, and vice versa. </a:t>
            </a:r>
          </a:p>
        </p:txBody>
      </p:sp>
      <p:sp>
        <p:nvSpPr>
          <p:cNvPr id="4" name="Slide Number Placeholder 3"/>
          <p:cNvSpPr>
            <a:spLocks noGrp="1"/>
          </p:cNvSpPr>
          <p:nvPr>
            <p:ph type="sldNum" sz="quarter" idx="12"/>
          </p:nvPr>
        </p:nvSpPr>
        <p:spPr/>
        <p:txBody>
          <a:bodyPr/>
          <a:lstStyle/>
          <a:p>
            <a:fld id="{53918EED-815E-4430-B4BD-6788AF5F3FAA}" type="slidenum">
              <a:rPr lang="en-US" smtClean="0"/>
              <a:t>10</a:t>
            </a:fld>
            <a:endParaRPr lang="en-US"/>
          </a:p>
        </p:txBody>
      </p:sp>
    </p:spTree>
    <p:extLst>
      <p:ext uri="{BB962C8B-B14F-4D97-AF65-F5344CB8AC3E}">
        <p14:creationId xmlns:p14="http://schemas.microsoft.com/office/powerpoint/2010/main" val="824787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Desired Characteristics for Explainers</a:t>
            </a:r>
          </a:p>
        </p:txBody>
      </p:sp>
      <p:sp>
        <p:nvSpPr>
          <p:cNvPr id="3" name="Content Placeholder 2"/>
          <p:cNvSpPr>
            <a:spLocks noGrp="1"/>
          </p:cNvSpPr>
          <p:nvPr>
            <p:ph idx="1"/>
          </p:nvPr>
        </p:nvSpPr>
        <p:spPr/>
        <p:txBody>
          <a:bodyPr/>
          <a:lstStyle/>
          <a:p>
            <a:r>
              <a:rPr lang="en-US" dirty="0"/>
              <a:t>While there are models that are inherently interpretable, an explainer should be able to explain any model, and thus be </a:t>
            </a:r>
            <a:r>
              <a:rPr lang="en-US" b="1" dirty="0"/>
              <a:t>model-agnostic</a:t>
            </a:r>
            <a:r>
              <a:rPr lang="en-US" dirty="0"/>
              <a:t> (i.e. treat the original model as a black box).</a:t>
            </a:r>
          </a:p>
        </p:txBody>
      </p:sp>
      <p:sp>
        <p:nvSpPr>
          <p:cNvPr id="4" name="Slide Number Placeholder 3"/>
          <p:cNvSpPr>
            <a:spLocks noGrp="1"/>
          </p:cNvSpPr>
          <p:nvPr>
            <p:ph type="sldNum" sz="quarter" idx="12"/>
          </p:nvPr>
        </p:nvSpPr>
        <p:spPr/>
        <p:txBody>
          <a:bodyPr/>
          <a:lstStyle/>
          <a:p>
            <a:fld id="{53918EED-815E-4430-B4BD-6788AF5F3FAA}" type="slidenum">
              <a:rPr lang="en-US" smtClean="0"/>
              <a:t>11</a:t>
            </a:fld>
            <a:endParaRPr lang="en-US"/>
          </a:p>
        </p:txBody>
      </p:sp>
    </p:spTree>
    <p:extLst>
      <p:ext uri="{BB962C8B-B14F-4D97-AF65-F5344CB8AC3E}">
        <p14:creationId xmlns:p14="http://schemas.microsoft.com/office/powerpoint/2010/main" val="3234579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LIME Works</a:t>
            </a:r>
          </a:p>
        </p:txBody>
      </p:sp>
      <p:sp>
        <p:nvSpPr>
          <p:cNvPr id="4" name="Slide Number Placeholder 3"/>
          <p:cNvSpPr>
            <a:spLocks noGrp="1"/>
          </p:cNvSpPr>
          <p:nvPr>
            <p:ph type="sldNum" sz="quarter" idx="12"/>
          </p:nvPr>
        </p:nvSpPr>
        <p:spPr/>
        <p:txBody>
          <a:bodyPr/>
          <a:lstStyle/>
          <a:p>
            <a:fld id="{53918EED-815E-4430-B4BD-6788AF5F3FAA}" type="slidenum">
              <a:rPr lang="en-US" smtClean="0"/>
              <a:t>12</a:t>
            </a:fld>
            <a:endParaRPr lang="en-US"/>
          </a:p>
        </p:txBody>
      </p:sp>
      <p:pic>
        <p:nvPicPr>
          <p:cNvPr id="5" name="Picture 4"/>
          <p:cNvPicPr>
            <a:picLocks noChangeAspect="1"/>
          </p:cNvPicPr>
          <p:nvPr/>
        </p:nvPicPr>
        <p:blipFill>
          <a:blip r:embed="rId2"/>
          <a:stretch>
            <a:fillRect/>
          </a:stretch>
        </p:blipFill>
        <p:spPr>
          <a:xfrm>
            <a:off x="4252419" y="1426989"/>
            <a:ext cx="7939581" cy="5431011"/>
          </a:xfrm>
          <a:prstGeom prst="rect">
            <a:avLst/>
          </a:prstGeom>
        </p:spPr>
      </p:pic>
    </p:spTree>
    <p:extLst>
      <p:ext uri="{BB962C8B-B14F-4D97-AF65-F5344CB8AC3E}">
        <p14:creationId xmlns:p14="http://schemas.microsoft.com/office/powerpoint/2010/main" val="318725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4" name="Slide Number Placeholder 3"/>
          <p:cNvSpPr>
            <a:spLocks noGrp="1"/>
          </p:cNvSpPr>
          <p:nvPr>
            <p:ph type="sldNum" sz="quarter" idx="12"/>
          </p:nvPr>
        </p:nvSpPr>
        <p:spPr/>
        <p:txBody>
          <a:bodyPr/>
          <a:lstStyle/>
          <a:p>
            <a:fld id="{53918EED-815E-4430-B4BD-6788AF5F3FAA}" type="slidenum">
              <a:rPr lang="en-US" smtClean="0"/>
              <a:t>13</a:t>
            </a:fld>
            <a:endParaRPr lang="en-US"/>
          </a:p>
        </p:txBody>
      </p:sp>
      <p:pic>
        <p:nvPicPr>
          <p:cNvPr id="7" name="Picture 6"/>
          <p:cNvPicPr>
            <a:picLocks noChangeAspect="1"/>
          </p:cNvPicPr>
          <p:nvPr/>
        </p:nvPicPr>
        <p:blipFill>
          <a:blip r:embed="rId2"/>
          <a:stretch>
            <a:fillRect/>
          </a:stretch>
        </p:blipFill>
        <p:spPr>
          <a:xfrm>
            <a:off x="126706" y="1548892"/>
            <a:ext cx="11938587" cy="4114032"/>
          </a:xfrm>
          <a:prstGeom prst="rect">
            <a:avLst/>
          </a:prstGeom>
        </p:spPr>
      </p:pic>
    </p:spTree>
    <p:extLst>
      <p:ext uri="{BB962C8B-B14F-4D97-AF65-F5344CB8AC3E}">
        <p14:creationId xmlns:p14="http://schemas.microsoft.com/office/powerpoint/2010/main" val="2319736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4" name="Slide Number Placeholder 3"/>
          <p:cNvSpPr>
            <a:spLocks noGrp="1"/>
          </p:cNvSpPr>
          <p:nvPr>
            <p:ph type="sldNum" sz="quarter" idx="12"/>
          </p:nvPr>
        </p:nvSpPr>
        <p:spPr/>
        <p:txBody>
          <a:bodyPr/>
          <a:lstStyle/>
          <a:p>
            <a:fld id="{53918EED-815E-4430-B4BD-6788AF5F3FAA}" type="slidenum">
              <a:rPr lang="en-US" smtClean="0"/>
              <a:t>14</a:t>
            </a:fld>
            <a:endParaRPr lang="en-US"/>
          </a:p>
        </p:txBody>
      </p:sp>
      <p:pic>
        <p:nvPicPr>
          <p:cNvPr id="5" name="Picture 4"/>
          <p:cNvPicPr>
            <a:picLocks noChangeAspect="1"/>
          </p:cNvPicPr>
          <p:nvPr/>
        </p:nvPicPr>
        <p:blipFill>
          <a:blip r:embed="rId2"/>
          <a:stretch>
            <a:fillRect/>
          </a:stretch>
        </p:blipFill>
        <p:spPr>
          <a:xfrm>
            <a:off x="2039112" y="1234807"/>
            <a:ext cx="10177554" cy="5504592"/>
          </a:xfrm>
          <a:prstGeom prst="rect">
            <a:avLst/>
          </a:prstGeom>
        </p:spPr>
      </p:pic>
    </p:spTree>
    <p:extLst>
      <p:ext uri="{BB962C8B-B14F-4D97-AF65-F5344CB8AC3E}">
        <p14:creationId xmlns:p14="http://schemas.microsoft.com/office/powerpoint/2010/main" val="3948695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4" name="Slide Number Placeholder 3"/>
          <p:cNvSpPr>
            <a:spLocks noGrp="1"/>
          </p:cNvSpPr>
          <p:nvPr>
            <p:ph type="sldNum" sz="quarter" idx="12"/>
          </p:nvPr>
        </p:nvSpPr>
        <p:spPr/>
        <p:txBody>
          <a:bodyPr/>
          <a:lstStyle/>
          <a:p>
            <a:fld id="{53918EED-815E-4430-B4BD-6788AF5F3FAA}" type="slidenum">
              <a:rPr lang="en-US" smtClean="0"/>
              <a:t>15</a:t>
            </a:fld>
            <a:endParaRPr lang="en-US"/>
          </a:p>
        </p:txBody>
      </p:sp>
      <p:pic>
        <p:nvPicPr>
          <p:cNvPr id="5" name="Picture 4"/>
          <p:cNvPicPr>
            <a:picLocks noChangeAspect="1"/>
          </p:cNvPicPr>
          <p:nvPr/>
        </p:nvPicPr>
        <p:blipFill>
          <a:blip r:embed="rId2"/>
          <a:stretch>
            <a:fillRect/>
          </a:stretch>
        </p:blipFill>
        <p:spPr>
          <a:xfrm>
            <a:off x="192024" y="1560662"/>
            <a:ext cx="11655685" cy="3736676"/>
          </a:xfrm>
          <a:prstGeom prst="rect">
            <a:avLst/>
          </a:prstGeom>
        </p:spPr>
      </p:pic>
    </p:spTree>
    <p:extLst>
      <p:ext uri="{BB962C8B-B14F-4D97-AF65-F5344CB8AC3E}">
        <p14:creationId xmlns:p14="http://schemas.microsoft.com/office/powerpoint/2010/main" val="3784649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LIME Code</a:t>
            </a:r>
          </a:p>
        </p:txBody>
      </p:sp>
      <p:sp>
        <p:nvSpPr>
          <p:cNvPr id="4" name="Slide Number Placeholder 3"/>
          <p:cNvSpPr>
            <a:spLocks noGrp="1"/>
          </p:cNvSpPr>
          <p:nvPr>
            <p:ph type="sldNum" sz="quarter" idx="12"/>
          </p:nvPr>
        </p:nvSpPr>
        <p:spPr/>
        <p:txBody>
          <a:bodyPr/>
          <a:lstStyle/>
          <a:p>
            <a:fld id="{53918EED-815E-4430-B4BD-6788AF5F3FAA}" type="slidenum">
              <a:rPr lang="en-US" smtClean="0"/>
              <a:t>16</a:t>
            </a:fld>
            <a:endParaRPr lang="en-US"/>
          </a:p>
        </p:txBody>
      </p:sp>
      <p:pic>
        <p:nvPicPr>
          <p:cNvPr id="5" name="Picture 4"/>
          <p:cNvPicPr>
            <a:picLocks noChangeAspect="1"/>
          </p:cNvPicPr>
          <p:nvPr/>
        </p:nvPicPr>
        <p:blipFill>
          <a:blip r:embed="rId2"/>
          <a:stretch>
            <a:fillRect/>
          </a:stretch>
        </p:blipFill>
        <p:spPr>
          <a:xfrm>
            <a:off x="646111" y="1609471"/>
            <a:ext cx="3858163" cy="1819529"/>
          </a:xfrm>
          <a:prstGeom prst="rect">
            <a:avLst/>
          </a:prstGeom>
        </p:spPr>
      </p:pic>
      <p:pic>
        <p:nvPicPr>
          <p:cNvPr id="6" name="Picture 5"/>
          <p:cNvPicPr>
            <a:picLocks noChangeAspect="1"/>
          </p:cNvPicPr>
          <p:nvPr/>
        </p:nvPicPr>
        <p:blipFill>
          <a:blip r:embed="rId3"/>
          <a:stretch>
            <a:fillRect/>
          </a:stretch>
        </p:blipFill>
        <p:spPr>
          <a:xfrm>
            <a:off x="339420" y="3623604"/>
            <a:ext cx="11641175" cy="1238423"/>
          </a:xfrm>
          <a:prstGeom prst="rect">
            <a:avLst/>
          </a:prstGeom>
        </p:spPr>
      </p:pic>
      <p:pic>
        <p:nvPicPr>
          <p:cNvPr id="7" name="Picture 6"/>
          <p:cNvPicPr>
            <a:picLocks noChangeAspect="1"/>
          </p:cNvPicPr>
          <p:nvPr/>
        </p:nvPicPr>
        <p:blipFill>
          <a:blip r:embed="rId4"/>
          <a:stretch>
            <a:fillRect/>
          </a:stretch>
        </p:blipFill>
        <p:spPr>
          <a:xfrm>
            <a:off x="528149" y="5133718"/>
            <a:ext cx="9640645" cy="943107"/>
          </a:xfrm>
          <a:prstGeom prst="rect">
            <a:avLst/>
          </a:prstGeom>
        </p:spPr>
      </p:pic>
    </p:spTree>
    <p:extLst>
      <p:ext uri="{BB962C8B-B14F-4D97-AF65-F5344CB8AC3E}">
        <p14:creationId xmlns:p14="http://schemas.microsoft.com/office/powerpoint/2010/main" val="2055094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LIME Code</a:t>
            </a:r>
          </a:p>
        </p:txBody>
      </p:sp>
      <p:sp>
        <p:nvSpPr>
          <p:cNvPr id="4" name="Slide Number Placeholder 3"/>
          <p:cNvSpPr>
            <a:spLocks noGrp="1"/>
          </p:cNvSpPr>
          <p:nvPr>
            <p:ph type="sldNum" sz="quarter" idx="12"/>
          </p:nvPr>
        </p:nvSpPr>
        <p:spPr/>
        <p:txBody>
          <a:bodyPr/>
          <a:lstStyle/>
          <a:p>
            <a:fld id="{53918EED-815E-4430-B4BD-6788AF5F3FAA}" type="slidenum">
              <a:rPr lang="en-US" smtClean="0"/>
              <a:t>17</a:t>
            </a:fld>
            <a:endParaRPr lang="en-US"/>
          </a:p>
        </p:txBody>
      </p:sp>
      <p:pic>
        <p:nvPicPr>
          <p:cNvPr id="5" name="Picture 4"/>
          <p:cNvPicPr>
            <a:picLocks noChangeAspect="1"/>
          </p:cNvPicPr>
          <p:nvPr/>
        </p:nvPicPr>
        <p:blipFill>
          <a:blip r:embed="rId2"/>
          <a:stretch>
            <a:fillRect/>
          </a:stretch>
        </p:blipFill>
        <p:spPr>
          <a:xfrm>
            <a:off x="280622" y="1980313"/>
            <a:ext cx="7482634" cy="3164961"/>
          </a:xfrm>
          <a:prstGeom prst="rect">
            <a:avLst/>
          </a:prstGeom>
        </p:spPr>
      </p:pic>
      <p:pic>
        <p:nvPicPr>
          <p:cNvPr id="6" name="Picture 5"/>
          <p:cNvPicPr>
            <a:picLocks noChangeAspect="1"/>
          </p:cNvPicPr>
          <p:nvPr/>
        </p:nvPicPr>
        <p:blipFill>
          <a:blip r:embed="rId3"/>
          <a:stretch>
            <a:fillRect/>
          </a:stretch>
        </p:blipFill>
        <p:spPr>
          <a:xfrm>
            <a:off x="8169384" y="1980313"/>
            <a:ext cx="3762900" cy="4286848"/>
          </a:xfrm>
          <a:prstGeom prst="rect">
            <a:avLst/>
          </a:prstGeom>
        </p:spPr>
      </p:pic>
    </p:spTree>
    <p:extLst>
      <p:ext uri="{BB962C8B-B14F-4D97-AF65-F5344CB8AC3E}">
        <p14:creationId xmlns:p14="http://schemas.microsoft.com/office/powerpoint/2010/main" val="36340468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94</TotalTime>
  <Words>465</Words>
  <Application>Microsoft Office PowerPoint</Application>
  <PresentationFormat>Widescreen</PresentationFormat>
  <Paragraphs>52</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Century Gothic</vt:lpstr>
      <vt:lpstr>Wingdings 3</vt:lpstr>
      <vt:lpstr>Ion</vt:lpstr>
      <vt:lpstr>Explainable Artificial Intelligence (XAI)</vt:lpstr>
      <vt:lpstr>Blackbox versus Whitebox Machine Learning</vt:lpstr>
      <vt:lpstr>Explainability in AI</vt:lpstr>
      <vt:lpstr>Performance and interpretability tradeoff</vt:lpstr>
      <vt:lpstr>Local Interpretable Model-Agnostic Explanations (LIME)</vt:lpstr>
      <vt:lpstr>The need for Explainability</vt:lpstr>
      <vt:lpstr>The need for Explainability</vt:lpstr>
      <vt:lpstr>The need for Explainability</vt:lpstr>
      <vt:lpstr>Desired Characteristics for Explainers</vt:lpstr>
      <vt:lpstr>Desired Characteristics for Explainers</vt:lpstr>
      <vt:lpstr>Desired Characteristics for Explainers</vt:lpstr>
      <vt:lpstr>How LIME Works</vt:lpstr>
      <vt:lpstr>Example 1</vt:lpstr>
      <vt:lpstr>Example 1</vt:lpstr>
      <vt:lpstr>Example 2</vt:lpstr>
      <vt:lpstr>LIME Code</vt:lpstr>
      <vt:lpstr>LIME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Artificial Intelligence (XAI)</dc:title>
  <dc:creator>ASUS</dc:creator>
  <cp:lastModifiedBy>Shamim Khan</cp:lastModifiedBy>
  <cp:revision>10</cp:revision>
  <dcterms:created xsi:type="dcterms:W3CDTF">2025-04-14T17:07:49Z</dcterms:created>
  <dcterms:modified xsi:type="dcterms:W3CDTF">2025-07-19T12:19:54Z</dcterms:modified>
</cp:coreProperties>
</file>
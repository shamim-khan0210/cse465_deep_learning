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charts/chart6.xml" ContentType="application/vnd.openxmlformats-officedocument.drawingml.chart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5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9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7" r:id="rId19"/>
    <p:sldId id="279" r:id="rId20"/>
    <p:sldId id="280" r:id="rId21"/>
    <p:sldId id="283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2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portlan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C450-4987-B314-55B3F21F7C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9680792"/>
        <c:axId val="219681176"/>
      </c:scatterChart>
      <c:valAx>
        <c:axId val="219680792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219681176"/>
        <c:crosses val="autoZero"/>
        <c:crossBetween val="midCat"/>
        <c:majorUnit val="1"/>
      </c:valAx>
      <c:valAx>
        <c:axId val="21968117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219680792"/>
        <c:crosses val="autoZero"/>
        <c:crossBetween val="midCat"/>
        <c:majorUnit val="1"/>
      </c:valAx>
      <c:spPr>
        <a:ln w="12700">
          <a:noFill/>
        </a:ln>
      </c:spPr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02C2-4B93-8DD0-6AD5FED6AF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9693656"/>
        <c:axId val="219695072"/>
      </c:scatterChart>
      <c:valAx>
        <c:axId val="219693656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219695072"/>
        <c:crosses val="autoZero"/>
        <c:crossBetween val="midCat"/>
        <c:majorUnit val="1"/>
      </c:valAx>
      <c:valAx>
        <c:axId val="219695072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219693656"/>
        <c:crosses val="autoZero"/>
        <c:crossBetween val="midCat"/>
        <c:majorUnit val="1"/>
      </c:valAx>
      <c:spPr>
        <a:ln w="12700">
          <a:noFill/>
        </a:ln>
      </c:spPr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5714-4ED9-B52C-A5E7C9AF0F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7358216"/>
        <c:axId val="217359000"/>
      </c:scatterChart>
      <c:valAx>
        <c:axId val="217358216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217359000"/>
        <c:crosses val="autoZero"/>
        <c:crossBetween val="midCat"/>
        <c:majorUnit val="1"/>
      </c:valAx>
      <c:valAx>
        <c:axId val="217359000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217358216"/>
        <c:crosses val="autoZero"/>
        <c:crossBetween val="midCat"/>
        <c:majorUnit val="1"/>
      </c:valAx>
      <c:spPr>
        <a:ln w="12700">
          <a:noFill/>
        </a:ln>
      </c:spPr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63F9-41AF-88BD-8E06F60B4031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63F9-41AF-88BD-8E06F60B4031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63F9-41AF-88BD-8E06F60B4031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63F9-41AF-88BD-8E06F60B4031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4-63F9-41AF-88BD-8E06F60B4031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5-63F9-41AF-88BD-8E06F60B4031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6-63F9-41AF-88BD-8E06F60B4031}"/>
            </c:ext>
          </c:extLst>
        </c:ser>
        <c:ser>
          <c:idx val="0"/>
          <c:order val="0"/>
          <c:spPr>
            <a:ln w="0">
              <a:noFill/>
            </a:ln>
          </c:spPr>
          <c:marker>
            <c:symbol val="x"/>
            <c:size val="13"/>
            <c:spPr>
              <a:ln w="19050">
                <a:solidFill>
                  <a:schemeClr val="accent2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7-63F9-41AF-88BD-8E06F60B4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7356648"/>
        <c:axId val="217357432"/>
      </c:scatterChart>
      <c:valAx>
        <c:axId val="217356648"/>
        <c:scaling>
          <c:orientation val="minMax"/>
          <c:max val="3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217357432"/>
        <c:crosses val="autoZero"/>
        <c:crossBetween val="midCat"/>
        <c:majorUnit val="1"/>
      </c:valAx>
      <c:valAx>
        <c:axId val="217357432"/>
        <c:scaling>
          <c:orientation val="minMax"/>
          <c:max val="3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217356648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8B16-447B-A265-79EAB36DBF3D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8B16-447B-A265-79EAB36DBF3D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8B16-447B-A265-79EAB36DBF3D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8B16-447B-A265-79EAB36DBF3D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4-8B16-447B-A265-79EAB36DBF3D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5-8B16-447B-A265-79EAB36DBF3D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6-8B16-447B-A265-79EAB36DBF3D}"/>
            </c:ext>
          </c:extLst>
        </c:ser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7-8B16-447B-A265-79EAB36DBF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51498528"/>
        <c:axId val="251502448"/>
      </c:scatterChart>
      <c:valAx>
        <c:axId val="251498528"/>
        <c:scaling>
          <c:orientation val="minMax"/>
          <c:max val="2.5"/>
          <c:min val="-0.5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251502448"/>
        <c:crosses val="autoZero"/>
        <c:crossBetween val="midCat"/>
        <c:majorUnit val="0.5"/>
      </c:valAx>
      <c:valAx>
        <c:axId val="251502448"/>
        <c:scaling>
          <c:orientation val="minMax"/>
          <c:max val="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251498528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noFill/>
              <a:ln w="12700">
                <a:solidFill>
                  <a:srgbClr val="C00000"/>
                </a:solidFill>
              </a:ln>
            </c:spPr>
          </c:marker>
          <c:xVal>
            <c:numRef>
              <c:f>portland!$A$1:$A$48</c:f>
              <c:numCache>
                <c:formatCode>General</c:formatCode>
                <c:ptCount val="48"/>
                <c:pt idx="0">
                  <c:v>2104</c:v>
                </c:pt>
                <c:pt idx="1">
                  <c:v>1600</c:v>
                </c:pt>
                <c:pt idx="2">
                  <c:v>2400</c:v>
                </c:pt>
                <c:pt idx="3">
                  <c:v>1416</c:v>
                </c:pt>
                <c:pt idx="4">
                  <c:v>3000</c:v>
                </c:pt>
                <c:pt idx="5">
                  <c:v>1985</c:v>
                </c:pt>
                <c:pt idx="6">
                  <c:v>1534</c:v>
                </c:pt>
                <c:pt idx="7">
                  <c:v>1427</c:v>
                </c:pt>
                <c:pt idx="8">
                  <c:v>1380</c:v>
                </c:pt>
                <c:pt idx="9">
                  <c:v>1494</c:v>
                </c:pt>
                <c:pt idx="10">
                  <c:v>1940</c:v>
                </c:pt>
                <c:pt idx="11">
                  <c:v>2000</c:v>
                </c:pt>
                <c:pt idx="12">
                  <c:v>1890</c:v>
                </c:pt>
                <c:pt idx="13">
                  <c:v>4478</c:v>
                </c:pt>
                <c:pt idx="14">
                  <c:v>1268</c:v>
                </c:pt>
                <c:pt idx="15">
                  <c:v>2300</c:v>
                </c:pt>
                <c:pt idx="16">
                  <c:v>1320</c:v>
                </c:pt>
                <c:pt idx="17">
                  <c:v>1236</c:v>
                </c:pt>
                <c:pt idx="18">
                  <c:v>2609</c:v>
                </c:pt>
                <c:pt idx="19">
                  <c:v>3031</c:v>
                </c:pt>
                <c:pt idx="20">
                  <c:v>1767</c:v>
                </c:pt>
                <c:pt idx="21">
                  <c:v>1888</c:v>
                </c:pt>
                <c:pt idx="22">
                  <c:v>1604</c:v>
                </c:pt>
                <c:pt idx="23">
                  <c:v>1962</c:v>
                </c:pt>
                <c:pt idx="24">
                  <c:v>3890</c:v>
                </c:pt>
                <c:pt idx="25">
                  <c:v>1100</c:v>
                </c:pt>
                <c:pt idx="26">
                  <c:v>1458</c:v>
                </c:pt>
                <c:pt idx="27">
                  <c:v>2526</c:v>
                </c:pt>
                <c:pt idx="28">
                  <c:v>2200</c:v>
                </c:pt>
                <c:pt idx="29">
                  <c:v>2637</c:v>
                </c:pt>
                <c:pt idx="30">
                  <c:v>1839</c:v>
                </c:pt>
                <c:pt idx="31">
                  <c:v>1000</c:v>
                </c:pt>
                <c:pt idx="32">
                  <c:v>2040</c:v>
                </c:pt>
                <c:pt idx="33">
                  <c:v>3137</c:v>
                </c:pt>
                <c:pt idx="34">
                  <c:v>1811</c:v>
                </c:pt>
                <c:pt idx="35">
                  <c:v>1437</c:v>
                </c:pt>
                <c:pt idx="36">
                  <c:v>1239</c:v>
                </c:pt>
                <c:pt idx="37">
                  <c:v>2132</c:v>
                </c:pt>
                <c:pt idx="38">
                  <c:v>4215</c:v>
                </c:pt>
                <c:pt idx="39">
                  <c:v>2162</c:v>
                </c:pt>
                <c:pt idx="40">
                  <c:v>1664</c:v>
                </c:pt>
                <c:pt idx="41">
                  <c:v>2238</c:v>
                </c:pt>
                <c:pt idx="42">
                  <c:v>2567</c:v>
                </c:pt>
                <c:pt idx="43">
                  <c:v>1200</c:v>
                </c:pt>
                <c:pt idx="44">
                  <c:v>852</c:v>
                </c:pt>
                <c:pt idx="45">
                  <c:v>1852</c:v>
                </c:pt>
                <c:pt idx="46">
                  <c:v>1203</c:v>
                </c:pt>
              </c:numCache>
            </c:numRef>
          </c:xVal>
          <c:yVal>
            <c:numRef>
              <c:f>portland!$B$1:$B$48</c:f>
              <c:numCache>
                <c:formatCode>General</c:formatCode>
                <c:ptCount val="48"/>
                <c:pt idx="0">
                  <c:v>399900</c:v>
                </c:pt>
                <c:pt idx="1">
                  <c:v>329900</c:v>
                </c:pt>
                <c:pt idx="2">
                  <c:v>369000</c:v>
                </c:pt>
                <c:pt idx="3">
                  <c:v>232000</c:v>
                </c:pt>
                <c:pt idx="4">
                  <c:v>539900</c:v>
                </c:pt>
                <c:pt idx="5">
                  <c:v>299900</c:v>
                </c:pt>
                <c:pt idx="6">
                  <c:v>314900</c:v>
                </c:pt>
                <c:pt idx="7">
                  <c:v>198999</c:v>
                </c:pt>
                <c:pt idx="8">
                  <c:v>212000</c:v>
                </c:pt>
                <c:pt idx="9">
                  <c:v>242500</c:v>
                </c:pt>
                <c:pt idx="10">
                  <c:v>239999</c:v>
                </c:pt>
                <c:pt idx="11">
                  <c:v>347000</c:v>
                </c:pt>
                <c:pt idx="12">
                  <c:v>329999</c:v>
                </c:pt>
                <c:pt idx="13">
                  <c:v>699900</c:v>
                </c:pt>
                <c:pt idx="14">
                  <c:v>259900</c:v>
                </c:pt>
                <c:pt idx="15">
                  <c:v>449900</c:v>
                </c:pt>
                <c:pt idx="16">
                  <c:v>299900</c:v>
                </c:pt>
                <c:pt idx="17">
                  <c:v>199900</c:v>
                </c:pt>
                <c:pt idx="18">
                  <c:v>499998</c:v>
                </c:pt>
                <c:pt idx="19">
                  <c:v>599000</c:v>
                </c:pt>
                <c:pt idx="20">
                  <c:v>252900</c:v>
                </c:pt>
                <c:pt idx="21">
                  <c:v>255000</c:v>
                </c:pt>
                <c:pt idx="22">
                  <c:v>242900</c:v>
                </c:pt>
                <c:pt idx="23">
                  <c:v>259900</c:v>
                </c:pt>
                <c:pt idx="24">
                  <c:v>573900</c:v>
                </c:pt>
                <c:pt idx="25">
                  <c:v>249900</c:v>
                </c:pt>
                <c:pt idx="26">
                  <c:v>464500</c:v>
                </c:pt>
                <c:pt idx="27">
                  <c:v>469000</c:v>
                </c:pt>
                <c:pt idx="28">
                  <c:v>475000</c:v>
                </c:pt>
                <c:pt idx="29">
                  <c:v>299900</c:v>
                </c:pt>
                <c:pt idx="30">
                  <c:v>349900</c:v>
                </c:pt>
                <c:pt idx="31">
                  <c:v>169900</c:v>
                </c:pt>
                <c:pt idx="32">
                  <c:v>314900</c:v>
                </c:pt>
                <c:pt idx="33">
                  <c:v>579900</c:v>
                </c:pt>
                <c:pt idx="34">
                  <c:v>285900</c:v>
                </c:pt>
                <c:pt idx="35">
                  <c:v>249900</c:v>
                </c:pt>
                <c:pt idx="36">
                  <c:v>229900</c:v>
                </c:pt>
                <c:pt idx="37">
                  <c:v>345000</c:v>
                </c:pt>
                <c:pt idx="38">
                  <c:v>549000</c:v>
                </c:pt>
                <c:pt idx="39">
                  <c:v>287000</c:v>
                </c:pt>
                <c:pt idx="40">
                  <c:v>368500</c:v>
                </c:pt>
                <c:pt idx="41">
                  <c:v>329900</c:v>
                </c:pt>
                <c:pt idx="42">
                  <c:v>314000</c:v>
                </c:pt>
                <c:pt idx="43">
                  <c:v>299000</c:v>
                </c:pt>
                <c:pt idx="44">
                  <c:v>179900</c:v>
                </c:pt>
                <c:pt idx="45">
                  <c:v>299900</c:v>
                </c:pt>
                <c:pt idx="46">
                  <c:v>239500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0636-4057-9F33-9E16E8446A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51497352"/>
        <c:axId val="251498920"/>
      </c:scatterChart>
      <c:valAx>
        <c:axId val="251497352"/>
        <c:scaling>
          <c:orientation val="minMax"/>
          <c:max val="300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25400"/>
        </c:spPr>
        <c:crossAx val="251498920"/>
        <c:crosses val="autoZero"/>
        <c:crossBetween val="midCat"/>
      </c:valAx>
      <c:valAx>
        <c:axId val="251498920"/>
        <c:scaling>
          <c:orientation val="minMax"/>
          <c:max val="50000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spPr>
          <a:ln w="25400"/>
        </c:spPr>
        <c:crossAx val="251497352"/>
        <c:crosses val="autoZero"/>
        <c:crossBetween val="midCat"/>
        <c:majorUnit val="100000"/>
        <c:dispUnits>
          <c:builtInUnit val="thousands"/>
        </c:dispUnits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DAD46-4A3C-417E-936D-3BECB31DED1F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A6827-7A76-40FF-B990-8DD503F9A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4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29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526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28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77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59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4BCD14-5A93-4938-87CE-709050061C51}" type="slidenum">
              <a:rPr lang="en-US" smtClean="0">
                <a:solidFill>
                  <a:prstClr val="black"/>
                </a:solidFill>
                <a:latin typeface="Arial" pitchFamily="34" charset="0"/>
              </a:rPr>
              <a:pPr/>
              <a:t>34</a:t>
            </a:fld>
            <a:endParaRPr lang="en-US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699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1B15-6F5C-47EB-9972-9BA42C6AE2E6}" type="slidenum">
              <a:rPr lang="en-US" smtClean="0">
                <a:solidFill>
                  <a:prstClr val="black"/>
                </a:solidFill>
                <a:latin typeface="Arial" pitchFamily="34" charset="0"/>
              </a:rPr>
              <a:pPr/>
              <a:t>35</a:t>
            </a:fld>
            <a:endParaRPr lang="en-US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298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1B15-6F5C-47EB-9972-9BA42C6AE2E6}" type="slidenum">
              <a:rPr lang="en-US" smtClean="0">
                <a:solidFill>
                  <a:prstClr val="black"/>
                </a:solidFill>
                <a:latin typeface="Arial" pitchFamily="34" charset="0"/>
              </a:rPr>
              <a:pPr/>
              <a:t>36</a:t>
            </a:fld>
            <a:endParaRPr lang="en-US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78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02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C38E-79FE-4A4C-BE49-430AC8528ACA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9C8-025B-4285-8AB5-6CE74B17C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08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C38E-79FE-4A4C-BE49-430AC8528ACA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9C8-025B-4285-8AB5-6CE74B17C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49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C38E-79FE-4A4C-BE49-430AC8528ACA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9C8-025B-4285-8AB5-6CE74B17C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10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C38E-79FE-4A4C-BE49-430AC8528ACA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9C8-025B-4285-8AB5-6CE74B17C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5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C38E-79FE-4A4C-BE49-430AC8528ACA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9C8-025B-4285-8AB5-6CE74B17C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98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C38E-79FE-4A4C-BE49-430AC8528ACA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9C8-025B-4285-8AB5-6CE74B17C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0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C38E-79FE-4A4C-BE49-430AC8528ACA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9C8-025B-4285-8AB5-6CE74B17C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497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C38E-79FE-4A4C-BE49-430AC8528ACA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9C8-025B-4285-8AB5-6CE74B17C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52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C38E-79FE-4A4C-BE49-430AC8528ACA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9C8-025B-4285-8AB5-6CE74B17C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3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C38E-79FE-4A4C-BE49-430AC8528ACA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9C8-025B-4285-8AB5-6CE74B17C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3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C38E-79FE-4A4C-BE49-430AC8528ACA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9C8-025B-4285-8AB5-6CE74B17C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9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EC38E-79FE-4A4C-BE49-430AC8528ACA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799C8-025B-4285-8AB5-6CE74B17C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45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chart" Target="../charts/chart1.xml"/><Relationship Id="rId12" Type="http://schemas.openxmlformats.org/officeDocument/2006/relationships/chart" Target="../charts/char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3.png"/><Relationship Id="rId11" Type="http://schemas.openxmlformats.org/officeDocument/2006/relationships/chart" Target="../charts/chart2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6.png"/><Relationship Id="rId4" Type="http://schemas.openxmlformats.org/officeDocument/2006/relationships/tags" Target="../tags/tag4.xml"/><Relationship Id="rId9" Type="http://schemas.openxmlformats.org/officeDocument/2006/relationships/image" Target="../media/image15.png"/><Relationship Id="rId1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7.xml"/><Relationship Id="rId7" Type="http://schemas.openxmlformats.org/officeDocument/2006/relationships/image" Target="../media/image19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.png"/><Relationship Id="rId4" Type="http://schemas.openxmlformats.org/officeDocument/2006/relationships/tags" Target="../tags/tag8.xml"/><Relationship Id="rId9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6.png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5.png"/><Relationship Id="rId2" Type="http://schemas.openxmlformats.org/officeDocument/2006/relationships/tags" Target="../tags/tag10.xml"/><Relationship Id="rId16" Type="http://schemas.openxmlformats.org/officeDocument/2006/relationships/image" Target="../media/image28.png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24.png"/><Relationship Id="rId5" Type="http://schemas.openxmlformats.org/officeDocument/2006/relationships/tags" Target="../tags/tag13.xml"/><Relationship Id="rId15" Type="http://schemas.openxmlformats.org/officeDocument/2006/relationships/image" Target="../media/image27.png"/><Relationship Id="rId10" Type="http://schemas.openxmlformats.org/officeDocument/2006/relationships/image" Target="../media/image23.png"/><Relationship Id="rId4" Type="http://schemas.openxmlformats.org/officeDocument/2006/relationships/tags" Target="../tags/tag12.xml"/><Relationship Id="rId9" Type="http://schemas.openxmlformats.org/officeDocument/2006/relationships/image" Target="../media/image18.png"/><Relationship Id="rId1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image" Target="../media/image30.png"/><Relationship Id="rId18" Type="http://schemas.openxmlformats.org/officeDocument/2006/relationships/image" Target="../media/image34.pn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29.png"/><Relationship Id="rId17" Type="http://schemas.openxmlformats.org/officeDocument/2006/relationships/chart" Target="../charts/chart5.xml"/><Relationship Id="rId2" Type="http://schemas.openxmlformats.org/officeDocument/2006/relationships/tags" Target="../tags/tag16.xml"/><Relationship Id="rId16" Type="http://schemas.openxmlformats.org/officeDocument/2006/relationships/image" Target="../media/image33.pn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chart" Target="../charts/chart4.xml"/><Relationship Id="rId5" Type="http://schemas.openxmlformats.org/officeDocument/2006/relationships/tags" Target="../tags/tag19.xml"/><Relationship Id="rId15" Type="http://schemas.openxmlformats.org/officeDocument/2006/relationships/image" Target="../media/image32.png"/><Relationship Id="rId10" Type="http://schemas.openxmlformats.org/officeDocument/2006/relationships/notesSlide" Target="../notesSlides/notesSlide4.xml"/><Relationship Id="rId19" Type="http://schemas.openxmlformats.org/officeDocument/2006/relationships/image" Target="../media/image3.png"/><Relationship Id="rId4" Type="http://schemas.openxmlformats.org/officeDocument/2006/relationships/tags" Target="../tags/tag18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5.xml"/><Relationship Id="rId7" Type="http://schemas.openxmlformats.org/officeDocument/2006/relationships/image" Target="../media/image23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39.png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image" Target="../media/image38.png"/><Relationship Id="rId17" Type="http://schemas.openxmlformats.org/officeDocument/2006/relationships/image" Target="../media/image3.png"/><Relationship Id="rId2" Type="http://schemas.openxmlformats.org/officeDocument/2006/relationships/tags" Target="../tags/tag27.xml"/><Relationship Id="rId16" Type="http://schemas.openxmlformats.org/officeDocument/2006/relationships/chart" Target="../charts/chart6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37.png"/><Relationship Id="rId5" Type="http://schemas.openxmlformats.org/officeDocument/2006/relationships/tags" Target="../tags/tag30.xml"/><Relationship Id="rId15" Type="http://schemas.openxmlformats.org/officeDocument/2006/relationships/image" Target="../media/image32.png"/><Relationship Id="rId10" Type="http://schemas.openxmlformats.org/officeDocument/2006/relationships/image" Target="../media/image36.png"/><Relationship Id="rId4" Type="http://schemas.openxmlformats.org/officeDocument/2006/relationships/tags" Target="../tags/tag29.xml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32.png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37.xml"/><Relationship Id="rId7" Type="http://schemas.openxmlformats.org/officeDocument/2006/relationships/image" Target="../media/image42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41.png"/><Relationship Id="rId11" Type="http://schemas.openxmlformats.org/officeDocument/2006/relationships/image" Target="../media/image39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8.png"/><Relationship Id="rId4" Type="http://schemas.openxmlformats.org/officeDocument/2006/relationships/tags" Target="../tags/tag38.xml"/><Relationship Id="rId9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41.xml"/><Relationship Id="rId7" Type="http://schemas.openxmlformats.org/officeDocument/2006/relationships/image" Target="../media/image44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43.png"/><Relationship Id="rId11" Type="http://schemas.openxmlformats.org/officeDocument/2006/relationships/image" Target="../media/image39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8.png"/><Relationship Id="rId4" Type="http://schemas.openxmlformats.org/officeDocument/2006/relationships/tags" Target="../tags/tag42.xml"/><Relationship Id="rId9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45.xml"/><Relationship Id="rId7" Type="http://schemas.openxmlformats.org/officeDocument/2006/relationships/image" Target="../media/image46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45.png"/><Relationship Id="rId11" Type="http://schemas.openxmlformats.org/officeDocument/2006/relationships/image" Target="../media/image39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8.png"/><Relationship Id="rId4" Type="http://schemas.openxmlformats.org/officeDocument/2006/relationships/tags" Target="../tags/tag46.xml"/><Relationship Id="rId9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49.xml"/><Relationship Id="rId7" Type="http://schemas.openxmlformats.org/officeDocument/2006/relationships/image" Target="../media/image48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47.png"/><Relationship Id="rId11" Type="http://schemas.openxmlformats.org/officeDocument/2006/relationships/image" Target="../media/image39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8.png"/><Relationship Id="rId4" Type="http://schemas.openxmlformats.org/officeDocument/2006/relationships/tags" Target="../tags/tag50.xml"/><Relationship Id="rId9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tags" Target="../tags/tag53.xml"/><Relationship Id="rId7" Type="http://schemas.openxmlformats.org/officeDocument/2006/relationships/image" Target="../media/image38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5.xml"/><Relationship Id="rId10" Type="http://schemas.openxmlformats.org/officeDocument/2006/relationships/image" Target="../media/image3.png"/><Relationship Id="rId4" Type="http://schemas.openxmlformats.org/officeDocument/2006/relationships/tags" Target="../tags/tag54.xml"/><Relationship Id="rId9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tags" Target="../tags/tag58.xml"/><Relationship Id="rId7" Type="http://schemas.openxmlformats.org/officeDocument/2006/relationships/image" Target="../media/image53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52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.png"/><Relationship Id="rId4" Type="http://schemas.openxmlformats.org/officeDocument/2006/relationships/tags" Target="../tags/tag59.xml"/><Relationship Id="rId9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3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7" Type="http://schemas.openxmlformats.org/officeDocument/2006/relationships/image" Target="../media/image3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64.png"/><Relationship Id="rId5" Type="http://schemas.openxmlformats.org/officeDocument/2006/relationships/image" Target="../media/image32.png"/><Relationship Id="rId4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Relationship Id="rId6" Type="http://schemas.openxmlformats.org/officeDocument/2006/relationships/image" Target="../media/image3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tags" Target="../tags/tag70.xml"/><Relationship Id="rId7" Type="http://schemas.openxmlformats.org/officeDocument/2006/relationships/image" Target="../media/image67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32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.png"/><Relationship Id="rId4" Type="http://schemas.openxmlformats.org/officeDocument/2006/relationships/tags" Target="../tags/tag71.xml"/><Relationship Id="rId9" Type="http://schemas.openxmlformats.org/officeDocument/2006/relationships/image" Target="../media/image6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4.xml"/><Relationship Id="rId7" Type="http://schemas.openxmlformats.org/officeDocument/2006/relationships/image" Target="../media/image34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32.png"/><Relationship Id="rId5" Type="http://schemas.openxmlformats.org/officeDocument/2006/relationships/image" Target="../media/image68.png"/><Relationship Id="rId4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Lecture 10 – Linear Regression (Theoretical Foundation)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</a:t>
            </a:r>
            <a:r>
              <a:rPr lang="en-US" dirty="0" err="1" smtClean="0"/>
              <a:t>Sifat</a:t>
            </a:r>
            <a:r>
              <a:rPr lang="en-US" dirty="0" smtClean="0"/>
              <a:t> </a:t>
            </a:r>
            <a:r>
              <a:rPr lang="en-US" dirty="0" err="1" smtClean="0"/>
              <a:t>Momen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8171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588000" y="889000"/>
            <a:ext cx="6604000" cy="19050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633153" y="2867371"/>
            <a:ext cx="5730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5633153" y="2988749"/>
            <a:ext cx="5994400" cy="2167452"/>
          </a:xfrm>
        </p:spPr>
        <p:txBody>
          <a:bodyPr>
            <a:noAutofit/>
          </a:bodyPr>
          <a:lstStyle/>
          <a:p>
            <a:pPr algn="l"/>
            <a:r>
              <a:rPr lang="en-US" sz="7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 representation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914400" y="482600"/>
            <a:ext cx="4267200" cy="48768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17600" y="5156200"/>
            <a:ext cx="3860800" cy="11176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defTabSz="1219170">
              <a:spcBef>
                <a:spcPct val="0"/>
              </a:spcBef>
              <a:defRPr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71200" y="6273800"/>
            <a:ext cx="1320800" cy="584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49382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1649"/>
            <a:ext cx="12192000" cy="49147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AA956F4-5D79-4ED7-B195-DFDC05143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9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89000"/>
            <a:ext cx="12123505" cy="50972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F0B3C94-F97F-4ED6-9328-F385328F8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950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1649"/>
            <a:ext cx="12192000" cy="49147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66FA4BC-60C5-4FF7-B39E-708411F26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82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015"/>
            <a:ext cx="12192000" cy="49399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49D31F5-F34F-4829-99DB-CC8A9E525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639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7430"/>
            <a:ext cx="12192000" cy="50031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0A0319F-7F76-4038-BF16-6696E537F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0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827"/>
            <a:ext cx="12192000" cy="65423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D08E97F-52C6-4A43-A77D-9447F4BCB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69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827"/>
            <a:ext cx="12192000" cy="65423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792091"/>
            <a:ext cx="4775200" cy="20613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80492AC-A4E4-4F5E-8B52-3A042C519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94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570"/>
            <a:ext cx="12192000" cy="60708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FE88595-C39E-4F8A-9DAB-6D5C8904A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754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570"/>
            <a:ext cx="12192000" cy="60708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99555"/>
            <a:ext cx="2844800" cy="1346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0" y="4657561"/>
            <a:ext cx="2844800" cy="1346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0" y="4582616"/>
            <a:ext cx="2844800" cy="1346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4954469"/>
            <a:ext cx="2844800" cy="1346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223" y="4951652"/>
            <a:ext cx="2844800" cy="1346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0" y="4951652"/>
            <a:ext cx="2844800" cy="1346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71011" y="4214647"/>
            <a:ext cx="54510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(x, y)= One Training Example</a:t>
            </a:r>
          </a:p>
          <a:p>
            <a:r>
              <a:rPr lang="en-US" sz="3200" dirty="0"/>
              <a:t>x </a:t>
            </a:r>
            <a:r>
              <a:rPr lang="en-US" sz="2667" dirty="0"/>
              <a:t>(</a:t>
            </a:r>
            <a:r>
              <a:rPr lang="en-US" sz="2667" dirty="0" err="1"/>
              <a:t>i</a:t>
            </a:r>
            <a:r>
              <a:rPr lang="en-US" sz="2667" dirty="0"/>
              <a:t>)</a:t>
            </a:r>
            <a:r>
              <a:rPr lang="en-US" sz="3200" dirty="0"/>
              <a:t>, y </a:t>
            </a:r>
            <a:r>
              <a:rPr lang="en-US" sz="2667" dirty="0"/>
              <a:t>(</a:t>
            </a:r>
            <a:r>
              <a:rPr lang="en-US" sz="2667" dirty="0" err="1"/>
              <a:t>i</a:t>
            </a:r>
            <a:r>
              <a:rPr lang="en-US" sz="2667" dirty="0"/>
              <a:t>)</a:t>
            </a:r>
            <a:r>
              <a:rPr lang="en-US" sz="3200" dirty="0"/>
              <a:t>= </a:t>
            </a:r>
            <a:r>
              <a:rPr lang="en-US" sz="3200" dirty="0" err="1"/>
              <a:t>ith</a:t>
            </a:r>
            <a:r>
              <a:rPr lang="en-US" sz="3200" dirty="0"/>
              <a:t> Training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6189" y="4241801"/>
            <a:ext cx="5451012" cy="1816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x </a:t>
            </a:r>
            <a:r>
              <a:rPr lang="en-US" sz="2667" dirty="0"/>
              <a:t>(1) = 2104</a:t>
            </a:r>
          </a:p>
          <a:p>
            <a:r>
              <a:rPr lang="en-US" sz="2667" dirty="0"/>
              <a:t>x (2) = 1416</a:t>
            </a:r>
          </a:p>
          <a:p>
            <a:r>
              <a:rPr lang="en-US" sz="2667" dirty="0"/>
              <a:t>y (1) = 460</a:t>
            </a:r>
          </a:p>
          <a:p>
            <a:r>
              <a:rPr lang="en-US" sz="2667"/>
              <a:t>Y (2) </a:t>
            </a:r>
            <a:r>
              <a:rPr lang="en-US" sz="2667" dirty="0"/>
              <a:t>= 232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B6528D7-7CCF-41B4-AAA0-67F1037D0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2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6400800" y="584200"/>
            <a:ext cx="0" cy="54864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397717" y="532648"/>
            <a:ext cx="3377483" cy="812800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Training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1317" y="2158248"/>
            <a:ext cx="4190283" cy="782075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Learning Algorithm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78459" y="3783848"/>
            <a:ext cx="1016000" cy="782075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743405"/>
            <a:ext cx="152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Size of 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0400" y="3743404"/>
            <a:ext cx="1930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Estimated price</a:t>
            </a:r>
          </a:p>
        </p:txBody>
      </p:sp>
      <p:cxnSp>
        <p:nvCxnSpPr>
          <p:cNvPr id="12" name="Straight Arrow Connector 11"/>
          <p:cNvCxnSpPr>
            <a:stCxn id="5" idx="2"/>
            <a:endCxn id="6" idx="0"/>
          </p:cNvCxnSpPr>
          <p:nvPr/>
        </p:nvCxnSpPr>
        <p:spPr>
          <a:xfrm>
            <a:off x="3086459" y="1345448"/>
            <a:ext cx="0" cy="81280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2"/>
            <a:endCxn id="7" idx="0"/>
          </p:cNvCxnSpPr>
          <p:nvPr/>
        </p:nvCxnSpPr>
        <p:spPr>
          <a:xfrm>
            <a:off x="3086459" y="2940323"/>
            <a:ext cx="0" cy="843525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7" idx="1"/>
          </p:cNvCxnSpPr>
          <p:nvPr/>
        </p:nvCxnSpPr>
        <p:spPr>
          <a:xfrm>
            <a:off x="1524000" y="4174885"/>
            <a:ext cx="1054459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3"/>
          </p:cNvCxnSpPr>
          <p:nvPr/>
        </p:nvCxnSpPr>
        <p:spPr>
          <a:xfrm>
            <a:off x="3594459" y="4174885"/>
            <a:ext cx="977541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10400" y="584201"/>
            <a:ext cx="44380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How do we represent </a:t>
            </a:r>
            <a:r>
              <a:rPr lang="en-US" sz="3200" b="1" i="1" dirty="0"/>
              <a:t>h</a:t>
            </a:r>
            <a:r>
              <a:rPr lang="en-US" sz="3200" b="1" dirty="0"/>
              <a:t>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4863" y="5156201"/>
            <a:ext cx="5115952" cy="913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67" dirty="0"/>
              <a:t>Linear regression with one variable.</a:t>
            </a:r>
          </a:p>
          <a:p>
            <a:r>
              <a:rPr lang="en-US" sz="2667" dirty="0"/>
              <a:t>Univariate linear regression.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861" y="1289472"/>
            <a:ext cx="3646188" cy="8138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3BA739B8-0CCF-4DE2-AED7-01F3AB319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2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36" grpId="0"/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08000" y="1092200"/>
            <a:ext cx="11074400" cy="19304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933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formula might look scary, but if you think about it it's nothing fancier than the traditional equation of a line, except that we use θ0 and θ1 instead of m and q. Do you remember?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1" y="381001"/>
            <a:ext cx="3646188" cy="813881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844800" y="3022600"/>
            <a:ext cx="5486400" cy="8128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3200" dirty="0"/>
              <a:t>f(x)=</a:t>
            </a:r>
            <a:r>
              <a:rPr lang="en-US" sz="3200" dirty="0" err="1"/>
              <a:t>q+mx</a:t>
            </a:r>
            <a:r>
              <a:rPr lang="en-US" sz="3200" dirty="0"/>
              <a:t/>
            </a:r>
            <a:br>
              <a:rPr lang="en-US" sz="3200" dirty="0"/>
            </a:br>
            <a:endParaRPr lang="en-US" sz="2933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3733800"/>
            <a:ext cx="11074400" cy="19304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933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our humble hypothesis function there is only </a:t>
            </a:r>
            <a:r>
              <a:rPr lang="en-US" sz="2933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variable</a:t>
            </a:r>
            <a:r>
              <a:rPr lang="en-US" sz="2933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that is x. For this reason our task is often called </a:t>
            </a:r>
            <a:r>
              <a:rPr lang="en-US" sz="2933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with one variable</a:t>
            </a:r>
            <a:r>
              <a:rPr lang="en-US" sz="2933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Experts call it also </a:t>
            </a:r>
            <a:r>
              <a:rPr lang="en-US" sz="2933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linear regression</a:t>
            </a:r>
            <a:r>
              <a:rPr lang="en-US" sz="2933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where univariate means "</a:t>
            </a:r>
            <a:r>
              <a:rPr lang="en-US" sz="2933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variable</a:t>
            </a:r>
            <a:r>
              <a:rPr lang="en-US" sz="2933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2F3CCBA-7645-4461-86D4-627903213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9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5633153" y="2867371"/>
            <a:ext cx="5730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5588000" y="2921001"/>
            <a:ext cx="5994400" cy="2167452"/>
          </a:xfrm>
        </p:spPr>
        <p:txBody>
          <a:bodyPr anchor="t" anchorCtr="0">
            <a:noAutofit/>
          </a:bodyPr>
          <a:lstStyle/>
          <a:p>
            <a:pPr algn="l"/>
            <a:r>
              <a:rPr lang="en-US" sz="7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 function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914400" y="482600"/>
            <a:ext cx="4267200" cy="48768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17600" y="5156200"/>
            <a:ext cx="3860800" cy="11176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defTabSz="1219170">
              <a:spcBef>
                <a:spcPct val="0"/>
              </a:spcBef>
              <a:defRPr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Machine Learning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588000" y="889000"/>
            <a:ext cx="6604000" cy="19050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71200" y="6273800"/>
            <a:ext cx="1320800" cy="584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9758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413000"/>
            <a:ext cx="10769600" cy="1733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333" dirty="0"/>
              <a:t>A cost function lets us figure out how to fit the best straight line to our data.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0AC86B9-E07F-497C-BDD7-F1161F4C7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19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83768"/>
            <a:ext cx="2935224" cy="408432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/>
          </p:cNvGraphicFramePr>
          <p:nvPr>
            <p:extLst/>
          </p:nvPr>
        </p:nvGraphicFramePr>
        <p:xfrm>
          <a:off x="287075" y="1408684"/>
          <a:ext cx="3776925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00" y="4727448"/>
            <a:ext cx="1392936" cy="83515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0" y="4727448"/>
            <a:ext cx="1392936" cy="83515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400" y="4727448"/>
            <a:ext cx="1392936" cy="835152"/>
          </a:xfrm>
          <a:prstGeom prst="rect">
            <a:avLst/>
          </a:prstGeom>
        </p:spPr>
      </p:pic>
      <p:graphicFrame>
        <p:nvGraphicFramePr>
          <p:cNvPr id="10" name="Chart 9"/>
          <p:cNvGraphicFramePr>
            <a:graphicFrameLocks/>
          </p:cNvGraphicFramePr>
          <p:nvPr>
            <p:extLst/>
          </p:nvPr>
        </p:nvGraphicFramePr>
        <p:xfrm>
          <a:off x="4322740" y="1408684"/>
          <a:ext cx="3776925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11" name="Chart 10"/>
          <p:cNvGraphicFramePr>
            <a:graphicFrameLocks/>
          </p:cNvGraphicFramePr>
          <p:nvPr>
            <p:extLst/>
          </p:nvPr>
        </p:nvGraphicFramePr>
        <p:xfrm>
          <a:off x="8358406" y="1408684"/>
          <a:ext cx="3776925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ABC00E2-2C4A-40EC-9064-A2ADE134B63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FD05959-69A7-4142-AFA0-F9C70301AF3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0949" y="1352555"/>
            <a:ext cx="11617851" cy="309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1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 flipV="1">
            <a:off x="1144888" y="578248"/>
            <a:ext cx="0" cy="2844801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840088" y="3118247"/>
            <a:ext cx="3962400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2717" y="1492647"/>
            <a:ext cx="370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8888" y="3016647"/>
            <a:ext cx="362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x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1348089" y="1312189"/>
            <a:ext cx="2415657" cy="1478515"/>
            <a:chOff x="1981200" y="760007"/>
            <a:chExt cx="1811743" cy="1108886"/>
          </a:xfrm>
        </p:grpSpPr>
        <p:grpSp>
          <p:nvGrpSpPr>
            <p:cNvPr id="25" name="Group 24"/>
            <p:cNvGrpSpPr/>
            <p:nvPr/>
          </p:nvGrpSpPr>
          <p:grpSpPr>
            <a:xfrm flipV="1">
              <a:off x="1981200" y="1733550"/>
              <a:ext cx="135343" cy="135343"/>
              <a:chOff x="5370863" y="1729085"/>
              <a:chExt cx="914400" cy="914400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/>
            <p:cNvGrpSpPr/>
            <p:nvPr/>
          </p:nvGrpSpPr>
          <p:grpSpPr>
            <a:xfrm flipV="1">
              <a:off x="2438400" y="1675773"/>
              <a:ext cx="135343" cy="135343"/>
              <a:chOff x="5370863" y="1729085"/>
              <a:chExt cx="914400" cy="91440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/>
            <p:cNvGrpSpPr/>
            <p:nvPr/>
          </p:nvGrpSpPr>
          <p:grpSpPr>
            <a:xfrm flipV="1">
              <a:off x="2535773" y="1358615"/>
              <a:ext cx="135343" cy="135343"/>
              <a:chOff x="5370863" y="1729085"/>
              <a:chExt cx="914400" cy="914400"/>
            </a:xfrm>
          </p:grpSpPr>
          <p:cxnSp>
            <p:nvCxnSpPr>
              <p:cNvPr id="32" name="Straight Connector 31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/>
            <p:cNvGrpSpPr/>
            <p:nvPr/>
          </p:nvGrpSpPr>
          <p:grpSpPr>
            <a:xfrm flipV="1">
              <a:off x="3062986" y="1276350"/>
              <a:ext cx="135343" cy="135343"/>
              <a:chOff x="5370863" y="1729085"/>
              <a:chExt cx="914400" cy="914400"/>
            </a:xfrm>
          </p:grpSpPr>
          <p:cxnSp>
            <p:nvCxnSpPr>
              <p:cNvPr id="35" name="Straight Connector 34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/>
            <p:cNvGrpSpPr/>
            <p:nvPr/>
          </p:nvGrpSpPr>
          <p:grpSpPr>
            <a:xfrm flipV="1">
              <a:off x="3429000" y="1058510"/>
              <a:ext cx="135343" cy="135343"/>
              <a:chOff x="5370863" y="1729085"/>
              <a:chExt cx="914400" cy="9144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/>
            <p:cNvGrpSpPr/>
            <p:nvPr/>
          </p:nvGrpSpPr>
          <p:grpSpPr>
            <a:xfrm flipV="1">
              <a:off x="3657600" y="760007"/>
              <a:ext cx="135343" cy="135343"/>
              <a:chOff x="5370863" y="1729085"/>
              <a:chExt cx="914400" cy="914400"/>
            </a:xfrm>
          </p:grpSpPr>
          <p:cxnSp>
            <p:nvCxnSpPr>
              <p:cNvPr id="41" name="Straight Connector 40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Group 5"/>
          <p:cNvGrpSpPr/>
          <p:nvPr/>
        </p:nvGrpSpPr>
        <p:grpSpPr>
          <a:xfrm>
            <a:off x="203201" y="4173420"/>
            <a:ext cx="6512404" cy="1815691"/>
            <a:chOff x="532262" y="3130064"/>
            <a:chExt cx="4884303" cy="1361768"/>
          </a:xfrm>
        </p:grpSpPr>
        <p:grpSp>
          <p:nvGrpSpPr>
            <p:cNvPr id="49" name="Group 48"/>
            <p:cNvGrpSpPr/>
            <p:nvPr/>
          </p:nvGrpSpPr>
          <p:grpSpPr>
            <a:xfrm>
              <a:off x="532262" y="3130064"/>
              <a:ext cx="4801737" cy="1361768"/>
              <a:chOff x="837062" y="2368064"/>
              <a:chExt cx="4801737" cy="1361768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837062" y="2368064"/>
                <a:ext cx="4801737" cy="1361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071007" indent="-1071007"/>
                <a:r>
                  <a:rPr lang="en-US" sz="3733" dirty="0"/>
                  <a:t>Idea: Choose             so that                    	          is close to     for our training examples </a:t>
                </a:r>
              </a:p>
            </p:txBody>
          </p:sp>
          <p:pic>
            <p:nvPicPr>
              <p:cNvPr id="46" name="Picture 45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8460" y="2441595"/>
                <a:ext cx="789354" cy="335895"/>
              </a:xfrm>
              <a:prstGeom prst="rect">
                <a:avLst/>
              </a:prstGeom>
            </p:spPr>
          </p:pic>
          <p:pic>
            <p:nvPicPr>
              <p:cNvPr id="48" name="Picture 47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37257" y="2886668"/>
                <a:ext cx="831342" cy="375084"/>
              </a:xfrm>
              <a:prstGeom prst="rect">
                <a:avLst/>
              </a:prstGeom>
            </p:spPr>
          </p:pic>
        </p:grpSp>
        <p:pic>
          <p:nvPicPr>
            <p:cNvPr id="2" name="Picture 1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8194" y="3720216"/>
              <a:ext cx="180023" cy="245745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7892" y="4108927"/>
              <a:ext cx="808673" cy="382905"/>
            </a:xfrm>
            <a:prstGeom prst="rect">
              <a:avLst/>
            </a:prstGeom>
          </p:spPr>
        </p:pic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xmlns="" id="{FB095387-63CB-4759-9BA4-DA65D12362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62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521DE4B-AD38-4531-BE2C-6BD1F161E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193411" y="1065654"/>
                <a:ext cx="6821193" cy="8485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−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411" y="1065654"/>
                <a:ext cx="6821193" cy="8485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766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5633153" y="2867371"/>
            <a:ext cx="5730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5588000" y="2921001"/>
            <a:ext cx="5994400" cy="2167452"/>
          </a:xfrm>
        </p:spPr>
        <p:txBody>
          <a:bodyPr anchor="t" anchorCtr="0">
            <a:noAutofit/>
          </a:bodyPr>
          <a:lstStyle/>
          <a:p>
            <a:pPr algn="l"/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 function</a:t>
            </a:r>
            <a:b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intuition I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914400" y="482600"/>
            <a:ext cx="4267200" cy="48768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17600" y="5156200"/>
            <a:ext cx="3860800" cy="11176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defTabSz="1219170">
              <a:spcBef>
                <a:spcPct val="0"/>
              </a:spcBef>
              <a:defRPr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Machine Learning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588000" y="889000"/>
            <a:ext cx="6604000" cy="19050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71200" y="6273800"/>
            <a:ext cx="1320800" cy="584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45679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9" y="1193800"/>
            <a:ext cx="3015311" cy="419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6400" y="482601"/>
            <a:ext cx="21435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Hypothesis: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613" y="2646861"/>
            <a:ext cx="882988" cy="3757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6400" y="1970750"/>
            <a:ext cx="2189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Parameters: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400" y="3458899"/>
            <a:ext cx="2578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Cost Function: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24" y="5225512"/>
            <a:ext cx="3247017" cy="64188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06400" y="5102719"/>
            <a:ext cx="10631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Goal: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6807200" y="755733"/>
            <a:ext cx="0" cy="52832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7951" y="1092200"/>
            <a:ext cx="2399216" cy="474181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2514600"/>
            <a:ext cx="357405" cy="40340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5202728"/>
            <a:ext cx="2844800" cy="66467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331201" y="76201"/>
            <a:ext cx="18421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u="sng" dirty="0"/>
              <a:t>Simplified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547161DF-A3F2-4B80-9E5A-21EFEB2990D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501219" y="4204439"/>
                <a:ext cx="3784113" cy="8485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 −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219" y="4204439"/>
                <a:ext cx="3784113" cy="848566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112000" y="3479508"/>
                <a:ext cx="3573221" cy="8485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 −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3479508"/>
                <a:ext cx="3573221" cy="848566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38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/>
          </p:nvPr>
        </p:nvGraphicFramePr>
        <p:xfrm>
          <a:off x="711200" y="1558967"/>
          <a:ext cx="4226560" cy="358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104" y="279400"/>
            <a:ext cx="905256" cy="408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4800" y="2803567"/>
            <a:ext cx="370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728014"/>
            <a:ext cx="362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x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975360" y="1524000"/>
            <a:ext cx="4084320" cy="3139440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1679856"/>
            <a:ext cx="724205" cy="32674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108368"/>
            <a:ext cx="853440" cy="27797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6971" y="771568"/>
            <a:ext cx="4466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(for fixed     , this is a function of x)</a:t>
            </a:r>
          </a:p>
        </p:txBody>
      </p:sp>
      <p:pic>
        <p:nvPicPr>
          <p:cNvPr id="33" name="Picture 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461" y="889001"/>
            <a:ext cx="246279" cy="277977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>
            <a:off x="6197600" y="755733"/>
            <a:ext cx="0" cy="52832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4379" y="279400"/>
            <a:ext cx="883920" cy="40843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61246" y="771568"/>
            <a:ext cx="402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(function of the parameter      )</a:t>
            </a:r>
          </a:p>
        </p:txBody>
      </p:sp>
      <p:pic>
        <p:nvPicPr>
          <p:cNvPr id="37" name="Picture 3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722" y="889001"/>
            <a:ext cx="246279" cy="277977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6608064" y="1473200"/>
            <a:ext cx="5177536" cy="3886200"/>
            <a:chOff x="4956048" y="1104900"/>
            <a:chExt cx="3883152" cy="2914650"/>
          </a:xfrm>
        </p:grpSpPr>
        <p:graphicFrame>
          <p:nvGraphicFramePr>
            <p:cNvPr id="40" name="Chart 39"/>
            <p:cNvGraphicFramePr>
              <a:graphicFrameLocks/>
            </p:cNvGraphicFramePr>
            <p:nvPr>
              <p:extLst/>
            </p:nvPr>
          </p:nvGraphicFramePr>
          <p:xfrm>
            <a:off x="5334000" y="1104900"/>
            <a:ext cx="3505200" cy="26860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7"/>
            </a:graphicData>
          </a:graphic>
        </p:graphicFrame>
        <p:pic>
          <p:nvPicPr>
            <p:cNvPr id="48" name="Picture 4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6048" y="2132859"/>
              <a:ext cx="530352" cy="245059"/>
            </a:xfrm>
            <a:prstGeom prst="rect">
              <a:avLst/>
            </a:prstGeom>
          </p:spPr>
        </p:pic>
        <p:pic>
          <p:nvPicPr>
            <p:cNvPr id="47" name="Picture 46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2276" y="3811067"/>
              <a:ext cx="184709" cy="208483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3D408DCF-8292-4371-8C2F-519F978548FE}"/>
              </a:ext>
            </a:extLst>
          </p:cNvPr>
          <p:cNvSpPr txBox="1"/>
          <p:nvPr/>
        </p:nvSpPr>
        <p:spPr>
          <a:xfrm rot="10800000" flipV="1">
            <a:off x="277461" y="5374790"/>
            <a:ext cx="36849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 for example</a:t>
            </a:r>
          </a:p>
          <a:p>
            <a:r>
              <a:rPr lang="en-US" sz="2400" dirty="0"/>
              <a:t>θ</a:t>
            </a:r>
            <a:r>
              <a:rPr lang="en-US" sz="2400" baseline="-25000" dirty="0"/>
              <a:t>1</a:t>
            </a:r>
            <a:r>
              <a:rPr lang="en-US" sz="2400" dirty="0"/>
              <a:t> = 1</a:t>
            </a:r>
          </a:p>
          <a:p>
            <a:r>
              <a:rPr lang="en-US" sz="2400" dirty="0"/>
              <a:t>J(θ</a:t>
            </a:r>
            <a:r>
              <a:rPr lang="en-US" sz="2400" baseline="-25000" dirty="0"/>
              <a:t>1</a:t>
            </a:r>
            <a:r>
              <a:rPr lang="en-US" sz="2400" dirty="0"/>
              <a:t>) =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B0E886C-17C0-44E0-8375-1ED8C107F25A}"/>
              </a:ext>
            </a:extLst>
          </p:cNvPr>
          <p:cNvSpPr txBox="1"/>
          <p:nvPr/>
        </p:nvSpPr>
        <p:spPr>
          <a:xfrm rot="10800000" flipV="1">
            <a:off x="2411061" y="5679589"/>
            <a:ext cx="3684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θ</a:t>
            </a:r>
            <a:r>
              <a:rPr lang="el-GR" sz="2400" baseline="-25000" dirty="0"/>
              <a:t>1</a:t>
            </a:r>
            <a:r>
              <a:rPr lang="el-GR" sz="2400" dirty="0"/>
              <a:t> = 0.5</a:t>
            </a:r>
          </a:p>
          <a:p>
            <a:r>
              <a:rPr lang="el-GR" sz="2400" dirty="0"/>
              <a:t>J(θ</a:t>
            </a:r>
            <a:r>
              <a:rPr lang="el-GR" sz="2400" baseline="-25000" dirty="0"/>
              <a:t>1</a:t>
            </a:r>
            <a:r>
              <a:rPr lang="el-GR" sz="2400" dirty="0"/>
              <a:t>) =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DB1A5A9-AAF3-4C4A-B889-B2E278DCE7E5}"/>
              </a:ext>
            </a:extLst>
          </p:cNvPr>
          <p:cNvSpPr txBox="1"/>
          <p:nvPr/>
        </p:nvSpPr>
        <p:spPr>
          <a:xfrm rot="10800000" flipV="1">
            <a:off x="4443061" y="5679589"/>
            <a:ext cx="3684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θ</a:t>
            </a:r>
            <a:r>
              <a:rPr lang="el-GR" sz="2400" baseline="-25000" dirty="0"/>
              <a:t>1</a:t>
            </a:r>
            <a:r>
              <a:rPr lang="el-GR" sz="2400" dirty="0"/>
              <a:t> = 0</a:t>
            </a:r>
          </a:p>
          <a:p>
            <a:r>
              <a:rPr lang="el-GR" sz="2400" dirty="0"/>
              <a:t>J(θ</a:t>
            </a:r>
            <a:r>
              <a:rPr lang="el-GR" sz="2400" baseline="-25000" dirty="0"/>
              <a:t>1</a:t>
            </a:r>
            <a:r>
              <a:rPr lang="el-GR" sz="2400" dirty="0"/>
              <a:t>) =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4E39304B-DB52-440E-8990-BC61A9EF216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96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16" grpId="0"/>
      <p:bldP spid="17" grpId="0"/>
      <p:bldP spid="30" grpId="0"/>
      <p:bldP spid="36" grpId="0"/>
      <p:bldP spid="21" grpId="0"/>
      <p:bldP spid="22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291" y="1193801"/>
            <a:ext cx="3440709" cy="4787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9678" y="1049180"/>
            <a:ext cx="2792752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67" dirty="0"/>
              <a:t>Hypothesis: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040" y="2503887"/>
            <a:ext cx="1007560" cy="4287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9677" y="2293187"/>
            <a:ext cx="2858988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67" dirty="0"/>
              <a:t>Parameters: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677" y="3487580"/>
            <a:ext cx="3365280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67" dirty="0"/>
              <a:t>Cost Function: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041" y="4935221"/>
            <a:ext cx="3687572" cy="7289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9677" y="4782900"/>
            <a:ext cx="1351652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67" dirty="0"/>
              <a:t>Goal: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B1FBE92-B771-478E-BC9E-9EBF9852AE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589770" y="3487580"/>
                <a:ext cx="3784113" cy="8485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 −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9770" y="3487580"/>
                <a:ext cx="3784113" cy="84856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755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733" y="279400"/>
            <a:ext cx="905256" cy="4084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24" y="5867400"/>
            <a:ext cx="3313176" cy="4084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7601" y="771568"/>
            <a:ext cx="4879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(for fixed           , this is a function of x)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092" y="889001"/>
            <a:ext cx="692521" cy="297145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>
            <a:off x="6807200" y="755733"/>
            <a:ext cx="0" cy="52832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4379" y="279400"/>
            <a:ext cx="1435608" cy="40843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104416" y="771568"/>
            <a:ext cx="4555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(function of the parameters            )</a:t>
            </a:r>
          </a:p>
        </p:txBody>
      </p:sp>
      <p:pic>
        <p:nvPicPr>
          <p:cNvPr id="66" name="Picture 6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076" y="889000"/>
            <a:ext cx="687629" cy="292608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464" y="1516482"/>
            <a:ext cx="707136" cy="326745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071" y="4714850"/>
            <a:ext cx="246279" cy="277977"/>
          </a:xfrm>
          <a:prstGeom prst="rect">
            <a:avLst/>
          </a:prstGeom>
        </p:spPr>
      </p:pic>
      <p:graphicFrame>
        <p:nvGraphicFramePr>
          <p:cNvPr id="54" name="Chart 53"/>
          <p:cNvGraphicFramePr>
            <a:graphicFrameLocks/>
          </p:cNvGraphicFramePr>
          <p:nvPr>
            <p:extLst/>
          </p:nvPr>
        </p:nvGraphicFramePr>
        <p:xfrm>
          <a:off x="1273728" y="1600201"/>
          <a:ext cx="5486400" cy="38787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32638" y="2668826"/>
            <a:ext cx="1286378" cy="830997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2400" dirty="0"/>
              <a:t>Price ($) </a:t>
            </a:r>
          </a:p>
          <a:p>
            <a:pPr algn="ctr"/>
            <a:r>
              <a:rPr lang="en-US" sz="2400" dirty="0"/>
              <a:t>in 1000’s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7921" y="5257801"/>
            <a:ext cx="2023054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2400" dirty="0"/>
              <a:t>Size in feet</a:t>
            </a:r>
            <a:r>
              <a:rPr lang="en-US" sz="2400" baseline="30000" dirty="0"/>
              <a:t>2</a:t>
            </a:r>
            <a:r>
              <a:rPr lang="en-US" sz="2400" dirty="0"/>
              <a:t> (x)</a:t>
            </a:r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1351653" y="3380018"/>
            <a:ext cx="5150748" cy="1396287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7522464" y="1361732"/>
            <a:ext cx="0" cy="3506621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7217664" y="4511331"/>
            <a:ext cx="3962400" cy="0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1"/>
          <p:cNvSpPr/>
          <p:nvPr/>
        </p:nvSpPr>
        <p:spPr>
          <a:xfrm>
            <a:off x="7395464" y="1944827"/>
            <a:ext cx="3276600" cy="2347447"/>
          </a:xfrm>
          <a:custGeom>
            <a:avLst/>
            <a:gdLst>
              <a:gd name="connsiteX0" fmla="*/ 0 w 2457450"/>
              <a:gd name="connsiteY0" fmla="*/ 0 h 1760585"/>
              <a:gd name="connsiteX1" fmla="*/ 354330 w 2457450"/>
              <a:gd name="connsiteY1" fmla="*/ 1245870 h 1760585"/>
              <a:gd name="connsiteX2" fmla="*/ 1200150 w 2457450"/>
              <a:gd name="connsiteY2" fmla="*/ 1760220 h 1760585"/>
              <a:gd name="connsiteX3" fmla="*/ 2000250 w 2457450"/>
              <a:gd name="connsiteY3" fmla="*/ 1303020 h 1760585"/>
              <a:gd name="connsiteX4" fmla="*/ 2457450 w 2457450"/>
              <a:gd name="connsiteY4" fmla="*/ 22860 h 1760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7450" h="1760585">
                <a:moveTo>
                  <a:pt x="0" y="0"/>
                </a:moveTo>
                <a:cubicBezTo>
                  <a:pt x="77152" y="476250"/>
                  <a:pt x="154305" y="952500"/>
                  <a:pt x="354330" y="1245870"/>
                </a:cubicBezTo>
                <a:cubicBezTo>
                  <a:pt x="554355" y="1539240"/>
                  <a:pt x="925830" y="1750695"/>
                  <a:pt x="1200150" y="1760220"/>
                </a:cubicBezTo>
                <a:cubicBezTo>
                  <a:pt x="1474470" y="1769745"/>
                  <a:pt x="1790700" y="1592580"/>
                  <a:pt x="2000250" y="1303020"/>
                </a:cubicBezTo>
                <a:cubicBezTo>
                  <a:pt x="2209800" y="1013460"/>
                  <a:pt x="2333625" y="518160"/>
                  <a:pt x="2457450" y="22860"/>
                </a:cubicBezTo>
              </a:path>
            </a:pathLst>
          </a:custGeom>
          <a:ln w="15748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AB7A368A-E9AD-44E7-9DAC-8A54F8C81F5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5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982DEE7E-070A-49FD-951B-7A993B447DC8}"/>
              </a:ext>
            </a:extLst>
          </p:cNvPr>
          <p:cNvSpPr txBox="1"/>
          <p:nvPr/>
        </p:nvSpPr>
        <p:spPr>
          <a:xfrm>
            <a:off x="304800" y="177801"/>
            <a:ext cx="113792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Previously we plotted our cost function by plotting</a:t>
            </a:r>
          </a:p>
          <a:p>
            <a:pPr lvl="1"/>
            <a:r>
              <a:rPr lang="en-US" sz="3200" dirty="0"/>
              <a:t>θ</a:t>
            </a:r>
            <a:r>
              <a:rPr lang="en-US" sz="3200" baseline="-25000" dirty="0"/>
              <a:t>1</a:t>
            </a:r>
            <a:r>
              <a:rPr lang="en-US" sz="3200" dirty="0"/>
              <a:t> vs J(θ</a:t>
            </a:r>
            <a:r>
              <a:rPr lang="en-US" sz="3200" baseline="-25000" dirty="0"/>
              <a:t>1</a:t>
            </a:r>
            <a:r>
              <a:rPr lang="en-US" sz="3200" dirty="0"/>
              <a:t>)</a:t>
            </a:r>
          </a:p>
          <a:p>
            <a:r>
              <a:rPr lang="en-US" sz="3200" dirty="0"/>
              <a:t>Now we have two parameters</a:t>
            </a:r>
          </a:p>
          <a:p>
            <a:pPr lvl="1"/>
            <a:r>
              <a:rPr lang="en-US" sz="3200" dirty="0"/>
              <a:t>Plot becomes a bit more complicated</a:t>
            </a:r>
          </a:p>
          <a:p>
            <a:pPr lvl="1"/>
            <a:r>
              <a:rPr lang="en-US" sz="3200" dirty="0"/>
              <a:t>Generates a 3D surface plot where axis are</a:t>
            </a:r>
          </a:p>
          <a:p>
            <a:pPr lvl="2"/>
            <a:r>
              <a:rPr lang="en-US" sz="3200" dirty="0"/>
              <a:t>X = θ</a:t>
            </a:r>
            <a:r>
              <a:rPr lang="en-US" sz="3200" baseline="-25000" dirty="0"/>
              <a:t>1</a:t>
            </a:r>
            <a:endParaRPr lang="en-US" sz="3200" dirty="0"/>
          </a:p>
          <a:p>
            <a:pPr lvl="2"/>
            <a:r>
              <a:rPr lang="en-US" sz="3200" dirty="0"/>
              <a:t>Z = θ</a:t>
            </a:r>
            <a:r>
              <a:rPr lang="en-US" sz="3200" baseline="-25000" dirty="0"/>
              <a:t>0</a:t>
            </a:r>
            <a:endParaRPr lang="en-US" sz="3200" dirty="0"/>
          </a:p>
          <a:p>
            <a:pPr lvl="2"/>
            <a:r>
              <a:rPr lang="en-US" sz="3200" dirty="0"/>
              <a:t>Y = J(θ</a:t>
            </a:r>
            <a:r>
              <a:rPr lang="en-US" sz="3200" baseline="-25000" dirty="0"/>
              <a:t>0</a:t>
            </a:r>
            <a:r>
              <a:rPr lang="en-US" sz="3200" dirty="0"/>
              <a:t>,θ</a:t>
            </a:r>
            <a:r>
              <a:rPr lang="en-US" sz="3200" baseline="-25000" dirty="0"/>
              <a:t>1</a:t>
            </a:r>
            <a:r>
              <a:rPr lang="en-US" sz="32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B9C37B5-EA4B-4994-B6B4-4676E1536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6464301"/>
            <a:ext cx="1270000" cy="419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3101150"/>
            <a:ext cx="707136" cy="3267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007" y="6299518"/>
            <a:ext cx="246279" cy="277977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V="1">
            <a:off x="5486400" y="2946400"/>
            <a:ext cx="0" cy="3506621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181600" y="6095999"/>
            <a:ext cx="3962400" cy="0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5359400" y="3529495"/>
            <a:ext cx="3276600" cy="2347447"/>
          </a:xfrm>
          <a:custGeom>
            <a:avLst/>
            <a:gdLst>
              <a:gd name="connsiteX0" fmla="*/ 0 w 2457450"/>
              <a:gd name="connsiteY0" fmla="*/ 0 h 1760585"/>
              <a:gd name="connsiteX1" fmla="*/ 354330 w 2457450"/>
              <a:gd name="connsiteY1" fmla="*/ 1245870 h 1760585"/>
              <a:gd name="connsiteX2" fmla="*/ 1200150 w 2457450"/>
              <a:gd name="connsiteY2" fmla="*/ 1760220 h 1760585"/>
              <a:gd name="connsiteX3" fmla="*/ 2000250 w 2457450"/>
              <a:gd name="connsiteY3" fmla="*/ 1303020 h 1760585"/>
              <a:gd name="connsiteX4" fmla="*/ 2457450 w 2457450"/>
              <a:gd name="connsiteY4" fmla="*/ 22860 h 1760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7450" h="1760585">
                <a:moveTo>
                  <a:pt x="0" y="0"/>
                </a:moveTo>
                <a:cubicBezTo>
                  <a:pt x="77152" y="476250"/>
                  <a:pt x="154305" y="952500"/>
                  <a:pt x="354330" y="1245870"/>
                </a:cubicBezTo>
                <a:cubicBezTo>
                  <a:pt x="554355" y="1539240"/>
                  <a:pt x="925830" y="1750695"/>
                  <a:pt x="1200150" y="1760220"/>
                </a:cubicBezTo>
                <a:cubicBezTo>
                  <a:pt x="1474470" y="1769745"/>
                  <a:pt x="1790700" y="1592580"/>
                  <a:pt x="2000250" y="1303020"/>
                </a:cubicBezTo>
                <a:cubicBezTo>
                  <a:pt x="2209800" y="1013460"/>
                  <a:pt x="2333625" y="518160"/>
                  <a:pt x="2457450" y="22860"/>
                </a:cubicBezTo>
              </a:path>
            </a:pathLst>
          </a:custGeom>
          <a:ln w="15748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08982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ublic\Documents\ml-class\lectures-slides\assets\2.bow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0"/>
            <a:ext cx="5892800" cy="4624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82DEE7E-070A-49FD-951B-7A993B447DC8}"/>
              </a:ext>
            </a:extLst>
          </p:cNvPr>
          <p:cNvSpPr txBox="1"/>
          <p:nvPr/>
        </p:nvSpPr>
        <p:spPr>
          <a:xfrm>
            <a:off x="508000" y="5054600"/>
            <a:ext cx="11379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We can see that the height (y) indicates the value of the cost function, so find where y is at a minimum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E76A003-1894-4F12-AAF1-5D6766C11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1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35525" y="1173843"/>
            <a:ext cx="5851675" cy="43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4801" y="1173843"/>
            <a:ext cx="5851676" cy="43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733" y="279400"/>
            <a:ext cx="905256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7601" y="771568"/>
            <a:ext cx="4879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(for fixed           , this is a function of x)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092" y="889001"/>
            <a:ext cx="692521" cy="29714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4379" y="279400"/>
            <a:ext cx="1435608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04416" y="771568"/>
            <a:ext cx="4555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(function of the parameters            )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076" y="889000"/>
            <a:ext cx="687629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24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35525" y="1173843"/>
            <a:ext cx="5851675" cy="43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4800" y="1173843"/>
            <a:ext cx="5851675" cy="43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733" y="279400"/>
            <a:ext cx="905256" cy="408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7601" y="771568"/>
            <a:ext cx="4879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092" y="889001"/>
            <a:ext cx="692521" cy="297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4379" y="279400"/>
            <a:ext cx="1435608" cy="408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04416" y="771568"/>
            <a:ext cx="4555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076" y="889000"/>
            <a:ext cx="687629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0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35525" y="1173843"/>
            <a:ext cx="5851675" cy="43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4800" y="1173843"/>
            <a:ext cx="5851675" cy="43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733" y="279400"/>
            <a:ext cx="905256" cy="408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7601" y="771568"/>
            <a:ext cx="4879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092" y="889001"/>
            <a:ext cx="692521" cy="297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4379" y="279400"/>
            <a:ext cx="1435608" cy="408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04416" y="771568"/>
            <a:ext cx="4555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076" y="889000"/>
            <a:ext cx="687629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5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35525" y="1173843"/>
            <a:ext cx="5851675" cy="43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4800" y="1173843"/>
            <a:ext cx="5851675" cy="43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733" y="279400"/>
            <a:ext cx="905256" cy="408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7601" y="771568"/>
            <a:ext cx="4879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092" y="889001"/>
            <a:ext cx="692521" cy="297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4379" y="279400"/>
            <a:ext cx="1435608" cy="408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04416" y="771568"/>
            <a:ext cx="4555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076" y="889000"/>
            <a:ext cx="687629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75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5633153" y="2867371"/>
            <a:ext cx="5730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5588000" y="2921001"/>
            <a:ext cx="5994400" cy="2167452"/>
          </a:xfrm>
        </p:spPr>
        <p:txBody>
          <a:bodyPr anchor="t" anchorCtr="0">
            <a:noAutofit/>
          </a:bodyPr>
          <a:lstStyle/>
          <a:p>
            <a:pPr algn="l"/>
            <a:r>
              <a:rPr lang="en-US" sz="8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Gradient descent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914400" y="482600"/>
            <a:ext cx="4267200" cy="48768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17600" y="5156200"/>
            <a:ext cx="3860800" cy="11176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defTabSz="1219170">
              <a:spcBef>
                <a:spcPct val="0"/>
              </a:spcBef>
              <a:defRPr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Machine Learning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588000" y="889000"/>
            <a:ext cx="6604000" cy="19050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71200" y="6273800"/>
            <a:ext cx="1320800" cy="584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8A1611BB-64C8-45FF-962A-E71AEDBAE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3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914400" y="787400"/>
            <a:ext cx="10464800" cy="3915966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</a:rPr>
              <a:t>Minimize cost function J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</a:rPr>
              <a:t>Gradient descent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</a:rPr>
              <a:t>Used all over machine learning for minimization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</a:rPr>
              <a:t>Start by looking at a general J()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</a:rPr>
              <a:t>Problem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</a:rPr>
              <a:t>We have J(θ</a:t>
            </a:r>
            <a:r>
              <a:rPr lang="en-US" sz="3200" baseline="-25000" dirty="0">
                <a:solidFill>
                  <a:srgbClr val="000000"/>
                </a:solidFill>
                <a:latin typeface="Georgia" panose="02040502050405020303" pitchFamily="18" charset="0"/>
              </a:rPr>
              <a:t>0</a:t>
            </a: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</a:rPr>
              <a:t>, θ</a:t>
            </a:r>
            <a:r>
              <a:rPr lang="en-US" sz="3200" baseline="-25000" dirty="0">
                <a:solidFill>
                  <a:srgbClr val="000000"/>
                </a:solidFill>
                <a:latin typeface="Georgia" panose="02040502050405020303" pitchFamily="18" charset="0"/>
              </a:rPr>
              <a:t>1</a:t>
            </a: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</a:rPr>
              <a:t>)</a:t>
            </a:r>
          </a:p>
          <a:p>
            <a:pPr marL="990575" lvl="1" indent="-38099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Georgia" panose="02040502050405020303" pitchFamily="18" charset="0"/>
              </a:rPr>
              <a:t>We want to get </a:t>
            </a:r>
            <a:r>
              <a:rPr lang="en-US" sz="3200" b="1" dirty="0">
                <a:solidFill>
                  <a:srgbClr val="000000"/>
                </a:solidFill>
                <a:latin typeface="Georgia" panose="02040502050405020303" pitchFamily="18" charset="0"/>
              </a:rPr>
              <a:t>min J(θ</a:t>
            </a:r>
            <a:r>
              <a:rPr lang="en-US" sz="3200" b="1" baseline="-25000" dirty="0">
                <a:solidFill>
                  <a:srgbClr val="000000"/>
                </a:solidFill>
                <a:latin typeface="Georgia" panose="02040502050405020303" pitchFamily="18" charset="0"/>
              </a:rPr>
              <a:t>0</a:t>
            </a:r>
            <a:r>
              <a:rPr lang="en-US" sz="3200" b="1" dirty="0">
                <a:solidFill>
                  <a:srgbClr val="000000"/>
                </a:solidFill>
                <a:latin typeface="Georgia" panose="02040502050405020303" pitchFamily="18" charset="0"/>
              </a:rPr>
              <a:t>, θ</a:t>
            </a:r>
            <a:r>
              <a:rPr lang="en-US" sz="3200" b="1" baseline="-25000" dirty="0">
                <a:solidFill>
                  <a:srgbClr val="000000"/>
                </a:solidFill>
                <a:latin typeface="Georgia" panose="02040502050405020303" pitchFamily="18" charset="0"/>
              </a:rPr>
              <a:t>1</a:t>
            </a:r>
            <a:r>
              <a:rPr lang="en-US" sz="3200" b="1" dirty="0">
                <a:solidFill>
                  <a:srgbClr val="000000"/>
                </a:solidFill>
                <a:latin typeface="Georgia" panose="02040502050405020303" pitchFamily="18" charset="0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0957A52-3EAE-4E66-8864-A03261A9F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58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19791" y="584200"/>
            <a:ext cx="4059316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733" dirty="0"/>
              <a:t>Have some function</a:t>
            </a:r>
          </a:p>
        </p:txBody>
      </p:sp>
      <p:pic>
        <p:nvPicPr>
          <p:cNvPr id="43" name="Picture 4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464" y="701040"/>
            <a:ext cx="1740656" cy="49521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19792" y="1410573"/>
            <a:ext cx="1340239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733" dirty="0"/>
              <a:t>Want 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361" y="1529080"/>
            <a:ext cx="2768049" cy="7576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2383291"/>
            <a:ext cx="10160000" cy="3915682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733" b="1" dirty="0"/>
              <a:t>Outline:</a:t>
            </a:r>
          </a:p>
          <a:p>
            <a:pPr marL="1066773" lvl="1" indent="-457189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733" dirty="0"/>
              <a:t>Start with some</a:t>
            </a:r>
          </a:p>
          <a:p>
            <a:pPr marL="1066773" lvl="1" indent="-457189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733" dirty="0"/>
              <a:t>Keep changing              to reduce                     until we hopefully end up at a minimum</a:t>
            </a:r>
          </a:p>
        </p:txBody>
      </p:sp>
      <p:pic>
        <p:nvPicPr>
          <p:cNvPr id="48" name="Picture 4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120" y="3759200"/>
            <a:ext cx="1062483" cy="452120"/>
          </a:xfrm>
          <a:prstGeom prst="rect">
            <a:avLst/>
          </a:prstGeom>
          <a:ln>
            <a:noFill/>
          </a:ln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480" y="4600747"/>
            <a:ext cx="1774573" cy="504868"/>
          </a:xfrm>
          <a:prstGeom prst="rect">
            <a:avLst/>
          </a:prstGeom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00" y="4607560"/>
            <a:ext cx="1062483" cy="452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3600" y="882332"/>
            <a:ext cx="4775200" cy="1554752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133" dirty="0"/>
              <a:t>Gradient descent applies to more general functions</a:t>
            </a:r>
          </a:p>
          <a:p>
            <a:pPr marL="380990" indent="-380990">
              <a:buFont typeface="Wingdings" panose="05000000000000000000" pitchFamily="2" charset="2"/>
              <a:buChar char="ü"/>
            </a:pPr>
            <a:r>
              <a:rPr lang="en-US" sz="2133" dirty="0"/>
              <a:t>J(θ</a:t>
            </a:r>
            <a:r>
              <a:rPr lang="en-US" sz="2133" baseline="-25000" dirty="0"/>
              <a:t>0</a:t>
            </a:r>
            <a:r>
              <a:rPr lang="en-US" sz="2133" dirty="0"/>
              <a:t>, θ</a:t>
            </a:r>
            <a:r>
              <a:rPr lang="en-US" sz="2133" baseline="-25000" dirty="0"/>
              <a:t>1</a:t>
            </a:r>
            <a:r>
              <a:rPr lang="en-US" sz="2133" dirty="0"/>
              <a:t>, θ</a:t>
            </a:r>
            <a:r>
              <a:rPr lang="en-US" sz="2133" baseline="-25000" dirty="0"/>
              <a:t>2</a:t>
            </a:r>
            <a:r>
              <a:rPr lang="en-US" sz="2133" dirty="0"/>
              <a:t> .... </a:t>
            </a:r>
            <a:r>
              <a:rPr lang="en-US" sz="2133" dirty="0" err="1"/>
              <a:t>θ</a:t>
            </a:r>
            <a:r>
              <a:rPr lang="en-US" sz="2133" baseline="-25000" dirty="0" err="1"/>
              <a:t>n</a:t>
            </a:r>
            <a:r>
              <a:rPr lang="en-US" sz="2133" dirty="0"/>
              <a:t>)</a:t>
            </a:r>
          </a:p>
          <a:p>
            <a:pPr marL="380990" indent="-380990">
              <a:buFont typeface="Wingdings" panose="05000000000000000000" pitchFamily="2" charset="2"/>
              <a:buChar char="ü"/>
            </a:pPr>
            <a:r>
              <a:rPr lang="en-US" sz="2133" dirty="0"/>
              <a:t>min J(θ</a:t>
            </a:r>
            <a:r>
              <a:rPr lang="en-US" sz="2133" baseline="-25000" dirty="0"/>
              <a:t>0</a:t>
            </a:r>
            <a:r>
              <a:rPr lang="en-US" sz="2133" dirty="0"/>
              <a:t>, θ</a:t>
            </a:r>
            <a:r>
              <a:rPr lang="en-US" sz="2133" baseline="-25000" dirty="0"/>
              <a:t>1</a:t>
            </a:r>
            <a:r>
              <a:rPr lang="en-US" sz="2133" dirty="0"/>
              <a:t>, θ</a:t>
            </a:r>
            <a:r>
              <a:rPr lang="en-US" sz="2133" baseline="-25000" dirty="0"/>
              <a:t>2</a:t>
            </a:r>
            <a:r>
              <a:rPr lang="en-US" sz="2133" dirty="0"/>
              <a:t> .... </a:t>
            </a:r>
            <a:r>
              <a:rPr lang="en-US" sz="2133" dirty="0" err="1"/>
              <a:t>θ</a:t>
            </a:r>
            <a:r>
              <a:rPr lang="en-US" sz="2133" baseline="-25000" dirty="0" err="1"/>
              <a:t>n</a:t>
            </a:r>
            <a:r>
              <a:rPr lang="en-US" sz="2133" dirty="0"/>
              <a:t>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2BBCBEC0-5A6A-45ED-8D9F-7391C06652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8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914400" y="76201"/>
            <a:ext cx="10160000" cy="6459499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80990" indent="-380990">
              <a:buFont typeface="Wingdings" panose="05000000000000000000" pitchFamily="2" charset="2"/>
              <a:buChar char="§"/>
            </a:pPr>
            <a:r>
              <a:rPr lang="en-US" sz="2667" dirty="0"/>
              <a:t>Start with initial guesses</a:t>
            </a:r>
          </a:p>
          <a:p>
            <a:pPr marL="990575" lvl="1" indent="-380990">
              <a:buFont typeface="Wingdings" panose="05000000000000000000" pitchFamily="2" charset="2"/>
              <a:buChar char="Ø"/>
            </a:pPr>
            <a:r>
              <a:rPr lang="en-US" sz="2667" dirty="0"/>
              <a:t>Start at 0,0 (or any other value)</a:t>
            </a:r>
          </a:p>
          <a:p>
            <a:pPr marL="990575" lvl="1" indent="-380990">
              <a:buFont typeface="Wingdings" panose="05000000000000000000" pitchFamily="2" charset="2"/>
              <a:buChar char="Ø"/>
            </a:pPr>
            <a:r>
              <a:rPr lang="en-US" sz="2667" dirty="0"/>
              <a:t>Keeping changing θ</a:t>
            </a:r>
            <a:r>
              <a:rPr lang="en-US" sz="2667" baseline="-25000" dirty="0"/>
              <a:t>0</a:t>
            </a:r>
            <a:r>
              <a:rPr lang="en-US" sz="2667" dirty="0"/>
              <a:t> and θ</a:t>
            </a:r>
            <a:r>
              <a:rPr lang="en-US" sz="2667" baseline="-25000" dirty="0"/>
              <a:t>1</a:t>
            </a:r>
            <a:r>
              <a:rPr lang="en-US" sz="2667" dirty="0"/>
              <a:t> a little bit to try and reduce J(θ</a:t>
            </a:r>
            <a:r>
              <a:rPr lang="en-US" sz="2667" baseline="-25000" dirty="0"/>
              <a:t>0</a:t>
            </a:r>
            <a:r>
              <a:rPr lang="en-US" sz="2667" dirty="0"/>
              <a:t>,θ</a:t>
            </a:r>
            <a:r>
              <a:rPr lang="en-US" sz="2667" baseline="-25000" dirty="0"/>
              <a:t>1</a:t>
            </a:r>
            <a:r>
              <a:rPr lang="en-US" sz="2667" dirty="0"/>
              <a:t>)</a:t>
            </a:r>
          </a:p>
          <a:p>
            <a:pPr marL="380990" indent="-380990">
              <a:buFont typeface="Wingdings" panose="05000000000000000000" pitchFamily="2" charset="2"/>
              <a:buChar char="§"/>
            </a:pPr>
            <a:r>
              <a:rPr lang="en-US" sz="2667" dirty="0"/>
              <a:t>Each time you change the parameters, you select the gradient which reduces J(θ</a:t>
            </a:r>
            <a:r>
              <a:rPr lang="en-US" sz="2667" baseline="-25000" dirty="0"/>
              <a:t>0</a:t>
            </a:r>
            <a:r>
              <a:rPr lang="en-US" sz="2667" dirty="0"/>
              <a:t>,θ</a:t>
            </a:r>
            <a:r>
              <a:rPr lang="en-US" sz="2667" baseline="-25000" dirty="0"/>
              <a:t>1</a:t>
            </a:r>
            <a:r>
              <a:rPr lang="en-US" sz="2667" dirty="0"/>
              <a:t>) the most possible </a:t>
            </a:r>
          </a:p>
          <a:p>
            <a:pPr marL="380990" indent="-380990">
              <a:buFont typeface="Wingdings" panose="05000000000000000000" pitchFamily="2" charset="2"/>
              <a:buChar char="§"/>
            </a:pPr>
            <a:r>
              <a:rPr lang="en-US" sz="2667" dirty="0"/>
              <a:t>Repeat</a:t>
            </a:r>
          </a:p>
          <a:p>
            <a:pPr marL="380990" indent="-380990">
              <a:buFont typeface="Wingdings" panose="05000000000000000000" pitchFamily="2" charset="2"/>
              <a:buChar char="§"/>
            </a:pPr>
            <a:r>
              <a:rPr lang="en-US" sz="2667" dirty="0"/>
              <a:t>Do so until you converge to a local minimum</a:t>
            </a:r>
          </a:p>
          <a:p>
            <a:pPr marL="380990" indent="-380990">
              <a:buFont typeface="Wingdings" panose="05000000000000000000" pitchFamily="2" charset="2"/>
              <a:buChar char="§"/>
            </a:pPr>
            <a:r>
              <a:rPr lang="en-US" sz="2667" dirty="0"/>
              <a:t>Has an interesting property</a:t>
            </a:r>
          </a:p>
          <a:p>
            <a:pPr marL="990575" lvl="1" indent="-380990">
              <a:buFont typeface="Wingdings" panose="05000000000000000000" pitchFamily="2" charset="2"/>
              <a:buChar char="Ø"/>
            </a:pPr>
            <a:r>
              <a:rPr lang="en-US" sz="2667" dirty="0"/>
              <a:t>Where you start can determine which minimum you end up</a:t>
            </a:r>
          </a:p>
          <a:p>
            <a:pPr marL="990575" lvl="1" indent="-380990">
              <a:buFont typeface="Wingdings" panose="05000000000000000000" pitchFamily="2" charset="2"/>
              <a:buChar char="Ø"/>
            </a:pPr>
            <a:r>
              <a:rPr lang="en-US" sz="2667" dirty="0"/>
              <a:t>Here we can see one initialization point led to one local minimum</a:t>
            </a:r>
          </a:p>
          <a:p>
            <a:pPr marL="990575" lvl="1" indent="-380990">
              <a:buFont typeface="Wingdings" panose="05000000000000000000" pitchFamily="2" charset="2"/>
              <a:buChar char="Ø"/>
            </a:pPr>
            <a:r>
              <a:rPr lang="en-US" sz="2667" dirty="0"/>
              <a:t>The other led to a different one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BCE6BA1-19E0-4700-B0CF-CF79BABC9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4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2800" y="681038"/>
            <a:ext cx="10236200" cy="537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7191" name="AutoShape 7"/>
          <p:cNvSpPr>
            <a:spLocks noChangeArrowheads="1"/>
          </p:cNvSpPr>
          <p:nvPr/>
        </p:nvSpPr>
        <p:spPr bwMode="auto">
          <a:xfrm>
            <a:off x="5054600" y="2698749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192" name="AutoShape 8"/>
          <p:cNvSpPr>
            <a:spLocks noChangeArrowheads="1"/>
          </p:cNvSpPr>
          <p:nvPr/>
        </p:nvSpPr>
        <p:spPr bwMode="auto">
          <a:xfrm>
            <a:off x="5105400" y="2989261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193" name="AutoShape 9"/>
          <p:cNvSpPr>
            <a:spLocks noChangeArrowheads="1"/>
          </p:cNvSpPr>
          <p:nvPr/>
        </p:nvSpPr>
        <p:spPr bwMode="auto">
          <a:xfrm>
            <a:off x="5080000" y="3284536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194" name="AutoShape 10"/>
          <p:cNvSpPr>
            <a:spLocks noChangeArrowheads="1"/>
          </p:cNvSpPr>
          <p:nvPr/>
        </p:nvSpPr>
        <p:spPr bwMode="auto">
          <a:xfrm>
            <a:off x="4775200" y="3589336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195" name="AutoShape 11"/>
          <p:cNvSpPr>
            <a:spLocks noChangeArrowheads="1"/>
          </p:cNvSpPr>
          <p:nvPr/>
        </p:nvSpPr>
        <p:spPr bwMode="auto">
          <a:xfrm>
            <a:off x="4876800" y="3894136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196" name="AutoShape 12"/>
          <p:cNvSpPr>
            <a:spLocks noChangeArrowheads="1"/>
          </p:cNvSpPr>
          <p:nvPr/>
        </p:nvSpPr>
        <p:spPr bwMode="auto">
          <a:xfrm>
            <a:off x="5283200" y="3970336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197" name="AutoShape 13"/>
          <p:cNvSpPr>
            <a:spLocks noChangeArrowheads="1"/>
          </p:cNvSpPr>
          <p:nvPr/>
        </p:nvSpPr>
        <p:spPr bwMode="auto">
          <a:xfrm>
            <a:off x="5486400" y="4198936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198" name="AutoShape 14"/>
          <p:cNvSpPr>
            <a:spLocks noChangeArrowheads="1"/>
          </p:cNvSpPr>
          <p:nvPr/>
        </p:nvSpPr>
        <p:spPr bwMode="auto">
          <a:xfrm>
            <a:off x="5384800" y="4503736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cxnSp>
        <p:nvCxnSpPr>
          <p:cNvPr id="477199" name="AutoShape 15"/>
          <p:cNvCxnSpPr>
            <a:cxnSpLocks noChangeShapeType="1"/>
          </p:cNvCxnSpPr>
          <p:nvPr/>
        </p:nvCxnSpPr>
        <p:spPr bwMode="auto">
          <a:xfrm>
            <a:off x="4923367" y="3703636"/>
            <a:ext cx="101600" cy="304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0" name="AutoShape 16"/>
          <p:cNvCxnSpPr>
            <a:cxnSpLocks noChangeShapeType="1"/>
          </p:cNvCxnSpPr>
          <p:nvPr/>
        </p:nvCxnSpPr>
        <p:spPr bwMode="auto">
          <a:xfrm flipH="1">
            <a:off x="4923367" y="3398836"/>
            <a:ext cx="304800" cy="304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1" name="AutoShape 17"/>
          <p:cNvCxnSpPr>
            <a:cxnSpLocks noChangeShapeType="1"/>
          </p:cNvCxnSpPr>
          <p:nvPr/>
        </p:nvCxnSpPr>
        <p:spPr bwMode="auto">
          <a:xfrm>
            <a:off x="5033433" y="4008436"/>
            <a:ext cx="406400" cy="762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2" name="AutoShape 18"/>
          <p:cNvCxnSpPr>
            <a:cxnSpLocks noChangeShapeType="1"/>
          </p:cNvCxnSpPr>
          <p:nvPr/>
        </p:nvCxnSpPr>
        <p:spPr bwMode="auto">
          <a:xfrm>
            <a:off x="5425017" y="4084636"/>
            <a:ext cx="2032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3" name="AutoShape 19"/>
          <p:cNvCxnSpPr>
            <a:cxnSpLocks noChangeShapeType="1"/>
          </p:cNvCxnSpPr>
          <p:nvPr/>
        </p:nvCxnSpPr>
        <p:spPr bwMode="auto">
          <a:xfrm flipH="1">
            <a:off x="5526617" y="4313236"/>
            <a:ext cx="101600" cy="304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77204" name="Line 20"/>
          <p:cNvSpPr>
            <a:spLocks noChangeShapeType="1"/>
          </p:cNvSpPr>
          <p:nvPr/>
        </p:nvSpPr>
        <p:spPr bwMode="auto">
          <a:xfrm>
            <a:off x="5207002" y="2813049"/>
            <a:ext cx="57151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7205" name="Line 21"/>
          <p:cNvSpPr>
            <a:spLocks noChangeShapeType="1"/>
          </p:cNvSpPr>
          <p:nvPr/>
        </p:nvSpPr>
        <p:spPr bwMode="auto">
          <a:xfrm flipH="1">
            <a:off x="5232402" y="3113087"/>
            <a:ext cx="31751" cy="2809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50196" name="Text Box 22"/>
          <p:cNvSpPr txBox="1">
            <a:spLocks noChangeArrowheads="1"/>
          </p:cNvSpPr>
          <p:nvPr/>
        </p:nvSpPr>
        <p:spPr bwMode="auto">
          <a:xfrm>
            <a:off x="9029701" y="4953000"/>
            <a:ext cx="4475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sz="2400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endParaRPr lang="en-US" sz="2400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50197" name="Text Box 23"/>
          <p:cNvSpPr txBox="1">
            <a:spLocks noChangeArrowheads="1"/>
          </p:cNvSpPr>
          <p:nvPr/>
        </p:nvSpPr>
        <p:spPr bwMode="auto">
          <a:xfrm>
            <a:off x="3668184" y="5332413"/>
            <a:ext cx="4475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sz="2400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endParaRPr lang="en-US" sz="2400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795048" y="3173094"/>
            <a:ext cx="10711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</a:rPr>
              <a:t>J(</a:t>
            </a:r>
            <a:r>
              <a:rPr lang="en-US" sz="24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sz="2400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r>
              <a:rPr lang="en-US" sz="24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,</a:t>
            </a:r>
            <a:r>
              <a:rPr lang="en-US" sz="2400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r>
              <a:rPr lang="en-US" sz="2400" dirty="0">
                <a:solidFill>
                  <a:prstClr val="black"/>
                </a:solidFill>
              </a:rPr>
              <a:t>)</a:t>
            </a:r>
            <a:endParaRPr lang="en-US" sz="2400" baseline="-25000" dirty="0">
              <a:solidFill>
                <a:prstClr val="black"/>
              </a:solidFill>
              <a:latin typeface="Symbol" pitchFamily="18" charset="2"/>
              <a:sym typeface="Symbol" pitchFamily="18" charset="2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549E052D-55AC-47A7-91B2-195F6F946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1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91" grpId="0" animBg="1"/>
      <p:bldP spid="477192" grpId="0" animBg="1"/>
      <p:bldP spid="477193" grpId="0" animBg="1"/>
      <p:bldP spid="477194" grpId="0" animBg="1"/>
      <p:bldP spid="477195" grpId="0" animBg="1"/>
      <p:bldP spid="477196" grpId="0" animBg="1"/>
      <p:bldP spid="477197" grpId="0" animBg="1"/>
      <p:bldP spid="477198" grpId="0" animBg="1"/>
      <p:bldP spid="477204" grpId="0" animBg="1"/>
      <p:bldP spid="47720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2800" y="681038"/>
            <a:ext cx="10236200" cy="537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3668184" y="5324476"/>
            <a:ext cx="4475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sz="2400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endParaRPr lang="en-US" sz="2400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9029701" y="4945062"/>
            <a:ext cx="4475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sz="2400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endParaRPr lang="en-US" sz="2400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479239" name="AutoShape 7"/>
          <p:cNvSpPr>
            <a:spLocks noChangeArrowheads="1"/>
          </p:cNvSpPr>
          <p:nvPr/>
        </p:nvSpPr>
        <p:spPr bwMode="auto">
          <a:xfrm>
            <a:off x="5314951" y="2566987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9240" name="AutoShape 8"/>
          <p:cNvSpPr>
            <a:spLocks noChangeArrowheads="1"/>
          </p:cNvSpPr>
          <p:nvPr/>
        </p:nvSpPr>
        <p:spPr bwMode="auto">
          <a:xfrm>
            <a:off x="5657851" y="2876549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9241" name="AutoShape 9"/>
          <p:cNvSpPr>
            <a:spLocks noChangeArrowheads="1"/>
          </p:cNvSpPr>
          <p:nvPr/>
        </p:nvSpPr>
        <p:spPr bwMode="auto">
          <a:xfrm>
            <a:off x="6038851" y="3000373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9242" name="AutoShape 10"/>
          <p:cNvSpPr>
            <a:spLocks noChangeArrowheads="1"/>
          </p:cNvSpPr>
          <p:nvPr/>
        </p:nvSpPr>
        <p:spPr bwMode="auto">
          <a:xfrm>
            <a:off x="6502400" y="3276599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9243" name="AutoShape 11"/>
          <p:cNvSpPr>
            <a:spLocks noChangeArrowheads="1"/>
          </p:cNvSpPr>
          <p:nvPr/>
        </p:nvSpPr>
        <p:spPr bwMode="auto">
          <a:xfrm>
            <a:off x="7010400" y="3505199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9244" name="AutoShape 12"/>
          <p:cNvSpPr>
            <a:spLocks noChangeArrowheads="1"/>
          </p:cNvSpPr>
          <p:nvPr/>
        </p:nvSpPr>
        <p:spPr bwMode="auto">
          <a:xfrm>
            <a:off x="7518400" y="3657599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9245" name="AutoShape 13"/>
          <p:cNvSpPr>
            <a:spLocks noChangeArrowheads="1"/>
          </p:cNvSpPr>
          <p:nvPr/>
        </p:nvSpPr>
        <p:spPr bwMode="auto">
          <a:xfrm>
            <a:off x="8026400" y="3809999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cxnSp>
        <p:nvCxnSpPr>
          <p:cNvPr id="479246" name="AutoShape 14"/>
          <p:cNvCxnSpPr>
            <a:cxnSpLocks noChangeShapeType="1"/>
          </p:cNvCxnSpPr>
          <p:nvPr/>
        </p:nvCxnSpPr>
        <p:spPr bwMode="auto">
          <a:xfrm>
            <a:off x="6635751" y="3390899"/>
            <a:ext cx="5080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9247" name="AutoShape 15"/>
          <p:cNvCxnSpPr>
            <a:cxnSpLocks noChangeShapeType="1"/>
          </p:cNvCxnSpPr>
          <p:nvPr/>
        </p:nvCxnSpPr>
        <p:spPr bwMode="auto">
          <a:xfrm>
            <a:off x="7158567" y="3619499"/>
            <a:ext cx="508000" cy="1524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9248" name="AutoShape 16"/>
          <p:cNvCxnSpPr>
            <a:cxnSpLocks noChangeShapeType="1"/>
          </p:cNvCxnSpPr>
          <p:nvPr/>
        </p:nvCxnSpPr>
        <p:spPr bwMode="auto">
          <a:xfrm>
            <a:off x="7666567" y="3771899"/>
            <a:ext cx="508000" cy="1524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79249" name="Line 17"/>
          <p:cNvSpPr>
            <a:spLocks noChangeShapeType="1"/>
          </p:cNvSpPr>
          <p:nvPr/>
        </p:nvSpPr>
        <p:spPr bwMode="auto">
          <a:xfrm>
            <a:off x="5467351" y="2686049"/>
            <a:ext cx="330200" cy="30003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9250" name="Line 18"/>
          <p:cNvSpPr>
            <a:spLocks noChangeShapeType="1"/>
          </p:cNvSpPr>
          <p:nvPr/>
        </p:nvSpPr>
        <p:spPr bwMode="auto">
          <a:xfrm>
            <a:off x="5797551" y="2990849"/>
            <a:ext cx="387349" cy="13335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9251" name="AutoShape 19"/>
          <p:cNvSpPr>
            <a:spLocks noChangeArrowheads="1"/>
          </p:cNvSpPr>
          <p:nvPr/>
        </p:nvSpPr>
        <p:spPr bwMode="auto">
          <a:xfrm>
            <a:off x="5054600" y="2690812"/>
            <a:ext cx="304800" cy="22860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79252" name="Line 20"/>
          <p:cNvSpPr>
            <a:spLocks noChangeShapeType="1"/>
          </p:cNvSpPr>
          <p:nvPr/>
        </p:nvSpPr>
        <p:spPr bwMode="auto">
          <a:xfrm>
            <a:off x="6191253" y="3128964"/>
            <a:ext cx="444500" cy="2619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795048" y="3177857"/>
            <a:ext cx="10711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</a:rPr>
              <a:t>J(</a:t>
            </a:r>
            <a:r>
              <a:rPr lang="en-US" sz="24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sz="2400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r>
              <a:rPr lang="en-US" sz="24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,</a:t>
            </a:r>
            <a:r>
              <a:rPr lang="en-US" sz="2400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r>
              <a:rPr lang="en-US" sz="2400" dirty="0">
                <a:solidFill>
                  <a:prstClr val="black"/>
                </a:solidFill>
              </a:rPr>
              <a:t>)</a:t>
            </a:r>
            <a:endParaRPr lang="en-US" sz="2400" baseline="-25000" dirty="0">
              <a:solidFill>
                <a:prstClr val="black"/>
              </a:solidFill>
              <a:latin typeface="Symbol" pitchFamily="18" charset="2"/>
              <a:sym typeface="Symbol" pitchFamily="18" charset="2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156F1D66-0C6A-4939-BDC4-20DC0789F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6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9" grpId="0" animBg="1"/>
      <p:bldP spid="479240" grpId="0" animBg="1"/>
      <p:bldP spid="479241" grpId="0" animBg="1"/>
      <p:bldP spid="479242" grpId="0" animBg="1"/>
      <p:bldP spid="479243" grpId="0" animBg="1"/>
      <p:bldP spid="479244" grpId="0" animBg="1"/>
      <p:bldP spid="479245" grpId="0" animBg="1"/>
      <p:bldP spid="479249" grpId="0" animBg="1"/>
      <p:bldP spid="479250" grpId="0" animBg="1"/>
      <p:bldP spid="479251" grpId="0" animBg="1"/>
      <p:bldP spid="47925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1" y="685800"/>
            <a:ext cx="10641391" cy="53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B55B870-C749-438F-9AC4-AC49A173A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48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381000"/>
            <a:ext cx="5615640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733" b="1" dirty="0"/>
              <a:t>Gradient descent algorithm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78" y="1530533"/>
            <a:ext cx="4306823" cy="16952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200" y="2190425"/>
            <a:ext cx="3642360" cy="408432"/>
          </a:xfrm>
          <a:prstGeom prst="rect">
            <a:avLst/>
          </a:prstGeom>
        </p:spPr>
      </p:pic>
      <p:cxnSp>
        <p:nvCxnSpPr>
          <p:cNvPr id="30" name="Straight Connector 29"/>
          <p:cNvCxnSpPr/>
          <p:nvPr/>
        </p:nvCxnSpPr>
        <p:spPr>
          <a:xfrm>
            <a:off x="812800" y="3733800"/>
            <a:ext cx="10261600" cy="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4620" y="3835401"/>
            <a:ext cx="51578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Correct: Simultaneous update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49" y="4582363"/>
            <a:ext cx="3952647" cy="1589837"/>
          </a:xfrm>
          <a:prstGeom prst="rect">
            <a:avLst/>
          </a:prstGeom>
        </p:spPr>
      </p:pic>
      <p:cxnSp>
        <p:nvCxnSpPr>
          <p:cNvPr id="39" name="Straight Connector 38"/>
          <p:cNvCxnSpPr/>
          <p:nvPr/>
        </p:nvCxnSpPr>
        <p:spPr>
          <a:xfrm>
            <a:off x="5943600" y="3835400"/>
            <a:ext cx="0" cy="254000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272621" y="3835401"/>
            <a:ext cx="1796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Incorrect: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147" y="4582363"/>
            <a:ext cx="3952647" cy="15191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C1F79BC4-BC96-4CA1-B700-05910E0A8C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1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812800" y="482601"/>
            <a:ext cx="870744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Notation:=</a:t>
            </a:r>
          </a:p>
          <a:p>
            <a:pPr lvl="1"/>
            <a:r>
              <a:rPr lang="en-US" sz="3200" dirty="0"/>
              <a:t>Denotes assignment</a:t>
            </a:r>
          </a:p>
          <a:p>
            <a:pPr lvl="1"/>
            <a:r>
              <a:rPr lang="en-US" sz="3200" dirty="0"/>
              <a:t>NB a = b is a </a:t>
            </a:r>
            <a:r>
              <a:rPr lang="en-US" sz="3200" i="1" dirty="0"/>
              <a:t>truth assertion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α (alpha)</a:t>
            </a:r>
          </a:p>
          <a:p>
            <a:pPr lvl="1"/>
            <a:r>
              <a:rPr lang="en-US" sz="3200" dirty="0"/>
              <a:t>Is a number called the learning rate</a:t>
            </a:r>
          </a:p>
          <a:p>
            <a:pPr lvl="1"/>
            <a:r>
              <a:rPr lang="en-US" sz="3200" dirty="0"/>
              <a:t>Controls how big a step you take</a:t>
            </a:r>
          </a:p>
          <a:p>
            <a:pPr lvl="2"/>
            <a:r>
              <a:rPr lang="en-US" sz="3200" dirty="0"/>
              <a:t>If α is big have an aggressive gradient descent</a:t>
            </a:r>
          </a:p>
          <a:p>
            <a:pPr lvl="2"/>
            <a:r>
              <a:rPr lang="en-US" sz="3200" dirty="0"/>
              <a:t>If α is small take tiny steps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C1F79BC4-BC96-4CA1-B700-05910E0A8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8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5633153" y="2867371"/>
            <a:ext cx="5730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5588000" y="2921001"/>
            <a:ext cx="5994400" cy="2167452"/>
          </a:xfrm>
        </p:spPr>
        <p:txBody>
          <a:bodyPr anchor="t" anchorCtr="0">
            <a:noAutofit/>
          </a:bodyPr>
          <a:lstStyle/>
          <a:p>
            <a:pPr algn="l"/>
            <a:r>
              <a:rPr lang="en-US" sz="6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Gradient descent</a:t>
            </a:r>
            <a:br>
              <a:rPr lang="en-US" sz="6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6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intuition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914400" y="482600"/>
            <a:ext cx="4267200" cy="48768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117600" y="5156200"/>
            <a:ext cx="3860800" cy="11176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defTabSz="1219170">
              <a:spcBef>
                <a:spcPct val="0"/>
              </a:spcBef>
              <a:defRPr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Machine Learning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588000" y="889000"/>
            <a:ext cx="6604000" cy="1905000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867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71200" y="6273800"/>
            <a:ext cx="1320800" cy="584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99745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61920"/>
            <a:ext cx="6396046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67" b="1" dirty="0"/>
              <a:t>Gradient descent algorithm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176" y="1969008"/>
            <a:ext cx="4684776" cy="18440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074" y="2634489"/>
            <a:ext cx="3721127" cy="8164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800" y="4084015"/>
            <a:ext cx="10972800" cy="2281476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To understand gradient descent, we'll return to a simpler function where we minimize one parameter to help explain the algorithm in more detail.</a:t>
            </a:r>
          </a:p>
          <a:p>
            <a:pPr marL="457189" indent="-457189" algn="just">
              <a:buFont typeface="Wingdings" panose="05000000000000000000" pitchFamily="2" charset="2"/>
              <a:buChar char="Ø"/>
            </a:pPr>
            <a:r>
              <a:rPr lang="en-US" sz="3200" dirty="0"/>
              <a:t>min θ</a:t>
            </a:r>
            <a:r>
              <a:rPr lang="en-US" sz="3200" baseline="-25000" dirty="0"/>
              <a:t>1</a:t>
            </a:r>
            <a:r>
              <a:rPr lang="en-US" sz="3200" dirty="0"/>
              <a:t> J(θ</a:t>
            </a:r>
            <a:r>
              <a:rPr lang="en-US" sz="3200" baseline="-25000" dirty="0"/>
              <a:t>1</a:t>
            </a:r>
            <a:r>
              <a:rPr lang="en-US" sz="3200" dirty="0"/>
              <a:t>) where θ</a:t>
            </a:r>
            <a:r>
              <a:rPr lang="en-US" sz="3200" baseline="-25000" dirty="0"/>
              <a:t>1</a:t>
            </a:r>
            <a:r>
              <a:rPr lang="en-US" sz="3200" dirty="0"/>
              <a:t> is a real number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F0BF717-CF73-4374-8E4E-19826CEC71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2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12800" y="990600"/>
            <a:ext cx="10972800" cy="3371136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Notation nuances</a:t>
            </a:r>
          </a:p>
          <a:p>
            <a:pPr marL="380990" indent="-380990" algn="just">
              <a:buFont typeface="Wingdings" panose="05000000000000000000" pitchFamily="2" charset="2"/>
              <a:buChar char="Ø"/>
            </a:pPr>
            <a:r>
              <a:rPr lang="en-US" sz="3200" dirty="0"/>
              <a:t>Partial derivative vs. derivative</a:t>
            </a:r>
          </a:p>
          <a:p>
            <a:pPr marL="990575" lvl="1" indent="-380990" algn="just">
              <a:buFont typeface="Wingdings" panose="05000000000000000000" pitchFamily="2" charset="2"/>
              <a:buChar char="v"/>
            </a:pPr>
            <a:r>
              <a:rPr lang="en-US" sz="3200" dirty="0"/>
              <a:t>Use partial derivative when we have multiple variables but only derive with respect to one</a:t>
            </a:r>
          </a:p>
          <a:p>
            <a:pPr marL="990575" lvl="1" indent="-380990" algn="just">
              <a:buFont typeface="Wingdings" panose="05000000000000000000" pitchFamily="2" charset="2"/>
              <a:buChar char="v"/>
            </a:pPr>
            <a:r>
              <a:rPr lang="en-US" sz="3200" dirty="0"/>
              <a:t>Use derivative when we are deriving with respect to all the variables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FE850E7-88E9-4892-86D1-6076B5229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96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BD38CEE-1B8B-42D7-9F74-FE72E7B58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875" y="555418"/>
            <a:ext cx="9366251" cy="57471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9D4BE12-60EC-4452-A628-A833AEF0F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05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458FB8F-CE45-48AA-83A8-46C6FAF51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397000"/>
            <a:ext cx="11010900" cy="4064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9B53FAB-5F73-4C8C-B7F5-E6A65E151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27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B708A24-753F-4DEB-9E3E-5AAFB83F5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" y="1454150"/>
            <a:ext cx="11518900" cy="3949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EB41363-F8EE-4E2C-8DC4-287751D48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21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B708A24-753F-4DEB-9E3E-5AAFB83F5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" y="1454150"/>
            <a:ext cx="11518900" cy="39497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19FA9E0E-2995-42F4-BBA3-8683F7216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098" y="3937000"/>
            <a:ext cx="5314951" cy="12494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67AD6CC-6DB5-4F1C-AB11-1B7D7D864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788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DC8638A-117C-4DEB-9499-B36541992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910908"/>
            <a:ext cx="7823200" cy="5036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9E98B84-B6EF-4A3B-B357-F376A20BB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3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4368D16E-A792-43E3-9951-3F4E2F25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3952"/>
            <a:ext cx="12192000" cy="35700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00E54BD-B46C-4363-A5E7-72FDC0D28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5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 flipV="1">
            <a:off x="7924800" y="381001"/>
            <a:ext cx="0" cy="2893783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7620000" y="2969983"/>
            <a:ext cx="3962400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V="1">
            <a:off x="7924800" y="3583218"/>
            <a:ext cx="0" cy="2893783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620000" y="6172200"/>
            <a:ext cx="3962400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091" y="3124201"/>
            <a:ext cx="332180" cy="3749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091" y="6338011"/>
            <a:ext cx="332180" cy="3749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092287"/>
            <a:ext cx="3755136" cy="89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2800" y="2002966"/>
            <a:ext cx="5181600" cy="91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dirty="0"/>
              <a:t>If </a:t>
            </a:r>
            <a:r>
              <a:rPr lang="el-GR" sz="2667" dirty="0"/>
              <a:t>α</a:t>
            </a:r>
            <a:r>
              <a:rPr lang="en-US" sz="2667" dirty="0"/>
              <a:t> is too small, gradient descent can be slow.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4343400"/>
            <a:ext cx="5181600" cy="1323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dirty="0"/>
              <a:t>If </a:t>
            </a:r>
            <a:r>
              <a:rPr lang="el-GR" sz="2667" dirty="0"/>
              <a:t>α</a:t>
            </a:r>
            <a:r>
              <a:rPr lang="en-US" sz="2667" dirty="0"/>
              <a:t> is too large, gradient descent can overshoot the minimum. It may fail to converge, or even diverge.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8A328BF2-2886-4AA3-A729-47530013DB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25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7924800" y="3583218"/>
            <a:ext cx="0" cy="2893783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620000" y="6172200"/>
            <a:ext cx="3962400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091" y="6338011"/>
            <a:ext cx="332180" cy="3749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092287"/>
            <a:ext cx="3755136" cy="89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2800" y="2002966"/>
            <a:ext cx="5181600" cy="91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dirty="0"/>
              <a:t>If </a:t>
            </a:r>
            <a:r>
              <a:rPr lang="el-GR" sz="2667" dirty="0"/>
              <a:t>α</a:t>
            </a:r>
            <a:r>
              <a:rPr lang="en-US" sz="2667" dirty="0"/>
              <a:t> is too small, gradient descent can be slow.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4343400"/>
            <a:ext cx="5181600" cy="1323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dirty="0"/>
              <a:t>If </a:t>
            </a:r>
            <a:r>
              <a:rPr lang="el-GR" sz="2667" dirty="0"/>
              <a:t>α</a:t>
            </a:r>
            <a:r>
              <a:rPr lang="en-US" sz="2667" dirty="0"/>
              <a:t> is too large, gradient descent can overshoot the minimum. It may fail to converge, or even diverge.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F150419-FB76-4BF3-806D-3C026F0319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269" y="114515"/>
            <a:ext cx="4815732" cy="33754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A15F5146-88B9-4815-91B6-9B2081EC8E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10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092287"/>
            <a:ext cx="3755136" cy="89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2800" y="2002966"/>
            <a:ext cx="5181600" cy="91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dirty="0"/>
              <a:t>If </a:t>
            </a:r>
            <a:r>
              <a:rPr lang="el-GR" sz="2667" dirty="0"/>
              <a:t>α</a:t>
            </a:r>
            <a:r>
              <a:rPr lang="en-US" sz="2667" dirty="0"/>
              <a:t> is too small, gradient descent can be slow.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4343400"/>
            <a:ext cx="5181600" cy="1323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dirty="0"/>
              <a:t>If </a:t>
            </a:r>
            <a:r>
              <a:rPr lang="el-GR" sz="2667" dirty="0"/>
              <a:t>α</a:t>
            </a:r>
            <a:r>
              <a:rPr lang="en-US" sz="2667" dirty="0"/>
              <a:t> is too large, gradient descent can overshoot the minimum. It may fail to converge, or even diverge.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F150419-FB76-4BF3-806D-3C026F031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269" y="114515"/>
            <a:ext cx="4815732" cy="33754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AA0067F7-089C-4D4A-929C-F7F0C7886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7878" y="3334962"/>
            <a:ext cx="4440061" cy="31420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CD047AD-5D4F-4385-A751-42C266BCFB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6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 flipV="1">
            <a:off x="1937748" y="694013"/>
            <a:ext cx="0" cy="3300184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1632948" y="3689396"/>
            <a:ext cx="5181600" cy="0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103" y="3902104"/>
            <a:ext cx="246279" cy="277977"/>
          </a:xfrm>
          <a:prstGeom prst="rect">
            <a:avLst/>
          </a:prstGeom>
        </p:spPr>
      </p:pic>
      <p:sp>
        <p:nvSpPr>
          <p:cNvPr id="9" name="Freeform 8"/>
          <p:cNvSpPr/>
          <p:nvPr/>
        </p:nvSpPr>
        <p:spPr>
          <a:xfrm>
            <a:off x="1632948" y="972573"/>
            <a:ext cx="4908467" cy="2371244"/>
          </a:xfrm>
          <a:custGeom>
            <a:avLst/>
            <a:gdLst>
              <a:gd name="connsiteX0" fmla="*/ 0 w 3681350"/>
              <a:gd name="connsiteY0" fmla="*/ 757675 h 1784229"/>
              <a:gd name="connsiteX1" fmla="*/ 356259 w 3681350"/>
              <a:gd name="connsiteY1" fmla="*/ 401415 h 1784229"/>
              <a:gd name="connsiteX2" fmla="*/ 688768 w 3681350"/>
              <a:gd name="connsiteY2" fmla="*/ 698298 h 1784229"/>
              <a:gd name="connsiteX3" fmla="*/ 890649 w 3681350"/>
              <a:gd name="connsiteY3" fmla="*/ 1339565 h 1784229"/>
              <a:gd name="connsiteX4" fmla="*/ 1045028 w 3681350"/>
              <a:gd name="connsiteY4" fmla="*/ 1707700 h 1784229"/>
              <a:gd name="connsiteX5" fmla="*/ 1187532 w 3681350"/>
              <a:gd name="connsiteY5" fmla="*/ 1778952 h 1784229"/>
              <a:gd name="connsiteX6" fmla="*/ 1246909 w 3681350"/>
              <a:gd name="connsiteY6" fmla="*/ 1778952 h 1784229"/>
              <a:gd name="connsiteX7" fmla="*/ 1377537 w 3681350"/>
              <a:gd name="connsiteY7" fmla="*/ 1778952 h 1784229"/>
              <a:gd name="connsiteX8" fmla="*/ 1579418 w 3681350"/>
              <a:gd name="connsiteY8" fmla="*/ 1707700 h 1784229"/>
              <a:gd name="connsiteX9" fmla="*/ 1733797 w 3681350"/>
              <a:gd name="connsiteY9" fmla="*/ 1327690 h 1784229"/>
              <a:gd name="connsiteX10" fmla="*/ 1805049 w 3681350"/>
              <a:gd name="connsiteY10" fmla="*/ 971430 h 1784229"/>
              <a:gd name="connsiteX11" fmla="*/ 1911927 w 3681350"/>
              <a:gd name="connsiteY11" fmla="*/ 555794 h 1784229"/>
              <a:gd name="connsiteX12" fmla="*/ 1983179 w 3681350"/>
              <a:gd name="connsiteY12" fmla="*/ 401415 h 1784229"/>
              <a:gd name="connsiteX13" fmla="*/ 2066306 w 3681350"/>
              <a:gd name="connsiteY13" fmla="*/ 187659 h 1784229"/>
              <a:gd name="connsiteX14" fmla="*/ 2149433 w 3681350"/>
              <a:gd name="connsiteY14" fmla="*/ 92656 h 1784229"/>
              <a:gd name="connsiteX15" fmla="*/ 2244436 w 3681350"/>
              <a:gd name="connsiteY15" fmla="*/ 21404 h 1784229"/>
              <a:gd name="connsiteX16" fmla="*/ 2375065 w 3681350"/>
              <a:gd name="connsiteY16" fmla="*/ 21404 h 1784229"/>
              <a:gd name="connsiteX17" fmla="*/ 2576945 w 3681350"/>
              <a:gd name="connsiteY17" fmla="*/ 270786 h 1784229"/>
              <a:gd name="connsiteX18" fmla="*/ 2719449 w 3681350"/>
              <a:gd name="connsiteY18" fmla="*/ 1066433 h 1784229"/>
              <a:gd name="connsiteX19" fmla="*/ 2909454 w 3681350"/>
              <a:gd name="connsiteY19" fmla="*/ 1517695 h 1784229"/>
              <a:gd name="connsiteX20" fmla="*/ 3384467 w 3681350"/>
              <a:gd name="connsiteY20" fmla="*/ 1315815 h 1784229"/>
              <a:gd name="connsiteX21" fmla="*/ 3681350 w 3681350"/>
              <a:gd name="connsiteY21" fmla="*/ 508293 h 1784229"/>
              <a:gd name="connsiteX0" fmla="*/ 0 w 3681350"/>
              <a:gd name="connsiteY0" fmla="*/ 757675 h 1784229"/>
              <a:gd name="connsiteX1" fmla="*/ 356259 w 3681350"/>
              <a:gd name="connsiteY1" fmla="*/ 401415 h 1784229"/>
              <a:gd name="connsiteX2" fmla="*/ 688768 w 3681350"/>
              <a:gd name="connsiteY2" fmla="*/ 698298 h 1784229"/>
              <a:gd name="connsiteX3" fmla="*/ 890649 w 3681350"/>
              <a:gd name="connsiteY3" fmla="*/ 1339565 h 1784229"/>
              <a:gd name="connsiteX4" fmla="*/ 1187532 w 3681350"/>
              <a:gd name="connsiteY4" fmla="*/ 1778952 h 1784229"/>
              <a:gd name="connsiteX5" fmla="*/ 1246909 w 3681350"/>
              <a:gd name="connsiteY5" fmla="*/ 1778952 h 1784229"/>
              <a:gd name="connsiteX6" fmla="*/ 1377537 w 3681350"/>
              <a:gd name="connsiteY6" fmla="*/ 1778952 h 1784229"/>
              <a:gd name="connsiteX7" fmla="*/ 1579418 w 3681350"/>
              <a:gd name="connsiteY7" fmla="*/ 1707700 h 1784229"/>
              <a:gd name="connsiteX8" fmla="*/ 1733797 w 3681350"/>
              <a:gd name="connsiteY8" fmla="*/ 1327690 h 1784229"/>
              <a:gd name="connsiteX9" fmla="*/ 1805049 w 3681350"/>
              <a:gd name="connsiteY9" fmla="*/ 971430 h 1784229"/>
              <a:gd name="connsiteX10" fmla="*/ 1911927 w 3681350"/>
              <a:gd name="connsiteY10" fmla="*/ 555794 h 1784229"/>
              <a:gd name="connsiteX11" fmla="*/ 1983179 w 3681350"/>
              <a:gd name="connsiteY11" fmla="*/ 401415 h 1784229"/>
              <a:gd name="connsiteX12" fmla="*/ 2066306 w 3681350"/>
              <a:gd name="connsiteY12" fmla="*/ 187659 h 1784229"/>
              <a:gd name="connsiteX13" fmla="*/ 2149433 w 3681350"/>
              <a:gd name="connsiteY13" fmla="*/ 92656 h 1784229"/>
              <a:gd name="connsiteX14" fmla="*/ 2244436 w 3681350"/>
              <a:gd name="connsiteY14" fmla="*/ 21404 h 1784229"/>
              <a:gd name="connsiteX15" fmla="*/ 2375065 w 3681350"/>
              <a:gd name="connsiteY15" fmla="*/ 21404 h 1784229"/>
              <a:gd name="connsiteX16" fmla="*/ 2576945 w 3681350"/>
              <a:gd name="connsiteY16" fmla="*/ 270786 h 1784229"/>
              <a:gd name="connsiteX17" fmla="*/ 2719449 w 3681350"/>
              <a:gd name="connsiteY17" fmla="*/ 1066433 h 1784229"/>
              <a:gd name="connsiteX18" fmla="*/ 2909454 w 3681350"/>
              <a:gd name="connsiteY18" fmla="*/ 1517695 h 1784229"/>
              <a:gd name="connsiteX19" fmla="*/ 3384467 w 3681350"/>
              <a:gd name="connsiteY19" fmla="*/ 1315815 h 1784229"/>
              <a:gd name="connsiteX20" fmla="*/ 3681350 w 3681350"/>
              <a:gd name="connsiteY20" fmla="*/ 508293 h 1784229"/>
              <a:gd name="connsiteX0" fmla="*/ 0 w 3681350"/>
              <a:gd name="connsiteY0" fmla="*/ 757675 h 1814302"/>
              <a:gd name="connsiteX1" fmla="*/ 356259 w 3681350"/>
              <a:gd name="connsiteY1" fmla="*/ 401415 h 1814302"/>
              <a:gd name="connsiteX2" fmla="*/ 688768 w 3681350"/>
              <a:gd name="connsiteY2" fmla="*/ 698298 h 1814302"/>
              <a:gd name="connsiteX3" fmla="*/ 890649 w 3681350"/>
              <a:gd name="connsiteY3" fmla="*/ 1339565 h 1814302"/>
              <a:gd name="connsiteX4" fmla="*/ 1187532 w 3681350"/>
              <a:gd name="connsiteY4" fmla="*/ 1778952 h 1814302"/>
              <a:gd name="connsiteX5" fmla="*/ 1377537 w 3681350"/>
              <a:gd name="connsiteY5" fmla="*/ 1778952 h 1814302"/>
              <a:gd name="connsiteX6" fmla="*/ 1579418 w 3681350"/>
              <a:gd name="connsiteY6" fmla="*/ 1707700 h 1814302"/>
              <a:gd name="connsiteX7" fmla="*/ 1733797 w 3681350"/>
              <a:gd name="connsiteY7" fmla="*/ 1327690 h 1814302"/>
              <a:gd name="connsiteX8" fmla="*/ 1805049 w 3681350"/>
              <a:gd name="connsiteY8" fmla="*/ 971430 h 1814302"/>
              <a:gd name="connsiteX9" fmla="*/ 1911927 w 3681350"/>
              <a:gd name="connsiteY9" fmla="*/ 555794 h 1814302"/>
              <a:gd name="connsiteX10" fmla="*/ 1983179 w 3681350"/>
              <a:gd name="connsiteY10" fmla="*/ 401415 h 1814302"/>
              <a:gd name="connsiteX11" fmla="*/ 2066306 w 3681350"/>
              <a:gd name="connsiteY11" fmla="*/ 187659 h 1814302"/>
              <a:gd name="connsiteX12" fmla="*/ 2149433 w 3681350"/>
              <a:gd name="connsiteY12" fmla="*/ 92656 h 1814302"/>
              <a:gd name="connsiteX13" fmla="*/ 2244436 w 3681350"/>
              <a:gd name="connsiteY13" fmla="*/ 21404 h 1814302"/>
              <a:gd name="connsiteX14" fmla="*/ 2375065 w 3681350"/>
              <a:gd name="connsiteY14" fmla="*/ 21404 h 1814302"/>
              <a:gd name="connsiteX15" fmla="*/ 2576945 w 3681350"/>
              <a:gd name="connsiteY15" fmla="*/ 270786 h 1814302"/>
              <a:gd name="connsiteX16" fmla="*/ 2719449 w 3681350"/>
              <a:gd name="connsiteY16" fmla="*/ 1066433 h 1814302"/>
              <a:gd name="connsiteX17" fmla="*/ 2909454 w 3681350"/>
              <a:gd name="connsiteY17" fmla="*/ 1517695 h 1814302"/>
              <a:gd name="connsiteX18" fmla="*/ 3384467 w 3681350"/>
              <a:gd name="connsiteY18" fmla="*/ 1315815 h 1814302"/>
              <a:gd name="connsiteX19" fmla="*/ 3681350 w 3681350"/>
              <a:gd name="connsiteY19" fmla="*/ 508293 h 1814302"/>
              <a:gd name="connsiteX0" fmla="*/ 0 w 3681350"/>
              <a:gd name="connsiteY0" fmla="*/ 757675 h 1804839"/>
              <a:gd name="connsiteX1" fmla="*/ 356259 w 3681350"/>
              <a:gd name="connsiteY1" fmla="*/ 401415 h 1804839"/>
              <a:gd name="connsiteX2" fmla="*/ 688768 w 3681350"/>
              <a:gd name="connsiteY2" fmla="*/ 698298 h 1804839"/>
              <a:gd name="connsiteX3" fmla="*/ 890649 w 3681350"/>
              <a:gd name="connsiteY3" fmla="*/ 1339565 h 1804839"/>
              <a:gd name="connsiteX4" fmla="*/ 1187532 w 3681350"/>
              <a:gd name="connsiteY4" fmla="*/ 1778952 h 1804839"/>
              <a:gd name="connsiteX5" fmla="*/ 1579418 w 3681350"/>
              <a:gd name="connsiteY5" fmla="*/ 1707700 h 1804839"/>
              <a:gd name="connsiteX6" fmla="*/ 1733797 w 3681350"/>
              <a:gd name="connsiteY6" fmla="*/ 1327690 h 1804839"/>
              <a:gd name="connsiteX7" fmla="*/ 1805049 w 3681350"/>
              <a:gd name="connsiteY7" fmla="*/ 971430 h 1804839"/>
              <a:gd name="connsiteX8" fmla="*/ 1911927 w 3681350"/>
              <a:gd name="connsiteY8" fmla="*/ 555794 h 1804839"/>
              <a:gd name="connsiteX9" fmla="*/ 1983179 w 3681350"/>
              <a:gd name="connsiteY9" fmla="*/ 401415 h 1804839"/>
              <a:gd name="connsiteX10" fmla="*/ 2066306 w 3681350"/>
              <a:gd name="connsiteY10" fmla="*/ 187659 h 1804839"/>
              <a:gd name="connsiteX11" fmla="*/ 2149433 w 3681350"/>
              <a:gd name="connsiteY11" fmla="*/ 92656 h 1804839"/>
              <a:gd name="connsiteX12" fmla="*/ 2244436 w 3681350"/>
              <a:gd name="connsiteY12" fmla="*/ 21404 h 1804839"/>
              <a:gd name="connsiteX13" fmla="*/ 2375065 w 3681350"/>
              <a:gd name="connsiteY13" fmla="*/ 21404 h 1804839"/>
              <a:gd name="connsiteX14" fmla="*/ 2576945 w 3681350"/>
              <a:gd name="connsiteY14" fmla="*/ 270786 h 1804839"/>
              <a:gd name="connsiteX15" fmla="*/ 2719449 w 3681350"/>
              <a:gd name="connsiteY15" fmla="*/ 1066433 h 1804839"/>
              <a:gd name="connsiteX16" fmla="*/ 2909454 w 3681350"/>
              <a:gd name="connsiteY16" fmla="*/ 1517695 h 1804839"/>
              <a:gd name="connsiteX17" fmla="*/ 3384467 w 3681350"/>
              <a:gd name="connsiteY17" fmla="*/ 1315815 h 1804839"/>
              <a:gd name="connsiteX18" fmla="*/ 3681350 w 3681350"/>
              <a:gd name="connsiteY18" fmla="*/ 508293 h 1804839"/>
              <a:gd name="connsiteX0" fmla="*/ 0 w 3681350"/>
              <a:gd name="connsiteY0" fmla="*/ 757675 h 1778952"/>
              <a:gd name="connsiteX1" fmla="*/ 356259 w 3681350"/>
              <a:gd name="connsiteY1" fmla="*/ 401415 h 1778952"/>
              <a:gd name="connsiteX2" fmla="*/ 688768 w 3681350"/>
              <a:gd name="connsiteY2" fmla="*/ 698298 h 1778952"/>
              <a:gd name="connsiteX3" fmla="*/ 890649 w 3681350"/>
              <a:gd name="connsiteY3" fmla="*/ 1339565 h 1778952"/>
              <a:gd name="connsiteX4" fmla="*/ 1187532 w 3681350"/>
              <a:gd name="connsiteY4" fmla="*/ 1778952 h 1778952"/>
              <a:gd name="connsiteX5" fmla="*/ 1733797 w 3681350"/>
              <a:gd name="connsiteY5" fmla="*/ 1327690 h 1778952"/>
              <a:gd name="connsiteX6" fmla="*/ 1805049 w 3681350"/>
              <a:gd name="connsiteY6" fmla="*/ 971430 h 1778952"/>
              <a:gd name="connsiteX7" fmla="*/ 1911927 w 3681350"/>
              <a:gd name="connsiteY7" fmla="*/ 555794 h 1778952"/>
              <a:gd name="connsiteX8" fmla="*/ 1983179 w 3681350"/>
              <a:gd name="connsiteY8" fmla="*/ 401415 h 1778952"/>
              <a:gd name="connsiteX9" fmla="*/ 2066306 w 3681350"/>
              <a:gd name="connsiteY9" fmla="*/ 187659 h 1778952"/>
              <a:gd name="connsiteX10" fmla="*/ 2149433 w 3681350"/>
              <a:gd name="connsiteY10" fmla="*/ 92656 h 1778952"/>
              <a:gd name="connsiteX11" fmla="*/ 2244436 w 3681350"/>
              <a:gd name="connsiteY11" fmla="*/ 21404 h 1778952"/>
              <a:gd name="connsiteX12" fmla="*/ 2375065 w 3681350"/>
              <a:gd name="connsiteY12" fmla="*/ 21404 h 1778952"/>
              <a:gd name="connsiteX13" fmla="*/ 2576945 w 3681350"/>
              <a:gd name="connsiteY13" fmla="*/ 270786 h 1778952"/>
              <a:gd name="connsiteX14" fmla="*/ 2719449 w 3681350"/>
              <a:gd name="connsiteY14" fmla="*/ 1066433 h 1778952"/>
              <a:gd name="connsiteX15" fmla="*/ 2909454 w 3681350"/>
              <a:gd name="connsiteY15" fmla="*/ 1517695 h 1778952"/>
              <a:gd name="connsiteX16" fmla="*/ 3384467 w 3681350"/>
              <a:gd name="connsiteY16" fmla="*/ 1315815 h 1778952"/>
              <a:gd name="connsiteX17" fmla="*/ 3681350 w 3681350"/>
              <a:gd name="connsiteY17" fmla="*/ 508293 h 177895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5611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1983179 w 3681350"/>
              <a:gd name="connsiteY8" fmla="*/ 401415 h 1790382"/>
              <a:gd name="connsiteX9" fmla="*/ 2066306 w 3681350"/>
              <a:gd name="connsiteY9" fmla="*/ 187659 h 1790382"/>
              <a:gd name="connsiteX10" fmla="*/ 2149433 w 3681350"/>
              <a:gd name="connsiteY10" fmla="*/ 92656 h 1790382"/>
              <a:gd name="connsiteX11" fmla="*/ 2244436 w 3681350"/>
              <a:gd name="connsiteY11" fmla="*/ 21404 h 1790382"/>
              <a:gd name="connsiteX12" fmla="*/ 2375065 w 3681350"/>
              <a:gd name="connsiteY12" fmla="*/ 21404 h 1790382"/>
              <a:gd name="connsiteX13" fmla="*/ 2576945 w 3681350"/>
              <a:gd name="connsiteY13" fmla="*/ 270786 h 1790382"/>
              <a:gd name="connsiteX14" fmla="*/ 2719449 w 3681350"/>
              <a:gd name="connsiteY14" fmla="*/ 1066433 h 1790382"/>
              <a:gd name="connsiteX15" fmla="*/ 2909454 w 3681350"/>
              <a:gd name="connsiteY15" fmla="*/ 1517695 h 1790382"/>
              <a:gd name="connsiteX16" fmla="*/ 3384467 w 3681350"/>
              <a:gd name="connsiteY16" fmla="*/ 1315815 h 1790382"/>
              <a:gd name="connsiteX17" fmla="*/ 3681350 w 3681350"/>
              <a:gd name="connsiteY17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5611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1983179 w 3681350"/>
              <a:gd name="connsiteY8" fmla="*/ 401415 h 1790382"/>
              <a:gd name="connsiteX9" fmla="*/ 2066306 w 3681350"/>
              <a:gd name="connsiteY9" fmla="*/ 187659 h 1790382"/>
              <a:gd name="connsiteX10" fmla="*/ 2149433 w 3681350"/>
              <a:gd name="connsiteY10" fmla="*/ 92656 h 1790382"/>
              <a:gd name="connsiteX11" fmla="*/ 2244436 w 3681350"/>
              <a:gd name="connsiteY11" fmla="*/ 21404 h 1790382"/>
              <a:gd name="connsiteX12" fmla="*/ 2375065 w 3681350"/>
              <a:gd name="connsiteY12" fmla="*/ 21404 h 1790382"/>
              <a:gd name="connsiteX13" fmla="*/ 2576945 w 3681350"/>
              <a:gd name="connsiteY13" fmla="*/ 270786 h 1790382"/>
              <a:gd name="connsiteX14" fmla="*/ 2719449 w 3681350"/>
              <a:gd name="connsiteY14" fmla="*/ 1066433 h 1790382"/>
              <a:gd name="connsiteX15" fmla="*/ 2909454 w 3681350"/>
              <a:gd name="connsiteY15" fmla="*/ 1517695 h 1790382"/>
              <a:gd name="connsiteX16" fmla="*/ 3384467 w 3681350"/>
              <a:gd name="connsiteY16" fmla="*/ 1315815 h 1790382"/>
              <a:gd name="connsiteX17" fmla="*/ 3681350 w 3681350"/>
              <a:gd name="connsiteY17" fmla="*/ 508293 h 1790382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5611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5611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33612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7897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7897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1983179 w 3681350"/>
              <a:gd name="connsiteY8" fmla="*/ 401415 h 1790382"/>
              <a:gd name="connsiteX9" fmla="*/ 2066306 w 3681350"/>
              <a:gd name="connsiteY9" fmla="*/ 187659 h 1790382"/>
              <a:gd name="connsiteX10" fmla="*/ 2149433 w 3681350"/>
              <a:gd name="connsiteY10" fmla="*/ 92656 h 1790382"/>
              <a:gd name="connsiteX11" fmla="*/ 2244436 w 3681350"/>
              <a:gd name="connsiteY11" fmla="*/ 21404 h 1790382"/>
              <a:gd name="connsiteX12" fmla="*/ 2375065 w 3681350"/>
              <a:gd name="connsiteY12" fmla="*/ 21404 h 1790382"/>
              <a:gd name="connsiteX13" fmla="*/ 2576945 w 3681350"/>
              <a:gd name="connsiteY13" fmla="*/ 270786 h 1790382"/>
              <a:gd name="connsiteX14" fmla="*/ 2719449 w 3681350"/>
              <a:gd name="connsiteY14" fmla="*/ 1066433 h 1790382"/>
              <a:gd name="connsiteX15" fmla="*/ 2909454 w 3681350"/>
              <a:gd name="connsiteY15" fmla="*/ 1517695 h 1790382"/>
              <a:gd name="connsiteX16" fmla="*/ 3384467 w 3681350"/>
              <a:gd name="connsiteY16" fmla="*/ 1315815 h 1790382"/>
              <a:gd name="connsiteX17" fmla="*/ 3681350 w 3681350"/>
              <a:gd name="connsiteY17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2066306 w 3681350"/>
              <a:gd name="connsiteY8" fmla="*/ 187659 h 1790382"/>
              <a:gd name="connsiteX9" fmla="*/ 2149433 w 3681350"/>
              <a:gd name="connsiteY9" fmla="*/ 92656 h 1790382"/>
              <a:gd name="connsiteX10" fmla="*/ 2244436 w 3681350"/>
              <a:gd name="connsiteY10" fmla="*/ 21404 h 1790382"/>
              <a:gd name="connsiteX11" fmla="*/ 2375065 w 3681350"/>
              <a:gd name="connsiteY11" fmla="*/ 21404 h 1790382"/>
              <a:gd name="connsiteX12" fmla="*/ 2576945 w 3681350"/>
              <a:gd name="connsiteY12" fmla="*/ 270786 h 1790382"/>
              <a:gd name="connsiteX13" fmla="*/ 2719449 w 3681350"/>
              <a:gd name="connsiteY13" fmla="*/ 1066433 h 1790382"/>
              <a:gd name="connsiteX14" fmla="*/ 2909454 w 3681350"/>
              <a:gd name="connsiteY14" fmla="*/ 1517695 h 1790382"/>
              <a:gd name="connsiteX15" fmla="*/ 3384467 w 3681350"/>
              <a:gd name="connsiteY15" fmla="*/ 1315815 h 1790382"/>
              <a:gd name="connsiteX16" fmla="*/ 3681350 w 3681350"/>
              <a:gd name="connsiteY16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2066306 w 3681350"/>
              <a:gd name="connsiteY7" fmla="*/ 187659 h 1790382"/>
              <a:gd name="connsiteX8" fmla="*/ 2149433 w 3681350"/>
              <a:gd name="connsiteY8" fmla="*/ 92656 h 1790382"/>
              <a:gd name="connsiteX9" fmla="*/ 2244436 w 3681350"/>
              <a:gd name="connsiteY9" fmla="*/ 21404 h 1790382"/>
              <a:gd name="connsiteX10" fmla="*/ 2375065 w 3681350"/>
              <a:gd name="connsiteY10" fmla="*/ 21404 h 1790382"/>
              <a:gd name="connsiteX11" fmla="*/ 2576945 w 3681350"/>
              <a:gd name="connsiteY11" fmla="*/ 270786 h 1790382"/>
              <a:gd name="connsiteX12" fmla="*/ 2719449 w 3681350"/>
              <a:gd name="connsiteY12" fmla="*/ 1066433 h 1790382"/>
              <a:gd name="connsiteX13" fmla="*/ 2909454 w 3681350"/>
              <a:gd name="connsiteY13" fmla="*/ 1517695 h 1790382"/>
              <a:gd name="connsiteX14" fmla="*/ 3384467 w 3681350"/>
              <a:gd name="connsiteY14" fmla="*/ 1315815 h 1790382"/>
              <a:gd name="connsiteX15" fmla="*/ 3681350 w 3681350"/>
              <a:gd name="connsiteY15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73629 w 3681350"/>
              <a:gd name="connsiteY6" fmla="*/ 834270 h 1790382"/>
              <a:gd name="connsiteX7" fmla="*/ 2066306 w 3681350"/>
              <a:gd name="connsiteY7" fmla="*/ 187659 h 1790382"/>
              <a:gd name="connsiteX8" fmla="*/ 2149433 w 3681350"/>
              <a:gd name="connsiteY8" fmla="*/ 92656 h 1790382"/>
              <a:gd name="connsiteX9" fmla="*/ 2244436 w 3681350"/>
              <a:gd name="connsiteY9" fmla="*/ 21404 h 1790382"/>
              <a:gd name="connsiteX10" fmla="*/ 2375065 w 3681350"/>
              <a:gd name="connsiteY10" fmla="*/ 21404 h 1790382"/>
              <a:gd name="connsiteX11" fmla="*/ 2576945 w 3681350"/>
              <a:gd name="connsiteY11" fmla="*/ 270786 h 1790382"/>
              <a:gd name="connsiteX12" fmla="*/ 2719449 w 3681350"/>
              <a:gd name="connsiteY12" fmla="*/ 1066433 h 1790382"/>
              <a:gd name="connsiteX13" fmla="*/ 2909454 w 3681350"/>
              <a:gd name="connsiteY13" fmla="*/ 1517695 h 1790382"/>
              <a:gd name="connsiteX14" fmla="*/ 3384467 w 3681350"/>
              <a:gd name="connsiteY14" fmla="*/ 1315815 h 1790382"/>
              <a:gd name="connsiteX15" fmla="*/ 3681350 w 3681350"/>
              <a:gd name="connsiteY15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2066306 w 3681350"/>
              <a:gd name="connsiteY6" fmla="*/ 187659 h 1790382"/>
              <a:gd name="connsiteX7" fmla="*/ 2149433 w 3681350"/>
              <a:gd name="connsiteY7" fmla="*/ 92656 h 1790382"/>
              <a:gd name="connsiteX8" fmla="*/ 2244436 w 3681350"/>
              <a:gd name="connsiteY8" fmla="*/ 21404 h 1790382"/>
              <a:gd name="connsiteX9" fmla="*/ 2375065 w 3681350"/>
              <a:gd name="connsiteY9" fmla="*/ 21404 h 1790382"/>
              <a:gd name="connsiteX10" fmla="*/ 2576945 w 3681350"/>
              <a:gd name="connsiteY10" fmla="*/ 270786 h 1790382"/>
              <a:gd name="connsiteX11" fmla="*/ 2719449 w 3681350"/>
              <a:gd name="connsiteY11" fmla="*/ 1066433 h 1790382"/>
              <a:gd name="connsiteX12" fmla="*/ 2909454 w 3681350"/>
              <a:gd name="connsiteY12" fmla="*/ 1517695 h 1790382"/>
              <a:gd name="connsiteX13" fmla="*/ 3384467 w 3681350"/>
              <a:gd name="connsiteY13" fmla="*/ 1315815 h 1790382"/>
              <a:gd name="connsiteX14" fmla="*/ 3681350 w 3681350"/>
              <a:gd name="connsiteY14" fmla="*/ 508293 h 1790382"/>
              <a:gd name="connsiteX0" fmla="*/ 0 w 3681350"/>
              <a:gd name="connsiteY0" fmla="*/ 762503 h 1795210"/>
              <a:gd name="connsiteX1" fmla="*/ 356259 w 3681350"/>
              <a:gd name="connsiteY1" fmla="*/ 406243 h 1795210"/>
              <a:gd name="connsiteX2" fmla="*/ 688768 w 3681350"/>
              <a:gd name="connsiteY2" fmla="*/ 703126 h 1795210"/>
              <a:gd name="connsiteX3" fmla="*/ 890649 w 3681350"/>
              <a:gd name="connsiteY3" fmla="*/ 1344393 h 1795210"/>
              <a:gd name="connsiteX4" fmla="*/ 1278972 w 3681350"/>
              <a:gd name="connsiteY4" fmla="*/ 1795210 h 1795210"/>
              <a:gd name="connsiteX5" fmla="*/ 1733797 w 3681350"/>
              <a:gd name="connsiteY5" fmla="*/ 1332518 h 1795210"/>
              <a:gd name="connsiteX6" fmla="*/ 2066306 w 3681350"/>
              <a:gd name="connsiteY6" fmla="*/ 192487 h 1795210"/>
              <a:gd name="connsiteX7" fmla="*/ 2244436 w 3681350"/>
              <a:gd name="connsiteY7" fmla="*/ 26232 h 1795210"/>
              <a:gd name="connsiteX8" fmla="*/ 2375065 w 3681350"/>
              <a:gd name="connsiteY8" fmla="*/ 26232 h 1795210"/>
              <a:gd name="connsiteX9" fmla="*/ 2576945 w 3681350"/>
              <a:gd name="connsiteY9" fmla="*/ 275614 h 1795210"/>
              <a:gd name="connsiteX10" fmla="*/ 2719449 w 3681350"/>
              <a:gd name="connsiteY10" fmla="*/ 1071261 h 1795210"/>
              <a:gd name="connsiteX11" fmla="*/ 2909454 w 3681350"/>
              <a:gd name="connsiteY11" fmla="*/ 1522523 h 1795210"/>
              <a:gd name="connsiteX12" fmla="*/ 3384467 w 3681350"/>
              <a:gd name="connsiteY12" fmla="*/ 1320643 h 1795210"/>
              <a:gd name="connsiteX13" fmla="*/ 3681350 w 3681350"/>
              <a:gd name="connsiteY13" fmla="*/ 513121 h 1795210"/>
              <a:gd name="connsiteX0" fmla="*/ 0 w 3681350"/>
              <a:gd name="connsiteY0" fmla="*/ 842948 h 1875655"/>
              <a:gd name="connsiteX1" fmla="*/ 356259 w 3681350"/>
              <a:gd name="connsiteY1" fmla="*/ 486688 h 1875655"/>
              <a:gd name="connsiteX2" fmla="*/ 688768 w 3681350"/>
              <a:gd name="connsiteY2" fmla="*/ 783571 h 1875655"/>
              <a:gd name="connsiteX3" fmla="*/ 890649 w 3681350"/>
              <a:gd name="connsiteY3" fmla="*/ 1424838 h 1875655"/>
              <a:gd name="connsiteX4" fmla="*/ 1278972 w 3681350"/>
              <a:gd name="connsiteY4" fmla="*/ 1875655 h 1875655"/>
              <a:gd name="connsiteX5" fmla="*/ 1733797 w 3681350"/>
              <a:gd name="connsiteY5" fmla="*/ 1412963 h 1875655"/>
              <a:gd name="connsiteX6" fmla="*/ 2244436 w 3681350"/>
              <a:gd name="connsiteY6" fmla="*/ 106677 h 1875655"/>
              <a:gd name="connsiteX7" fmla="*/ 2375065 w 3681350"/>
              <a:gd name="connsiteY7" fmla="*/ 106677 h 1875655"/>
              <a:gd name="connsiteX8" fmla="*/ 2576945 w 3681350"/>
              <a:gd name="connsiteY8" fmla="*/ 356059 h 1875655"/>
              <a:gd name="connsiteX9" fmla="*/ 2719449 w 3681350"/>
              <a:gd name="connsiteY9" fmla="*/ 1151706 h 1875655"/>
              <a:gd name="connsiteX10" fmla="*/ 2909454 w 3681350"/>
              <a:gd name="connsiteY10" fmla="*/ 1602968 h 1875655"/>
              <a:gd name="connsiteX11" fmla="*/ 3384467 w 3681350"/>
              <a:gd name="connsiteY11" fmla="*/ 1401088 h 1875655"/>
              <a:gd name="connsiteX12" fmla="*/ 3681350 w 3681350"/>
              <a:gd name="connsiteY12" fmla="*/ 593566 h 1875655"/>
              <a:gd name="connsiteX0" fmla="*/ 0 w 3681350"/>
              <a:gd name="connsiteY0" fmla="*/ 796203 h 1828910"/>
              <a:gd name="connsiteX1" fmla="*/ 356259 w 3681350"/>
              <a:gd name="connsiteY1" fmla="*/ 439943 h 1828910"/>
              <a:gd name="connsiteX2" fmla="*/ 688768 w 3681350"/>
              <a:gd name="connsiteY2" fmla="*/ 736826 h 1828910"/>
              <a:gd name="connsiteX3" fmla="*/ 890649 w 3681350"/>
              <a:gd name="connsiteY3" fmla="*/ 1378093 h 1828910"/>
              <a:gd name="connsiteX4" fmla="*/ 1278972 w 3681350"/>
              <a:gd name="connsiteY4" fmla="*/ 1828910 h 1828910"/>
              <a:gd name="connsiteX5" fmla="*/ 1733797 w 3681350"/>
              <a:gd name="connsiteY5" fmla="*/ 1366218 h 1828910"/>
              <a:gd name="connsiteX6" fmla="*/ 2375065 w 3681350"/>
              <a:gd name="connsiteY6" fmla="*/ 59932 h 1828910"/>
              <a:gd name="connsiteX7" fmla="*/ 2576945 w 3681350"/>
              <a:gd name="connsiteY7" fmla="*/ 309314 h 1828910"/>
              <a:gd name="connsiteX8" fmla="*/ 2719449 w 3681350"/>
              <a:gd name="connsiteY8" fmla="*/ 1104961 h 1828910"/>
              <a:gd name="connsiteX9" fmla="*/ 2909454 w 3681350"/>
              <a:gd name="connsiteY9" fmla="*/ 1556223 h 1828910"/>
              <a:gd name="connsiteX10" fmla="*/ 3384467 w 3681350"/>
              <a:gd name="connsiteY10" fmla="*/ 1354343 h 1828910"/>
              <a:gd name="connsiteX11" fmla="*/ 3681350 w 3681350"/>
              <a:gd name="connsiteY11" fmla="*/ 546821 h 1828910"/>
              <a:gd name="connsiteX0" fmla="*/ 0 w 3681350"/>
              <a:gd name="connsiteY0" fmla="*/ 772905 h 1805612"/>
              <a:gd name="connsiteX1" fmla="*/ 356259 w 3681350"/>
              <a:gd name="connsiteY1" fmla="*/ 416645 h 1805612"/>
              <a:gd name="connsiteX2" fmla="*/ 688768 w 3681350"/>
              <a:gd name="connsiteY2" fmla="*/ 713528 h 1805612"/>
              <a:gd name="connsiteX3" fmla="*/ 890649 w 3681350"/>
              <a:gd name="connsiteY3" fmla="*/ 1354795 h 1805612"/>
              <a:gd name="connsiteX4" fmla="*/ 1278972 w 3681350"/>
              <a:gd name="connsiteY4" fmla="*/ 1805612 h 1805612"/>
              <a:gd name="connsiteX5" fmla="*/ 1733797 w 3681350"/>
              <a:gd name="connsiteY5" fmla="*/ 1342920 h 1805612"/>
              <a:gd name="connsiteX6" fmla="*/ 2375065 w 3681350"/>
              <a:gd name="connsiteY6" fmla="*/ 36634 h 1805612"/>
              <a:gd name="connsiteX7" fmla="*/ 2576945 w 3681350"/>
              <a:gd name="connsiteY7" fmla="*/ 286016 h 1805612"/>
              <a:gd name="connsiteX8" fmla="*/ 2719449 w 3681350"/>
              <a:gd name="connsiteY8" fmla="*/ 1081663 h 1805612"/>
              <a:gd name="connsiteX9" fmla="*/ 2909454 w 3681350"/>
              <a:gd name="connsiteY9" fmla="*/ 1532925 h 1805612"/>
              <a:gd name="connsiteX10" fmla="*/ 3384467 w 3681350"/>
              <a:gd name="connsiteY10" fmla="*/ 1331045 h 1805612"/>
              <a:gd name="connsiteX11" fmla="*/ 3681350 w 3681350"/>
              <a:gd name="connsiteY11" fmla="*/ 523523 h 1805612"/>
              <a:gd name="connsiteX0" fmla="*/ 0 w 3681350"/>
              <a:gd name="connsiteY0" fmla="*/ 736509 h 1769216"/>
              <a:gd name="connsiteX1" fmla="*/ 356259 w 3681350"/>
              <a:gd name="connsiteY1" fmla="*/ 380249 h 1769216"/>
              <a:gd name="connsiteX2" fmla="*/ 688768 w 3681350"/>
              <a:gd name="connsiteY2" fmla="*/ 677132 h 1769216"/>
              <a:gd name="connsiteX3" fmla="*/ 890649 w 3681350"/>
              <a:gd name="connsiteY3" fmla="*/ 1318399 h 1769216"/>
              <a:gd name="connsiteX4" fmla="*/ 1278972 w 3681350"/>
              <a:gd name="connsiteY4" fmla="*/ 1769216 h 1769216"/>
              <a:gd name="connsiteX5" fmla="*/ 1733797 w 3681350"/>
              <a:gd name="connsiteY5" fmla="*/ 1306524 h 1769216"/>
              <a:gd name="connsiteX6" fmla="*/ 2375065 w 3681350"/>
              <a:gd name="connsiteY6" fmla="*/ 238 h 1769216"/>
              <a:gd name="connsiteX7" fmla="*/ 2576945 w 3681350"/>
              <a:gd name="connsiteY7" fmla="*/ 249620 h 1769216"/>
              <a:gd name="connsiteX8" fmla="*/ 2719449 w 3681350"/>
              <a:gd name="connsiteY8" fmla="*/ 1045267 h 1769216"/>
              <a:gd name="connsiteX9" fmla="*/ 2909454 w 3681350"/>
              <a:gd name="connsiteY9" fmla="*/ 1496529 h 1769216"/>
              <a:gd name="connsiteX10" fmla="*/ 3384467 w 3681350"/>
              <a:gd name="connsiteY10" fmla="*/ 1294649 h 1769216"/>
              <a:gd name="connsiteX11" fmla="*/ 3681350 w 3681350"/>
              <a:gd name="connsiteY11" fmla="*/ 487127 h 1769216"/>
              <a:gd name="connsiteX0" fmla="*/ 0 w 3681350"/>
              <a:gd name="connsiteY0" fmla="*/ 737904 h 1770611"/>
              <a:gd name="connsiteX1" fmla="*/ 356259 w 3681350"/>
              <a:gd name="connsiteY1" fmla="*/ 381644 h 1770611"/>
              <a:gd name="connsiteX2" fmla="*/ 688768 w 3681350"/>
              <a:gd name="connsiteY2" fmla="*/ 678527 h 1770611"/>
              <a:gd name="connsiteX3" fmla="*/ 890649 w 3681350"/>
              <a:gd name="connsiteY3" fmla="*/ 1319794 h 1770611"/>
              <a:gd name="connsiteX4" fmla="*/ 1278972 w 3681350"/>
              <a:gd name="connsiteY4" fmla="*/ 1770611 h 1770611"/>
              <a:gd name="connsiteX5" fmla="*/ 1733797 w 3681350"/>
              <a:gd name="connsiteY5" fmla="*/ 1307919 h 1770611"/>
              <a:gd name="connsiteX6" fmla="*/ 2375065 w 3681350"/>
              <a:gd name="connsiteY6" fmla="*/ 1633 h 1770611"/>
              <a:gd name="connsiteX7" fmla="*/ 2719449 w 3681350"/>
              <a:gd name="connsiteY7" fmla="*/ 1046662 h 1770611"/>
              <a:gd name="connsiteX8" fmla="*/ 2909454 w 3681350"/>
              <a:gd name="connsiteY8" fmla="*/ 1497924 h 1770611"/>
              <a:gd name="connsiteX9" fmla="*/ 3384467 w 3681350"/>
              <a:gd name="connsiteY9" fmla="*/ 1296044 h 1770611"/>
              <a:gd name="connsiteX10" fmla="*/ 3681350 w 3681350"/>
              <a:gd name="connsiteY10" fmla="*/ 488522 h 1770611"/>
              <a:gd name="connsiteX0" fmla="*/ 0 w 3681350"/>
              <a:gd name="connsiteY0" fmla="*/ 737908 h 1770615"/>
              <a:gd name="connsiteX1" fmla="*/ 356259 w 3681350"/>
              <a:gd name="connsiteY1" fmla="*/ 381648 h 1770615"/>
              <a:gd name="connsiteX2" fmla="*/ 688768 w 3681350"/>
              <a:gd name="connsiteY2" fmla="*/ 678531 h 1770615"/>
              <a:gd name="connsiteX3" fmla="*/ 890649 w 3681350"/>
              <a:gd name="connsiteY3" fmla="*/ 1319798 h 1770615"/>
              <a:gd name="connsiteX4" fmla="*/ 1278972 w 3681350"/>
              <a:gd name="connsiteY4" fmla="*/ 1770615 h 1770615"/>
              <a:gd name="connsiteX5" fmla="*/ 1733797 w 3681350"/>
              <a:gd name="connsiteY5" fmla="*/ 1307923 h 1770615"/>
              <a:gd name="connsiteX6" fmla="*/ 2375065 w 3681350"/>
              <a:gd name="connsiteY6" fmla="*/ 1637 h 1770615"/>
              <a:gd name="connsiteX7" fmla="*/ 2719449 w 3681350"/>
              <a:gd name="connsiteY7" fmla="*/ 1046666 h 1770615"/>
              <a:gd name="connsiteX8" fmla="*/ 3000894 w 3681350"/>
              <a:gd name="connsiteY8" fmla="*/ 1509358 h 1770615"/>
              <a:gd name="connsiteX9" fmla="*/ 3384467 w 3681350"/>
              <a:gd name="connsiteY9" fmla="*/ 1296048 h 1770615"/>
              <a:gd name="connsiteX10" fmla="*/ 3681350 w 3681350"/>
              <a:gd name="connsiteY10" fmla="*/ 488526 h 1770615"/>
              <a:gd name="connsiteX0" fmla="*/ 0 w 3681350"/>
              <a:gd name="connsiteY0" fmla="*/ 737908 h 1770615"/>
              <a:gd name="connsiteX1" fmla="*/ 356259 w 3681350"/>
              <a:gd name="connsiteY1" fmla="*/ 381648 h 1770615"/>
              <a:gd name="connsiteX2" fmla="*/ 688768 w 3681350"/>
              <a:gd name="connsiteY2" fmla="*/ 678531 h 1770615"/>
              <a:gd name="connsiteX3" fmla="*/ 890649 w 3681350"/>
              <a:gd name="connsiteY3" fmla="*/ 1319798 h 1770615"/>
              <a:gd name="connsiteX4" fmla="*/ 1278972 w 3681350"/>
              <a:gd name="connsiteY4" fmla="*/ 1770615 h 1770615"/>
              <a:gd name="connsiteX5" fmla="*/ 1733797 w 3681350"/>
              <a:gd name="connsiteY5" fmla="*/ 1307923 h 1770615"/>
              <a:gd name="connsiteX6" fmla="*/ 2375065 w 3681350"/>
              <a:gd name="connsiteY6" fmla="*/ 1637 h 1770615"/>
              <a:gd name="connsiteX7" fmla="*/ 2719449 w 3681350"/>
              <a:gd name="connsiteY7" fmla="*/ 1046666 h 1770615"/>
              <a:gd name="connsiteX8" fmla="*/ 3000894 w 3681350"/>
              <a:gd name="connsiteY8" fmla="*/ 1509358 h 1770615"/>
              <a:gd name="connsiteX9" fmla="*/ 3384467 w 3681350"/>
              <a:gd name="connsiteY9" fmla="*/ 1296048 h 1770615"/>
              <a:gd name="connsiteX10" fmla="*/ 3681350 w 3681350"/>
              <a:gd name="connsiteY10" fmla="*/ 488526 h 1770615"/>
              <a:gd name="connsiteX0" fmla="*/ 0 w 3681350"/>
              <a:gd name="connsiteY0" fmla="*/ 746138 h 1778845"/>
              <a:gd name="connsiteX1" fmla="*/ 356259 w 3681350"/>
              <a:gd name="connsiteY1" fmla="*/ 389878 h 1778845"/>
              <a:gd name="connsiteX2" fmla="*/ 688768 w 3681350"/>
              <a:gd name="connsiteY2" fmla="*/ 686761 h 1778845"/>
              <a:gd name="connsiteX3" fmla="*/ 890649 w 3681350"/>
              <a:gd name="connsiteY3" fmla="*/ 1328028 h 1778845"/>
              <a:gd name="connsiteX4" fmla="*/ 1278972 w 3681350"/>
              <a:gd name="connsiteY4" fmla="*/ 1778845 h 1778845"/>
              <a:gd name="connsiteX5" fmla="*/ 1733797 w 3681350"/>
              <a:gd name="connsiteY5" fmla="*/ 1316153 h 1778845"/>
              <a:gd name="connsiteX6" fmla="*/ 2375065 w 3681350"/>
              <a:gd name="connsiteY6" fmla="*/ 9867 h 1778845"/>
              <a:gd name="connsiteX7" fmla="*/ 2662299 w 3681350"/>
              <a:gd name="connsiteY7" fmla="*/ 757716 h 1778845"/>
              <a:gd name="connsiteX8" fmla="*/ 3000894 w 3681350"/>
              <a:gd name="connsiteY8" fmla="*/ 1517588 h 1778845"/>
              <a:gd name="connsiteX9" fmla="*/ 3384467 w 3681350"/>
              <a:gd name="connsiteY9" fmla="*/ 1304278 h 1778845"/>
              <a:gd name="connsiteX10" fmla="*/ 3681350 w 3681350"/>
              <a:gd name="connsiteY10" fmla="*/ 496756 h 1778845"/>
              <a:gd name="connsiteX0" fmla="*/ 0 w 3681350"/>
              <a:gd name="connsiteY0" fmla="*/ 747440 h 1780147"/>
              <a:gd name="connsiteX1" fmla="*/ 356259 w 3681350"/>
              <a:gd name="connsiteY1" fmla="*/ 391180 h 1780147"/>
              <a:gd name="connsiteX2" fmla="*/ 688768 w 3681350"/>
              <a:gd name="connsiteY2" fmla="*/ 688063 h 1780147"/>
              <a:gd name="connsiteX3" fmla="*/ 890649 w 3681350"/>
              <a:gd name="connsiteY3" fmla="*/ 1329330 h 1780147"/>
              <a:gd name="connsiteX4" fmla="*/ 1278972 w 3681350"/>
              <a:gd name="connsiteY4" fmla="*/ 1780147 h 1780147"/>
              <a:gd name="connsiteX5" fmla="*/ 1733797 w 3681350"/>
              <a:gd name="connsiteY5" fmla="*/ 1317455 h 1780147"/>
              <a:gd name="connsiteX6" fmla="*/ 2375065 w 3681350"/>
              <a:gd name="connsiteY6" fmla="*/ 11169 h 1780147"/>
              <a:gd name="connsiteX7" fmla="*/ 2662299 w 3681350"/>
              <a:gd name="connsiteY7" fmla="*/ 759018 h 1780147"/>
              <a:gd name="connsiteX8" fmla="*/ 3000894 w 3681350"/>
              <a:gd name="connsiteY8" fmla="*/ 1518890 h 1780147"/>
              <a:gd name="connsiteX9" fmla="*/ 3384467 w 3681350"/>
              <a:gd name="connsiteY9" fmla="*/ 1305580 h 1780147"/>
              <a:gd name="connsiteX10" fmla="*/ 3681350 w 3681350"/>
              <a:gd name="connsiteY10" fmla="*/ 498058 h 1780147"/>
              <a:gd name="connsiteX0" fmla="*/ 0 w 3681350"/>
              <a:gd name="connsiteY0" fmla="*/ 747440 h 1780147"/>
              <a:gd name="connsiteX1" fmla="*/ 356259 w 3681350"/>
              <a:gd name="connsiteY1" fmla="*/ 391180 h 1780147"/>
              <a:gd name="connsiteX2" fmla="*/ 688768 w 3681350"/>
              <a:gd name="connsiteY2" fmla="*/ 688063 h 1780147"/>
              <a:gd name="connsiteX3" fmla="*/ 890649 w 3681350"/>
              <a:gd name="connsiteY3" fmla="*/ 1329330 h 1780147"/>
              <a:gd name="connsiteX4" fmla="*/ 1278972 w 3681350"/>
              <a:gd name="connsiteY4" fmla="*/ 1780147 h 1780147"/>
              <a:gd name="connsiteX5" fmla="*/ 1733797 w 3681350"/>
              <a:gd name="connsiteY5" fmla="*/ 1317455 h 1780147"/>
              <a:gd name="connsiteX6" fmla="*/ 2375065 w 3681350"/>
              <a:gd name="connsiteY6" fmla="*/ 11169 h 1780147"/>
              <a:gd name="connsiteX7" fmla="*/ 2662299 w 3681350"/>
              <a:gd name="connsiteY7" fmla="*/ 759018 h 1780147"/>
              <a:gd name="connsiteX8" fmla="*/ 3000894 w 3681350"/>
              <a:gd name="connsiteY8" fmla="*/ 1518890 h 1780147"/>
              <a:gd name="connsiteX9" fmla="*/ 3384467 w 3681350"/>
              <a:gd name="connsiteY9" fmla="*/ 1305580 h 1780147"/>
              <a:gd name="connsiteX10" fmla="*/ 3681350 w 3681350"/>
              <a:gd name="connsiteY10" fmla="*/ 498058 h 1780147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688768 w 3681350"/>
              <a:gd name="connsiteY2" fmla="*/ 686349 h 1778433"/>
              <a:gd name="connsiteX3" fmla="*/ 890649 w 3681350"/>
              <a:gd name="connsiteY3" fmla="*/ 1327616 h 1778433"/>
              <a:gd name="connsiteX4" fmla="*/ 1278972 w 3681350"/>
              <a:gd name="connsiteY4" fmla="*/ 1778433 h 1778433"/>
              <a:gd name="connsiteX5" fmla="*/ 1733797 w 3681350"/>
              <a:gd name="connsiteY5" fmla="*/ 1315741 h 1778433"/>
              <a:gd name="connsiteX6" fmla="*/ 2375065 w 3681350"/>
              <a:gd name="connsiteY6" fmla="*/ 9455 h 1778433"/>
              <a:gd name="connsiteX7" fmla="*/ 2708019 w 3681350"/>
              <a:gd name="connsiteY7" fmla="*/ 791594 h 1778433"/>
              <a:gd name="connsiteX8" fmla="*/ 3000894 w 3681350"/>
              <a:gd name="connsiteY8" fmla="*/ 1517176 h 1778433"/>
              <a:gd name="connsiteX9" fmla="*/ 3384467 w 3681350"/>
              <a:gd name="connsiteY9" fmla="*/ 1303866 h 1778433"/>
              <a:gd name="connsiteX10" fmla="*/ 3681350 w 3681350"/>
              <a:gd name="connsiteY10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688768 w 3681350"/>
              <a:gd name="connsiteY2" fmla="*/ 686349 h 1778433"/>
              <a:gd name="connsiteX3" fmla="*/ 890649 w 3681350"/>
              <a:gd name="connsiteY3" fmla="*/ 1327616 h 1778433"/>
              <a:gd name="connsiteX4" fmla="*/ 1278972 w 3681350"/>
              <a:gd name="connsiteY4" fmla="*/ 1778433 h 1778433"/>
              <a:gd name="connsiteX5" fmla="*/ 1733797 w 3681350"/>
              <a:gd name="connsiteY5" fmla="*/ 1315741 h 1778433"/>
              <a:gd name="connsiteX6" fmla="*/ 2375065 w 3681350"/>
              <a:gd name="connsiteY6" fmla="*/ 9455 h 1778433"/>
              <a:gd name="connsiteX7" fmla="*/ 2708019 w 3681350"/>
              <a:gd name="connsiteY7" fmla="*/ 791594 h 1778433"/>
              <a:gd name="connsiteX8" fmla="*/ 3000894 w 3681350"/>
              <a:gd name="connsiteY8" fmla="*/ 1517176 h 1778433"/>
              <a:gd name="connsiteX9" fmla="*/ 3384467 w 3681350"/>
              <a:gd name="connsiteY9" fmla="*/ 1303866 h 1778433"/>
              <a:gd name="connsiteX10" fmla="*/ 3681350 w 3681350"/>
              <a:gd name="connsiteY10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890649 w 3681350"/>
              <a:gd name="connsiteY2" fmla="*/ 1327616 h 1778433"/>
              <a:gd name="connsiteX3" fmla="*/ 1278972 w 3681350"/>
              <a:gd name="connsiteY3" fmla="*/ 1778433 h 1778433"/>
              <a:gd name="connsiteX4" fmla="*/ 1733797 w 3681350"/>
              <a:gd name="connsiteY4" fmla="*/ 1315741 h 1778433"/>
              <a:gd name="connsiteX5" fmla="*/ 2375065 w 3681350"/>
              <a:gd name="connsiteY5" fmla="*/ 9455 h 1778433"/>
              <a:gd name="connsiteX6" fmla="*/ 2708019 w 3681350"/>
              <a:gd name="connsiteY6" fmla="*/ 791594 h 1778433"/>
              <a:gd name="connsiteX7" fmla="*/ 3000894 w 3681350"/>
              <a:gd name="connsiteY7" fmla="*/ 1517176 h 1778433"/>
              <a:gd name="connsiteX8" fmla="*/ 3384467 w 3681350"/>
              <a:gd name="connsiteY8" fmla="*/ 1303866 h 1778433"/>
              <a:gd name="connsiteX9" fmla="*/ 3681350 w 3681350"/>
              <a:gd name="connsiteY9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856359 w 3681350"/>
              <a:gd name="connsiteY2" fmla="*/ 1007576 h 1778433"/>
              <a:gd name="connsiteX3" fmla="*/ 1278972 w 3681350"/>
              <a:gd name="connsiteY3" fmla="*/ 1778433 h 1778433"/>
              <a:gd name="connsiteX4" fmla="*/ 1733797 w 3681350"/>
              <a:gd name="connsiteY4" fmla="*/ 1315741 h 1778433"/>
              <a:gd name="connsiteX5" fmla="*/ 2375065 w 3681350"/>
              <a:gd name="connsiteY5" fmla="*/ 9455 h 1778433"/>
              <a:gd name="connsiteX6" fmla="*/ 2708019 w 3681350"/>
              <a:gd name="connsiteY6" fmla="*/ 791594 h 1778433"/>
              <a:gd name="connsiteX7" fmla="*/ 3000894 w 3681350"/>
              <a:gd name="connsiteY7" fmla="*/ 1517176 h 1778433"/>
              <a:gd name="connsiteX8" fmla="*/ 3384467 w 3681350"/>
              <a:gd name="connsiteY8" fmla="*/ 1303866 h 1778433"/>
              <a:gd name="connsiteX9" fmla="*/ 3681350 w 3681350"/>
              <a:gd name="connsiteY9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856359 w 3681350"/>
              <a:gd name="connsiteY2" fmla="*/ 1007576 h 1778433"/>
              <a:gd name="connsiteX3" fmla="*/ 1278972 w 3681350"/>
              <a:gd name="connsiteY3" fmla="*/ 1778433 h 1778433"/>
              <a:gd name="connsiteX4" fmla="*/ 1733797 w 3681350"/>
              <a:gd name="connsiteY4" fmla="*/ 1315741 h 1778433"/>
              <a:gd name="connsiteX5" fmla="*/ 2375065 w 3681350"/>
              <a:gd name="connsiteY5" fmla="*/ 9455 h 1778433"/>
              <a:gd name="connsiteX6" fmla="*/ 2708019 w 3681350"/>
              <a:gd name="connsiteY6" fmla="*/ 791594 h 1778433"/>
              <a:gd name="connsiteX7" fmla="*/ 3000894 w 3681350"/>
              <a:gd name="connsiteY7" fmla="*/ 1517176 h 1778433"/>
              <a:gd name="connsiteX8" fmla="*/ 3384467 w 3681350"/>
              <a:gd name="connsiteY8" fmla="*/ 1303866 h 1778433"/>
              <a:gd name="connsiteX9" fmla="*/ 3681350 w 3681350"/>
              <a:gd name="connsiteY9" fmla="*/ 496344 h 177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81350" h="1778433">
                <a:moveTo>
                  <a:pt x="0" y="745726"/>
                </a:moveTo>
                <a:cubicBezTo>
                  <a:pt x="120732" y="572544"/>
                  <a:pt x="213533" y="345824"/>
                  <a:pt x="356259" y="389466"/>
                </a:cubicBezTo>
                <a:cubicBezTo>
                  <a:pt x="498985" y="433108"/>
                  <a:pt x="702574" y="661782"/>
                  <a:pt x="856359" y="1007576"/>
                </a:cubicBezTo>
                <a:cubicBezTo>
                  <a:pt x="1010144" y="1353370"/>
                  <a:pt x="1048145" y="1762352"/>
                  <a:pt x="1278972" y="1778433"/>
                </a:cubicBezTo>
                <a:cubicBezTo>
                  <a:pt x="1522367" y="1753594"/>
                  <a:pt x="1551115" y="1610571"/>
                  <a:pt x="1733797" y="1315741"/>
                </a:cubicBezTo>
                <a:cubicBezTo>
                  <a:pt x="1916479" y="1020911"/>
                  <a:pt x="2212695" y="96813"/>
                  <a:pt x="2375065" y="9455"/>
                </a:cubicBezTo>
                <a:cubicBezTo>
                  <a:pt x="2537435" y="-77903"/>
                  <a:pt x="2603714" y="460297"/>
                  <a:pt x="2708019" y="791594"/>
                </a:cubicBezTo>
                <a:cubicBezTo>
                  <a:pt x="2812324" y="1122891"/>
                  <a:pt x="2888153" y="1431797"/>
                  <a:pt x="3000894" y="1517176"/>
                </a:cubicBezTo>
                <a:cubicBezTo>
                  <a:pt x="3113635" y="1602555"/>
                  <a:pt x="3255818" y="1472100"/>
                  <a:pt x="3384467" y="1303866"/>
                </a:cubicBezTo>
                <a:cubicBezTo>
                  <a:pt x="3513116" y="1135632"/>
                  <a:pt x="3597233" y="815988"/>
                  <a:pt x="3681350" y="496344"/>
                </a:cubicBezTo>
              </a:path>
            </a:pathLst>
          </a:cu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TextBox 12"/>
          <p:cNvSpPr txBox="1"/>
          <p:nvPr/>
        </p:nvSpPr>
        <p:spPr>
          <a:xfrm>
            <a:off x="7259215" y="3290887"/>
            <a:ext cx="224349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67" dirty="0">
                <a:solidFill>
                  <a:srgbClr val="FF0000"/>
                </a:solidFill>
              </a:rPr>
              <a:t>at local optima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245" y="3414930"/>
            <a:ext cx="265635" cy="299825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H="1" flipV="1">
            <a:off x="5696948" y="3105137"/>
            <a:ext cx="1117600" cy="309793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589642" y="3580127"/>
            <a:ext cx="1" cy="2476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524001" y="4408487"/>
            <a:ext cx="2496389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67" dirty="0">
                <a:solidFill>
                  <a:srgbClr val="FF0000"/>
                </a:solidFill>
              </a:rPr>
              <a:t>Current value of 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605" y="4521593"/>
            <a:ext cx="265635" cy="299825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 flipV="1">
            <a:off x="3360148" y="3827780"/>
            <a:ext cx="2032000" cy="580707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2" y="4241801"/>
            <a:ext cx="4368799" cy="10502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24E5046-947C-412B-BF63-F9EE579DFD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9858" y="5032084"/>
            <a:ext cx="3676293" cy="15739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00C7B76E-70E0-42C6-AC37-859374CA13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42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E0B4025-F439-45AF-B8BD-F690FDA81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014" y="381000"/>
            <a:ext cx="10630989" cy="5791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93A0952-7BD6-4107-BD1B-65D34A33E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32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65" y="1803401"/>
            <a:ext cx="4103536" cy="9864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77800"/>
            <a:ext cx="9550400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3" dirty="0"/>
              <a:t>Gradient descent can converge to a local minimum, even with the learning rate </a:t>
            </a:r>
            <a:r>
              <a:rPr lang="el-GR" sz="3733" dirty="0"/>
              <a:t>α</a:t>
            </a:r>
            <a:r>
              <a:rPr lang="en-US" sz="3733" dirty="0"/>
              <a:t> fixed.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2800" y="3109992"/>
            <a:ext cx="5387341" cy="3539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3" dirty="0"/>
              <a:t>As we approach a local minimum, gradient descent will automatically take smaller steps. So, no need to decrease </a:t>
            </a:r>
            <a:r>
              <a:rPr lang="el-GR" sz="3733" dirty="0"/>
              <a:t>α</a:t>
            </a:r>
            <a:r>
              <a:rPr lang="en-US" sz="3733" dirty="0"/>
              <a:t> over time. 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6716776" y="1890469"/>
            <a:ext cx="0" cy="3955988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482005" y="5541655"/>
            <a:ext cx="4878352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479" y="5691024"/>
            <a:ext cx="246279" cy="2779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800" y="3327401"/>
            <a:ext cx="707136" cy="3267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C761177E-8330-4C88-BAC6-E0A0F3DFF0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3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0488" y="482600"/>
            <a:ext cx="10091512" cy="448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As you approach the global minimum the derivative term gets smaller, so your update gets smaller, even with alpha is fixed</a:t>
            </a:r>
          </a:p>
          <a:p>
            <a:endParaRPr lang="en-US" sz="3200" dirty="0"/>
          </a:p>
          <a:p>
            <a:pPr marL="1219170" lvl="1" indent="-609585">
              <a:buFont typeface="Wingdings" panose="05000000000000000000" pitchFamily="2" charset="2"/>
              <a:buChar char="Ø"/>
            </a:pPr>
            <a:r>
              <a:rPr lang="en-US" sz="3200" dirty="0"/>
              <a:t>Means as the algorithm runs you take smaller steps as you approach the minimum</a:t>
            </a:r>
          </a:p>
          <a:p>
            <a:pPr marL="1219170" lvl="1" indent="-609585">
              <a:buFont typeface="Wingdings" panose="05000000000000000000" pitchFamily="2" charset="2"/>
              <a:buChar char="Ø"/>
            </a:pPr>
            <a:r>
              <a:rPr lang="en-US" sz="3200" dirty="0"/>
              <a:t>So no need to change alpha over time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endParaRPr lang="en-US" sz="3733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C761177E-8330-4C88-BAC6-E0A0F3DFF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0" y="6438901"/>
            <a:ext cx="1270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0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6211" y="474453"/>
            <a:ext cx="1109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Now derive the formula for the weight updates for gradient descent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399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= 1.5$&#10;&#10;$\theta_1 = 0$&#10;&#10;% \delta_i^{(l)} = \left(\sum_j W_{ji}^{(l)} \delta_j^{(l+1)}\right) f'(z_i^{(l)})&#10;&#10;&#10;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= 0$&#10;&#10;$\theta_1 = 0.5$&#10;&#10;% \delta_i^{(l)} = \left(\sum_j W_{ji}^{(l)} \delta_j^{(l+1)}\right) f'(z_i^{(l)})&#10;&#10;&#10;&#10;\end{document}"/>
  <p:tag name="IGUANATEXSIZE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= 1$&#10;&#10;$\theta_1 = 0.5$&#10;&#10;% \delta_i^{(l)} = \left(\sum_j W_{ji}^{(l)} \delta_j^{(l+1)}\right) f'(z_i^{(l)})&#10;&#10;&#10;&#10;\end{document}"/>
  <p:tag name="IGUANATEXSIZE" val="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&#10;$&#10;% \delta_i^{(l)} = \left(\sum_j W_{ji}^{(l)} \delta_j^{(l+1)}\right) f'(z_i^{(l)})&#10;&#10;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(x,y)&#10;$&#10;% \delta_i^{(l)} = \left(\sum_j W_{ji}^{(l)} \delta_j^{(l+1)}\right) f'(z_i^{(l)})&#10;&#10;&#10;&#10;\end{document}"/>
  <p:tag name="IGUANATEXSIZE" val="3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, \theta_1$&#10;&#10;% \delta_i^{(l)} = \left(\sum_j W_{ji}^{(l)} \delta_j^{(l+1)}\right) f'(z_i^{(l)})&#10;&#10;&#10;&#10;\end{document}"/>
  <p:tag name="IGUANATEXSIZE" val="3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3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underset{\theta_0,\theta_1}{\mathrm{minimize}} \; J(\theta_0,\theta_1)&#10;$&#10;% \delta_i^{(l)} = \left(\sum_j W_{ji}^{(l)} \delta_j^{(l+1)}\right) f'(z_i^{(l)})&#10;&#10;&#10;&#10;\end{document}"/>
  <p:tag name="IGUANATEXSIZE" val="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1 x&#10;$&#10;% \delta_i^{(l)} = \left(\sum_j W_{ji}^{(l)} \delta_j^{(l+1)}\right) f'(z_i^{(l)})&#10;&#10;&#10;&#10;\end{document}"/>
  <p:tag name="IGUANATEXSIZE" val="3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3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underset{\theta_1}{\mathrm{minimize}} \; J(\theta_1)&#10;$&#10;% \delta_i^{(l)} = \left(\sum_j W_{ji}^{(l)} \delta_j^{(l+1)}\right) f'(z_i^{(l)})&#10;&#10;&#10;&#10;\end{document}"/>
  <p:tag name="IGUANATEXSIZE" val="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 = 1&#10;$&#10;% \delta_i^{(l)} = \left(\sum_j W_{ji}^{(l)} \delta_j^{(l+1)}\right) f'(z_i^{(l)})&#10;&#10;&#10;&#10;\end{document}"/>
  <p:tag name="IGUANATEXSIZE" val="2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3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2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3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underset{\theta_0,\theta_1}{\mathrm{minimize}} \; J(\theta_0,\theta_1)&#10;$&#10;% \delta_i^{(l)} = \left(\sum_j W_{ji}^{(l)} \delta_j^{(l+1)}\right) f'(z_i^{(l)})&#10;&#10;&#10;&#10;\end{document}"/>
  <p:tag name="IGUANATEXSIZE" val="3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50  + 0.06x&#10;$&#10;% \delta_i^{(l)} = \left(\sum_j W_{ji}^{(l)} \delta_j^{(l+1)}\right) f'(z_i^{(l)})&#10;&#10;&#10;&#10;\end{document}"/>
  <p:tag name="IGUANATEXSIZE" val="3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2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2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 &#10;$&#10;% \delta_i^{(l)} = \left(\sum_j W_{ji}^{(l)} \delta_j^{(l+1)}\right) f'(z_i^{(l)})&#10;&#10;&#10;&#10;\end{document}"/>
  <p:tag name="IGUANATEXSIZE" val="3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underset{\theta_0,\theta_1}{\mathrm{min}} \; J(\theta_0,\theta_1)&#10;$&#10;% \delta_i^{(l)} = \left(\sum_j W_{ji}^{(l)} \delta_j^{(l+1)}\right) f'(z_i^{(l)})&#10;&#10;&#10;&#10;\end{document}"/>
  <p:tag name="IGUANATEXSIZE" val="3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3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 &#10;$&#10;% \delta_i^{(l)} = \left(\sum_j W_{ji}^{(l)} \delta_j^{(l+1)}\right) f'(z_i^{(l)})&#10;&#10;&#10;&#10;\end{document}"/>
  <p:tag name="IGUANATEXSIZE" val="3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3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repeat until convergence \{&#10;&#10;$&#10;\displaystyle&#10;\quad\theta_j := \theta_j - \alpha \frac{\partial}{\partial \theta_j} J(\theta_0,\theta_1)&#10;$&#10;&#10;\}&#10;% \delta_i^{(l)} = \left(\sum_j W_{ji}^{(l)} \delta_j^{(l+1)}\right) f'(z_i^{(l)})&#10;&#10;&#10;&#10;\end{document}"/>
  <p:tag name="IGUANATEXSIZE" val="2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for $j=0$ and $j=1$)&#10;% \delta_i^{(l)} = \left(\sum_j W_{ji}^{(l)} \delta_j^{(l+1)}\right) f'(z_i^{(l)})&#10;&#10;&#10;&#10;\end{document}"/>
  <p:tag name="IGUANATEXSIZE" val="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{\color{blue}\mathrm{temp}0} := \theta_0 - \alpha \frac{\partial}{\partial \theta_0} J(\theta_0,\theta_1)$ &#10;&#10;${\color{blue}\mathrm{temp}1} := \theta_1 - \alpha \frac{\partial}{\partial \theta_1} J(\theta_0,\theta_1)$ &#10;&#10;$\theta_0 := {\color{blue}\mathrm{temp}0}$&#10;&#10;$\theta_1 := {\color{blue}\mathrm{temp}1}$ &#10;&#10;% \delta_i^{(l)} = \left(\sum_j W_{ji}^{(l)} \delta_j^{(l+1)}\right) f'(z_i^{(l)})&#10;&#10;&#10;&#10;\end{document}"/>
  <p:tag name="IGUANATEXSIZE" val="2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{\color{blue}\mathrm{temp}0} := \theta_0 - \alpha \frac{\partial}{\partial \theta_0} J(\theta_0,\theta_1)$ &#10;&#10;$\theta_0 := {\color{blue}\mathrm{temp}0}$&#10;&#10;${\color{blue}\mathrm{temp}1} := \theta_1 - \alpha \frac{\partial}{\partial \theta_1} J(\theta_0,\theta_1)$ &#10;&#10;$\theta_1 := {\color{blue}\mathrm{temp}1}$ &#10;&#10;% \delta_i^{(l)} = \left(\sum_j W_{ji}^{(l)} \delta_j^{(l+1)}\right) f'(z_i^{(l)})&#10;&#10;&#10;&#10;\end{document}"/>
  <p:tag name="IGUANATEXSIZE" val="2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repeat until convergence \{&#10;&#10;$&#10;\displaystyle&#10;\quad\theta_j := \theta_j - \alpha \frac{\partial}{\partial \theta_j} J(\theta_0,\theta_1)&#10;$ &#10;&#10;\}&#10;% \delta_i^{(l)} = \left(\sum_j W_{ji}^{(l)} \delta_j^{(l+1)}\right) f'(z_i^{(l)})&#10;&#10;&#10;&#10;\end{document}"/>
  <p:tag name="IGUANATEXSIZE" val="3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simultaneously update&#10;&#10;\quad $j=0$ and $j=1$)&#10;% \delta_i^{(l)} = \left(\sum_j W_{ji}^{(l)} \delta_j^{(l+1)}\right) f'(z_i^{(l)})&#10;&#10;&#10;&#10;\end{document}"/>
  <p:tag name="IGUANATEXSIZE" val="3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isplaystyle&#10;\quad\theta_1 := \theta_1 - \alpha \frac{\partial}{\partial \theta_1} J(\theta_1)&#10;$ &#10;&#10;% \delta_i^{(l)} = \left(\sum_j W_{ji}^{(l)} \delta_j^{(l+1)}\right) f'(z_i^{(l)})&#10;&#10;&#10;&#10;\end{document}"/>
  <p:tag name="IGUANATEXSIZE" val="3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isplaystyle&#10;\quad\theta_1 := \theta_1 - \alpha \frac{\partial}{\partial \theta_1} J(\theta_1)&#10;$ &#10;&#10;% \delta_i^{(l)} = \left(\sum_j W_{ji}^{(l)} \delta_j^{(l+1)}\right) f'(z_i^{(l)})&#10;&#10;&#10;&#10;\end{document}"/>
  <p:tag name="IGUANATEXSIZE" val="3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isplaystyle&#10;\quad\theta_1 := \theta_1 - \alpha \frac{\partial}{\partial \theta_1} J(\theta_1)&#10;$ &#10;&#10;% \delta_i^{(l)} = \left(\sum_j W_{ji}^{(l)} \delta_j^{(l+1)}\right) f'(z_i^{(l)})&#10;&#10;&#10;&#10;\end{document}"/>
  <p:tag name="IGUANATEXSIZE" val="3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color{red}\theta_1&#10;$&#10;% \delta_i^{(l)} = \left(\sum_j W_{ji}^{(l)} \delta_j^{(l+1)}\right) f'(z_i^{(l)})&#10;&#10;&#10;&#10;\end{document}"/>
  <p:tag name="IGUANATEXSIZE" val="2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color{red}\theta_1&#10;$&#10;% \delta_i^{(l)} = \left(\sum_j W_{ji}^{(l)} \delta_j^{(l+1)}\right) f'(z_i^{(l)})&#10;&#10;&#10;&#10;\end{document}"/>
  <p:tag name="IGUANATEXSIZE" val="2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isplaystyle&#10;\quad\theta_1 := \theta_1 - \alpha \frac{d}{d \theta_1} J(\theta_1)&#10;$ &#10;&#10;% \delta_i^{(l)} = \left(\sum_j W_{ji}^{(l)} \delta_j^{(l+1)}\right) f'(z_i^{(l)})&#10;&#10;&#10;&#10;\end{document}"/>
  <p:tag name="IGUANATEXSIZE" val="3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isplaystyle&#10;\quad\theta_1 := \theta_1 - \alpha \frac{d}{d \theta_1} J(\theta_1)&#10;$ &#10;&#10;% \delta_i^{(l)} = \left(\sum_j W_{ji}^{(l)} \delta_j^{(l+1)}\right) f'(z_i^{(l)})&#10;&#10;&#10;&#10;\end{document}"/>
  <p:tag name="IGUANATEXSIZE" val="3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 &#10;&#10;% \delta_i^{(l)} = \left(\sum_j W_{ji}^{(l)} \delta_j^{(l+1)}\right) f'(z_i^{(l)})&#10;&#10;&#10;&#10;\end{document}"/>
  <p:tag name="IGUANATEXSIZE" val="2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798</Words>
  <Application>Microsoft Office PowerPoint</Application>
  <PresentationFormat>Widescreen</PresentationFormat>
  <Paragraphs>159</Paragraphs>
  <Slides>55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Arial</vt:lpstr>
      <vt:lpstr>Calibri</vt:lpstr>
      <vt:lpstr>Calibri Light</vt:lpstr>
      <vt:lpstr>Cambria Math</vt:lpstr>
      <vt:lpstr>Georgia</vt:lpstr>
      <vt:lpstr>Symbol</vt:lpstr>
      <vt:lpstr>Times New Roman</vt:lpstr>
      <vt:lpstr>Wingdings</vt:lpstr>
      <vt:lpstr>Office Theme</vt:lpstr>
      <vt:lpstr>Lecture 10 – Linear Regression (Theoretical Foundation)</vt:lpstr>
      <vt:lpstr>Model representation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Cost function</vt:lpstr>
      <vt:lpstr>PowerPoint Presentation</vt:lpstr>
      <vt:lpstr>PowerPoint Presentation</vt:lpstr>
      <vt:lpstr>PowerPoint Presentation</vt:lpstr>
      <vt:lpstr>PowerPoint Presentation</vt:lpstr>
      <vt:lpstr>Cost function intuition 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 descent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 descent intuition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</dc:title>
  <dc:creator>ASUS</dc:creator>
  <cp:lastModifiedBy>ASUS</cp:lastModifiedBy>
  <cp:revision>6</cp:revision>
  <dcterms:created xsi:type="dcterms:W3CDTF">2021-12-25T16:05:27Z</dcterms:created>
  <dcterms:modified xsi:type="dcterms:W3CDTF">2025-03-22T19:32:25Z</dcterms:modified>
</cp:coreProperties>
</file>
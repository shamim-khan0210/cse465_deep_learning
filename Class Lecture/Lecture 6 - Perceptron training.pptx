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93" r:id="rId3"/>
    <p:sldId id="276"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3" d="100"/>
          <a:sy n="83" d="100"/>
        </p:scale>
        <p:origin x="629"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7D0625-217C-4851-8364-A92CCFD31462}" type="datetimeFigureOut">
              <a:rPr lang="en-US" smtClean="0"/>
              <a:t>6/23/2025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869F9B-E602-4575-A299-72A4F9937DC6}" type="slidenum">
              <a:rPr lang="en-US" smtClean="0"/>
              <a:t>‹#›</a:t>
            </a:fld>
            <a:endParaRPr lang="en-US"/>
          </a:p>
        </p:txBody>
      </p:sp>
    </p:spTree>
    <p:extLst>
      <p:ext uri="{BB962C8B-B14F-4D97-AF65-F5344CB8AC3E}">
        <p14:creationId xmlns:p14="http://schemas.microsoft.com/office/powerpoint/2010/main" val="4285297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869F9B-E602-4575-A299-72A4F9937DC6}" type="slidenum">
              <a:rPr lang="en-US" smtClean="0"/>
              <a:t>1</a:t>
            </a:fld>
            <a:endParaRPr lang="en-US"/>
          </a:p>
        </p:txBody>
      </p:sp>
    </p:spTree>
    <p:extLst>
      <p:ext uri="{BB962C8B-B14F-4D97-AF65-F5344CB8AC3E}">
        <p14:creationId xmlns:p14="http://schemas.microsoft.com/office/powerpoint/2010/main" val="689886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8741837-7D5D-4D63-A89C-A9FAA0003BD7}" type="slidenum">
              <a:rPr lang="en-US" smtClean="0"/>
              <a:t>17</a:t>
            </a:fld>
            <a:endParaRPr lang="en-US"/>
          </a:p>
        </p:txBody>
      </p:sp>
    </p:spTree>
    <p:extLst>
      <p:ext uri="{BB962C8B-B14F-4D97-AF65-F5344CB8AC3E}">
        <p14:creationId xmlns:p14="http://schemas.microsoft.com/office/powerpoint/2010/main" val="4069506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F50A31F-CB82-400C-87DA-198494E34139}"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73514D-2FE9-42EC-9BF7-540E13BC1ADC}" type="slidenum">
              <a:rPr lang="en-US" smtClean="0"/>
              <a:t>‹#›</a:t>
            </a:fld>
            <a:endParaRPr lang="en-US"/>
          </a:p>
        </p:txBody>
      </p:sp>
    </p:spTree>
    <p:extLst>
      <p:ext uri="{BB962C8B-B14F-4D97-AF65-F5344CB8AC3E}">
        <p14:creationId xmlns:p14="http://schemas.microsoft.com/office/powerpoint/2010/main" val="1689596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1BFE4E1-0C66-40C5-8D23-E59B2FB5BD02}"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73514D-2FE9-42EC-9BF7-540E13BC1ADC}" type="slidenum">
              <a:rPr lang="en-US" smtClean="0"/>
              <a:t>‹#›</a:t>
            </a:fld>
            <a:endParaRPr lang="en-US"/>
          </a:p>
        </p:txBody>
      </p:sp>
    </p:spTree>
    <p:extLst>
      <p:ext uri="{BB962C8B-B14F-4D97-AF65-F5344CB8AC3E}">
        <p14:creationId xmlns:p14="http://schemas.microsoft.com/office/powerpoint/2010/main" val="760259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76C5A3-CE48-494B-9621-C15EED42CE13}"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73514D-2FE9-42EC-9BF7-540E13BC1ADC}" type="slidenum">
              <a:rPr lang="en-US" smtClean="0"/>
              <a:t>‹#›</a:t>
            </a:fld>
            <a:endParaRPr lang="en-US"/>
          </a:p>
        </p:txBody>
      </p:sp>
    </p:spTree>
    <p:extLst>
      <p:ext uri="{BB962C8B-B14F-4D97-AF65-F5344CB8AC3E}">
        <p14:creationId xmlns:p14="http://schemas.microsoft.com/office/powerpoint/2010/main" val="3981565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4E789F2-658D-4B82-9AEC-7EE7EAFFBA39}" type="datetime1">
              <a:rPr lang="en-US"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73514D-2FE9-42EC-9BF7-540E13BC1ADC}" type="slidenum">
              <a:rPr lang="en-US" smtClean="0"/>
              <a:t>‹#›</a:t>
            </a:fld>
            <a:endParaRPr lang="en-US"/>
          </a:p>
        </p:txBody>
      </p:sp>
    </p:spTree>
    <p:extLst>
      <p:ext uri="{BB962C8B-B14F-4D97-AF65-F5344CB8AC3E}">
        <p14:creationId xmlns:p14="http://schemas.microsoft.com/office/powerpoint/2010/main" val="1471134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30F5B77-1FA3-418E-9E4C-BC66613C1B9D}" type="datetime1">
              <a:rPr lang="en-US" smtClean="0"/>
              <a:t>6/23/2025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73514D-2FE9-42EC-9BF7-540E13BC1ADC}" type="slidenum">
              <a:rPr lang="en-US" smtClean="0"/>
              <a:t>‹#›</a:t>
            </a:fld>
            <a:endParaRPr lang="en-US"/>
          </a:p>
        </p:txBody>
      </p:sp>
    </p:spTree>
    <p:extLst>
      <p:ext uri="{BB962C8B-B14F-4D97-AF65-F5344CB8AC3E}">
        <p14:creationId xmlns:p14="http://schemas.microsoft.com/office/powerpoint/2010/main" val="3238749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28A7C1-B30A-48EE-BB11-3C960577AFDD}" type="datetime1">
              <a:rPr lang="en-US" smtClean="0"/>
              <a:t>6/23/2025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73514D-2FE9-42EC-9BF7-540E13BC1ADC}" type="slidenum">
              <a:rPr lang="en-US" smtClean="0"/>
              <a:t>‹#›</a:t>
            </a:fld>
            <a:endParaRPr lang="en-US"/>
          </a:p>
        </p:txBody>
      </p:sp>
    </p:spTree>
    <p:extLst>
      <p:ext uri="{BB962C8B-B14F-4D97-AF65-F5344CB8AC3E}">
        <p14:creationId xmlns:p14="http://schemas.microsoft.com/office/powerpoint/2010/main" val="1513468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B070EB-C5B0-4D1B-A495-6FAEE28833E3}" type="datetime1">
              <a:rPr lang="en-US" smtClean="0"/>
              <a:t>6/23/2025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73514D-2FE9-42EC-9BF7-540E13BC1ADC}" type="slidenum">
              <a:rPr lang="en-US" smtClean="0"/>
              <a:t>‹#›</a:t>
            </a:fld>
            <a:endParaRPr lang="en-US"/>
          </a:p>
        </p:txBody>
      </p:sp>
    </p:spTree>
    <p:extLst>
      <p:ext uri="{BB962C8B-B14F-4D97-AF65-F5344CB8AC3E}">
        <p14:creationId xmlns:p14="http://schemas.microsoft.com/office/powerpoint/2010/main" val="394336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FE66E0-B644-4DCA-9327-13A2ABAAE338}" type="datetime1">
              <a:rPr lang="en-US"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73514D-2FE9-42EC-9BF7-540E13BC1ADC}" type="slidenum">
              <a:rPr lang="en-US" smtClean="0"/>
              <a:t>‹#›</a:t>
            </a:fld>
            <a:endParaRPr lang="en-US"/>
          </a:p>
        </p:txBody>
      </p:sp>
    </p:spTree>
    <p:extLst>
      <p:ext uri="{BB962C8B-B14F-4D97-AF65-F5344CB8AC3E}">
        <p14:creationId xmlns:p14="http://schemas.microsoft.com/office/powerpoint/2010/main" val="3481435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773507-4703-4ABE-9059-1D3033755C60}" type="datetime1">
              <a:rPr lang="en-US"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73514D-2FE9-42EC-9BF7-540E13BC1ADC}" type="slidenum">
              <a:rPr lang="en-US" smtClean="0"/>
              <a:t>‹#›</a:t>
            </a:fld>
            <a:endParaRPr lang="en-US"/>
          </a:p>
        </p:txBody>
      </p:sp>
    </p:spTree>
    <p:extLst>
      <p:ext uri="{BB962C8B-B14F-4D97-AF65-F5344CB8AC3E}">
        <p14:creationId xmlns:p14="http://schemas.microsoft.com/office/powerpoint/2010/main" val="1164124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B3AA81-1967-4290-AF39-0493CB50F034}"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73514D-2FE9-42EC-9BF7-540E13BC1ADC}" type="slidenum">
              <a:rPr lang="en-US" smtClean="0"/>
              <a:t>‹#›</a:t>
            </a:fld>
            <a:endParaRPr lang="en-US"/>
          </a:p>
        </p:txBody>
      </p:sp>
    </p:spTree>
    <p:extLst>
      <p:ext uri="{BB962C8B-B14F-4D97-AF65-F5344CB8AC3E}">
        <p14:creationId xmlns:p14="http://schemas.microsoft.com/office/powerpoint/2010/main" val="919476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2913B7-1696-4524-A29E-B04FC41A4543}"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73514D-2FE9-42EC-9BF7-540E13BC1ADC}" type="slidenum">
              <a:rPr lang="en-US" smtClean="0"/>
              <a:t>‹#›</a:t>
            </a:fld>
            <a:endParaRPr lang="en-US"/>
          </a:p>
        </p:txBody>
      </p:sp>
    </p:spTree>
    <p:extLst>
      <p:ext uri="{BB962C8B-B14F-4D97-AF65-F5344CB8AC3E}">
        <p14:creationId xmlns:p14="http://schemas.microsoft.com/office/powerpoint/2010/main" val="1848426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6E8797-BAF1-4F2D-B197-32DEA3CA696A}" type="datetime1">
              <a:rPr lang="en-US" smtClean="0"/>
              <a:t>6/23/2025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73514D-2FE9-42EC-9BF7-540E13BC1ADC}" type="slidenum">
              <a:rPr lang="en-US" smtClean="0"/>
              <a:t>‹#›</a:t>
            </a:fld>
            <a:endParaRPr lang="en-US"/>
          </a:p>
        </p:txBody>
      </p:sp>
    </p:spTree>
    <p:extLst>
      <p:ext uri="{BB962C8B-B14F-4D97-AF65-F5344CB8AC3E}">
        <p14:creationId xmlns:p14="http://schemas.microsoft.com/office/powerpoint/2010/main" val="622248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scikit-learn.org/stable/modules/sgd.html" TargetMode="External"/><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Perceptron </a:t>
            </a:r>
            <a:r>
              <a:rPr lang="en-US" dirty="0" smtClean="0"/>
              <a:t>and Perceptron Training</a:t>
            </a:r>
            <a:endParaRPr lang="en-US" dirty="0"/>
          </a:p>
        </p:txBody>
      </p:sp>
      <p:sp>
        <p:nvSpPr>
          <p:cNvPr id="3" name="Subtitle 2"/>
          <p:cNvSpPr>
            <a:spLocks noGrp="1"/>
          </p:cNvSpPr>
          <p:nvPr>
            <p:ph type="subTitle" idx="1"/>
          </p:nvPr>
        </p:nvSpPr>
        <p:spPr/>
        <p:txBody>
          <a:bodyPr/>
          <a:lstStyle/>
          <a:p>
            <a:r>
              <a:rPr lang="en-US" dirty="0" smtClean="0"/>
              <a:t>Dr. </a:t>
            </a:r>
            <a:r>
              <a:rPr lang="en-US" dirty="0" err="1" smtClean="0"/>
              <a:t>Sifat</a:t>
            </a:r>
            <a:r>
              <a:rPr lang="en-US" dirty="0" smtClean="0"/>
              <a:t> </a:t>
            </a:r>
            <a:r>
              <a:rPr lang="en-US" dirty="0" err="1" smtClean="0"/>
              <a:t>Momen</a:t>
            </a:r>
            <a:endParaRPr lang="en-US" dirty="0"/>
          </a:p>
        </p:txBody>
      </p:sp>
      <p:sp>
        <p:nvSpPr>
          <p:cNvPr id="4" name="Slide Number Placeholder 3"/>
          <p:cNvSpPr>
            <a:spLocks noGrp="1"/>
          </p:cNvSpPr>
          <p:nvPr>
            <p:ph type="sldNum" sz="quarter" idx="12"/>
          </p:nvPr>
        </p:nvSpPr>
        <p:spPr/>
        <p:txBody>
          <a:bodyPr/>
          <a:lstStyle/>
          <a:p>
            <a:fld id="{3573514D-2FE9-42EC-9BF7-540E13BC1ADC}" type="slidenum">
              <a:rPr lang="en-US" smtClean="0"/>
              <a:t>1</a:t>
            </a:fld>
            <a:endParaRPr lang="en-US"/>
          </a:p>
        </p:txBody>
      </p:sp>
    </p:spTree>
    <p:extLst>
      <p:ext uri="{BB962C8B-B14F-4D97-AF65-F5344CB8AC3E}">
        <p14:creationId xmlns:p14="http://schemas.microsoft.com/office/powerpoint/2010/main" val="33964687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573514D-2FE9-42EC-9BF7-540E13BC1ADC}" type="slidenum">
              <a:rPr lang="en-US" smtClean="0"/>
              <a:t>2</a:t>
            </a:fld>
            <a:endParaRPr lang="en-US"/>
          </a:p>
        </p:txBody>
      </p:sp>
      <p:pic>
        <p:nvPicPr>
          <p:cNvPr id="5" name="Picture 4"/>
          <p:cNvPicPr>
            <a:picLocks noChangeAspect="1"/>
          </p:cNvPicPr>
          <p:nvPr/>
        </p:nvPicPr>
        <p:blipFill>
          <a:blip r:embed="rId2"/>
          <a:stretch>
            <a:fillRect/>
          </a:stretch>
        </p:blipFill>
        <p:spPr>
          <a:xfrm>
            <a:off x="-182880" y="-46298"/>
            <a:ext cx="6841204" cy="6950595"/>
          </a:xfrm>
          <a:prstGeom prst="rect">
            <a:avLst/>
          </a:prstGeom>
        </p:spPr>
      </p:pic>
    </p:spTree>
    <p:extLst>
      <p:ext uri="{BB962C8B-B14F-4D97-AF65-F5344CB8AC3E}">
        <p14:creationId xmlns:p14="http://schemas.microsoft.com/office/powerpoint/2010/main" val="41209625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Perceptron Architecture </a:t>
            </a:r>
            <a:endParaRPr lang="en-US" dirty="0"/>
          </a:p>
        </p:txBody>
      </p:sp>
      <p:pic>
        <p:nvPicPr>
          <p:cNvPr id="4" name="Picture 3"/>
          <p:cNvPicPr>
            <a:picLocks noChangeAspect="1"/>
          </p:cNvPicPr>
          <p:nvPr/>
        </p:nvPicPr>
        <p:blipFill>
          <a:blip r:embed="rId2"/>
          <a:stretch>
            <a:fillRect/>
          </a:stretch>
        </p:blipFill>
        <p:spPr>
          <a:xfrm>
            <a:off x="733425" y="1690688"/>
            <a:ext cx="8183117" cy="4706007"/>
          </a:xfrm>
          <a:prstGeom prst="rect">
            <a:avLst/>
          </a:prstGeom>
        </p:spPr>
      </p:pic>
      <p:sp>
        <p:nvSpPr>
          <p:cNvPr id="5" name="Slide Number Placeholder 4"/>
          <p:cNvSpPr>
            <a:spLocks noGrp="1"/>
          </p:cNvSpPr>
          <p:nvPr>
            <p:ph type="sldNum" sz="quarter" idx="12"/>
          </p:nvPr>
        </p:nvSpPr>
        <p:spPr/>
        <p:txBody>
          <a:bodyPr/>
          <a:lstStyle/>
          <a:p>
            <a:fld id="{3573514D-2FE9-42EC-9BF7-540E13BC1ADC}" type="slidenum">
              <a:rPr lang="en-US" smtClean="0"/>
              <a:t>3</a:t>
            </a:fld>
            <a:endParaRPr lang="en-US"/>
          </a:p>
        </p:txBody>
      </p:sp>
    </p:spTree>
    <p:extLst>
      <p:ext uri="{BB962C8B-B14F-4D97-AF65-F5344CB8AC3E}">
        <p14:creationId xmlns:p14="http://schemas.microsoft.com/office/powerpoint/2010/main" val="32087804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Perceptron</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smtClean="0"/>
                  <a:t>Let’s define our model to be </a:t>
                </a:r>
                <a14:m>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dirty="0" smtClean="0"/>
                  <a:t> , for example,</a:t>
                </a:r>
              </a:p>
              <a:p>
                <a:pPr lvl="1"/>
                <a14:m>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sSup>
                      <m:sSupPr>
                        <m:ctrlPr>
                          <a:rPr lang="en-US"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𝑇</m:t>
                        </m:r>
                      </m:sup>
                    </m:sSup>
                  </m:oMath>
                </a14:m>
                <a:r>
                  <a:rPr lang="en-US" b="1" dirty="0" smtClean="0"/>
                  <a:t> </a:t>
                </a:r>
                <a:r>
                  <a:rPr lang="en-US" dirty="0" smtClean="0"/>
                  <a:t>is the input, and </a:t>
                </a:r>
              </a:p>
              <a:p>
                <a:pPr lvl="2"/>
                <a:r>
                  <a:rPr lang="en-US" dirty="0"/>
                  <a:t>x</a:t>
                </a:r>
                <a:r>
                  <a:rPr lang="en-US" baseline="-25000" dirty="0" smtClean="0"/>
                  <a:t>1</a:t>
                </a:r>
                <a:r>
                  <a:rPr lang="en-US" dirty="0" smtClean="0"/>
                  <a:t> is the number of hours of sleep</a:t>
                </a:r>
              </a:p>
              <a:p>
                <a:pPr lvl="2"/>
                <a:r>
                  <a:rPr lang="en-US" dirty="0" smtClean="0"/>
                  <a:t>x</a:t>
                </a:r>
                <a:r>
                  <a:rPr lang="en-US" baseline="-25000" dirty="0" smtClean="0"/>
                  <a:t>2</a:t>
                </a:r>
                <a:r>
                  <a:rPr lang="en-US" dirty="0" smtClean="0"/>
                  <a:t> is the number of hours spent on studying the previous day of an exam</a:t>
                </a:r>
              </a:p>
              <a:p>
                <a:pPr lvl="1"/>
                <a14:m>
                  <m:oMath xmlns:m="http://schemas.openxmlformats.org/officeDocument/2006/math">
                    <m:r>
                      <a:rPr lang="en-US" b="1" i="1" smtClean="0">
                        <a:latin typeface="Cambria Math" panose="02040503050406030204" pitchFamily="18" charset="0"/>
                        <a:ea typeface="Cambria Math" panose="02040503050406030204" pitchFamily="18" charset="0"/>
                      </a:rPr>
                      <m:t>𝜽</m:t>
                    </m:r>
                    <m:r>
                      <a:rPr lang="en-US" b="1"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 </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 </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𝑇</m:t>
                        </m:r>
                      </m:sup>
                    </m:sSup>
                  </m:oMath>
                </a14:m>
                <a:r>
                  <a:rPr lang="en-US" dirty="0" smtClean="0"/>
                  <a:t> is the model parameter</a:t>
                </a:r>
                <a:endParaRPr lang="en-US" dirty="0"/>
              </a:p>
              <a:p>
                <a:r>
                  <a:rPr lang="en-US" dirty="0" smtClean="0"/>
                  <a:t>We want to predict the exam performance. If the mark obtained is above or equal to the class average, the model is going to output a +1; otherwise a -1.</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43" t="-2241"/>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4716562" y="4921081"/>
            <a:ext cx="3124636" cy="1514686"/>
          </a:xfrm>
          <a:prstGeom prst="rect">
            <a:avLst/>
          </a:prstGeom>
        </p:spPr>
      </p:pic>
      <p:sp>
        <p:nvSpPr>
          <p:cNvPr id="5" name="Slide Number Placeholder 4"/>
          <p:cNvSpPr>
            <a:spLocks noGrp="1"/>
          </p:cNvSpPr>
          <p:nvPr>
            <p:ph type="sldNum" sz="quarter" idx="12"/>
          </p:nvPr>
        </p:nvSpPr>
        <p:spPr/>
        <p:txBody>
          <a:bodyPr/>
          <a:lstStyle/>
          <a:p>
            <a:fld id="{CF30C0FC-5B0F-4BAF-9960-46D27991E18D}" type="slidenum">
              <a:rPr lang="en-US" smtClean="0"/>
              <a:t>4</a:t>
            </a:fld>
            <a:endParaRPr lang="en-US"/>
          </a:p>
        </p:txBody>
      </p:sp>
    </p:spTree>
    <p:extLst>
      <p:ext uri="{BB962C8B-B14F-4D97-AF65-F5344CB8AC3E}">
        <p14:creationId xmlns:p14="http://schemas.microsoft.com/office/powerpoint/2010/main" val="14174127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Perceptron</a:t>
            </a:r>
            <a:endParaRPr lang="en-US" dirty="0"/>
          </a:p>
        </p:txBody>
      </p:sp>
      <p:pic>
        <p:nvPicPr>
          <p:cNvPr id="5" name="Content Placeholder 4"/>
          <p:cNvPicPr>
            <a:picLocks noGrp="1" noChangeAspect="1"/>
          </p:cNvPicPr>
          <p:nvPr>
            <p:ph idx="1"/>
          </p:nvPr>
        </p:nvPicPr>
        <p:blipFill>
          <a:blip r:embed="rId2"/>
          <a:stretch>
            <a:fillRect/>
          </a:stretch>
        </p:blipFill>
        <p:spPr>
          <a:xfrm>
            <a:off x="838200" y="1702474"/>
            <a:ext cx="1314633" cy="409632"/>
          </a:xfrm>
          <a:prstGeom prst="rect">
            <a:avLst/>
          </a:prstGeom>
        </p:spPr>
      </p:pic>
      <p:pic>
        <p:nvPicPr>
          <p:cNvPr id="4" name="Picture 3"/>
          <p:cNvPicPr>
            <a:picLocks noChangeAspect="1"/>
          </p:cNvPicPr>
          <p:nvPr/>
        </p:nvPicPr>
        <p:blipFill>
          <a:blip r:embed="rId3"/>
          <a:stretch>
            <a:fillRect/>
          </a:stretch>
        </p:blipFill>
        <p:spPr>
          <a:xfrm>
            <a:off x="4282439" y="1895504"/>
            <a:ext cx="4982270" cy="4315427"/>
          </a:xfrm>
          <a:prstGeom prst="rect">
            <a:avLst/>
          </a:prstGeom>
        </p:spPr>
      </p:pic>
      <p:pic>
        <p:nvPicPr>
          <p:cNvPr id="6" name="Picture 5"/>
          <p:cNvPicPr>
            <a:picLocks noChangeAspect="1"/>
          </p:cNvPicPr>
          <p:nvPr/>
        </p:nvPicPr>
        <p:blipFill>
          <a:blip r:embed="rId4"/>
          <a:stretch>
            <a:fillRect/>
          </a:stretch>
        </p:blipFill>
        <p:spPr>
          <a:xfrm>
            <a:off x="838200" y="2943157"/>
            <a:ext cx="3172268" cy="971686"/>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xmlns="" id="{6AE8C051-C92D-44A0-9EFB-84E6595AF0BC}"/>
                  </a:ext>
                </a:extLst>
              </p:cNvPr>
              <p:cNvSpPr txBox="1"/>
              <p:nvPr/>
            </p:nvSpPr>
            <p:spPr>
              <a:xfrm>
                <a:off x="9759754" y="5202247"/>
                <a:ext cx="2023824" cy="923330"/>
              </a:xfrm>
              <a:prstGeom prst="rect">
                <a:avLst/>
              </a:prstGeom>
              <a:noFill/>
            </p:spPr>
            <p:txBody>
              <a:bodyPr wrap="none" rtlCol="0">
                <a:spAutoFit/>
              </a:bodyPr>
              <a:lstStyle/>
              <a:p>
                <a:r>
                  <a:rPr lang="en-US" dirty="0"/>
                  <a:t>2D     -&gt; line</a:t>
                </a:r>
              </a:p>
              <a:p>
                <a:r>
                  <a:rPr lang="en-US" dirty="0"/>
                  <a:t>3D     -&gt; plane</a:t>
                </a:r>
              </a:p>
              <a:p>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4D  -&gt; hyperplane</a:t>
                </a:r>
              </a:p>
            </p:txBody>
          </p:sp>
        </mc:Choice>
        <mc:Fallback>
          <p:sp>
            <p:nvSpPr>
              <p:cNvPr id="7" name="TextBox 6">
                <a:extLst>
                  <a:ext uri="{FF2B5EF4-FFF2-40B4-BE49-F238E27FC236}">
                    <a16:creationId xmlns:a16="http://schemas.microsoft.com/office/drawing/2014/main" xmlns="" xmlns:a14="http://schemas.microsoft.com/office/drawing/2010/main" id="{6AE8C051-C92D-44A0-9EFB-84E6595AF0BC}"/>
                  </a:ext>
                </a:extLst>
              </p:cNvPr>
              <p:cNvSpPr txBox="1">
                <a:spLocks noRot="1" noChangeAspect="1" noMove="1" noResize="1" noEditPoints="1" noAdjustHandles="1" noChangeArrowheads="1" noChangeShapeType="1" noTextEdit="1"/>
              </p:cNvSpPr>
              <p:nvPr/>
            </p:nvSpPr>
            <p:spPr>
              <a:xfrm>
                <a:off x="9759754" y="5202247"/>
                <a:ext cx="2023824" cy="923330"/>
              </a:xfrm>
              <a:prstGeom prst="rect">
                <a:avLst/>
              </a:prstGeom>
              <a:blipFill rotWithShape="0">
                <a:blip r:embed="rId5"/>
                <a:stretch>
                  <a:fillRect l="-2410" t="-3289" r="-2108" b="-9211"/>
                </a:stretch>
              </a:blipFill>
            </p:spPr>
            <p:txBody>
              <a:bodyPr/>
              <a:lstStyle/>
              <a:p>
                <a:r>
                  <a:rPr lang="en-US">
                    <a:noFill/>
                  </a:rPr>
                  <a:t> </a:t>
                </a:r>
              </a:p>
            </p:txBody>
          </p:sp>
        </mc:Fallback>
      </mc:AlternateContent>
      <p:sp>
        <p:nvSpPr>
          <p:cNvPr id="8" name="Slide Number Placeholder 7"/>
          <p:cNvSpPr>
            <a:spLocks noGrp="1"/>
          </p:cNvSpPr>
          <p:nvPr>
            <p:ph type="sldNum" sz="quarter" idx="12"/>
          </p:nvPr>
        </p:nvSpPr>
        <p:spPr/>
        <p:txBody>
          <a:bodyPr/>
          <a:lstStyle/>
          <a:p>
            <a:fld id="{CF30C0FC-5B0F-4BAF-9960-46D27991E18D}" type="slidenum">
              <a:rPr lang="en-US" smtClean="0"/>
              <a:t>5</a:t>
            </a:fld>
            <a:endParaRPr lang="en-US"/>
          </a:p>
        </p:txBody>
      </p:sp>
    </p:spTree>
    <p:extLst>
      <p:ext uri="{BB962C8B-B14F-4D97-AF65-F5344CB8AC3E}">
        <p14:creationId xmlns:p14="http://schemas.microsoft.com/office/powerpoint/2010/main" val="32321866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smtClean="0"/>
                  <a:t>How do we know the right values of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 ?</m:t>
                    </m:r>
                  </m:oMath>
                </a14:m>
                <a:endParaRPr lang="en-US" dirty="0" smtClean="0"/>
              </a:p>
              <a:p>
                <a:r>
                  <a:rPr lang="en-US" dirty="0" smtClean="0"/>
                  <a:t>Linear perceptron model can learn provided that the dataset is linearly separable.</a:t>
                </a:r>
              </a:p>
              <a:p>
                <a:r>
                  <a:rPr lang="en-US" dirty="0" smtClean="0"/>
                  <a:t>As we move on to much more complex problems, such as object recognition and text analysis, our data becomes extremely high dimensional, and the relationships we want to capture becomes highly nonlinear.</a:t>
                </a: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43" t="-2241"/>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4325112" y="4375517"/>
            <a:ext cx="6873879" cy="2482483"/>
          </a:xfrm>
          <a:prstGeom prst="rect">
            <a:avLst/>
          </a:prstGeom>
        </p:spPr>
      </p:pic>
      <p:sp>
        <p:nvSpPr>
          <p:cNvPr id="5" name="Slide Number Placeholder 4"/>
          <p:cNvSpPr>
            <a:spLocks noGrp="1"/>
          </p:cNvSpPr>
          <p:nvPr>
            <p:ph type="sldNum" sz="quarter" idx="12"/>
          </p:nvPr>
        </p:nvSpPr>
        <p:spPr/>
        <p:txBody>
          <a:bodyPr/>
          <a:lstStyle/>
          <a:p>
            <a:fld id="{CF30C0FC-5B0F-4BAF-9960-46D27991E18D}" type="slidenum">
              <a:rPr lang="en-US" smtClean="0"/>
              <a:t>6</a:t>
            </a:fld>
            <a:endParaRPr lang="en-US"/>
          </a:p>
        </p:txBody>
      </p:sp>
    </p:spTree>
    <p:extLst>
      <p:ext uri="{BB962C8B-B14F-4D97-AF65-F5344CB8AC3E}">
        <p14:creationId xmlns:p14="http://schemas.microsoft.com/office/powerpoint/2010/main" val="1260413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
            </a:r>
            <a:r>
              <a:rPr lang="en-US" dirty="0" smtClean="0"/>
              <a:t>euron</a:t>
            </a:r>
            <a:endParaRPr lang="en-US" dirty="0"/>
          </a:p>
        </p:txBody>
      </p:sp>
      <p:sp>
        <p:nvSpPr>
          <p:cNvPr id="3" name="Content Placeholder 2"/>
          <p:cNvSpPr>
            <a:spLocks noGrp="1"/>
          </p:cNvSpPr>
          <p:nvPr>
            <p:ph idx="1"/>
          </p:nvPr>
        </p:nvSpPr>
        <p:spPr/>
        <p:txBody>
          <a:bodyPr/>
          <a:lstStyle/>
          <a:p>
            <a:r>
              <a:rPr lang="en-US" dirty="0" smtClean="0"/>
              <a:t>Foundational unit of a human brain is a neuron.</a:t>
            </a:r>
          </a:p>
          <a:p>
            <a:r>
              <a:rPr lang="en-US" dirty="0" smtClean="0"/>
              <a:t>A tiny piece of a brain, about the size of grain of rice, contains over 10,000 neurons, each of which forms an average of 6,000 connections with other neurons. </a:t>
            </a:r>
          </a:p>
          <a:p>
            <a:r>
              <a:rPr lang="en-US" dirty="0" smtClean="0"/>
              <a:t>It’s this massive biological network that enables us to experience the world around us. </a:t>
            </a:r>
            <a:endParaRPr lang="en-US" dirty="0"/>
          </a:p>
        </p:txBody>
      </p:sp>
      <p:sp>
        <p:nvSpPr>
          <p:cNvPr id="4" name="Slide Number Placeholder 3"/>
          <p:cNvSpPr>
            <a:spLocks noGrp="1"/>
          </p:cNvSpPr>
          <p:nvPr>
            <p:ph type="sldNum" sz="quarter" idx="12"/>
          </p:nvPr>
        </p:nvSpPr>
        <p:spPr/>
        <p:txBody>
          <a:bodyPr/>
          <a:lstStyle/>
          <a:p>
            <a:fld id="{CF30C0FC-5B0F-4BAF-9960-46D27991E18D}" type="slidenum">
              <a:rPr lang="en-US" smtClean="0"/>
              <a:t>7</a:t>
            </a:fld>
            <a:endParaRPr lang="en-US"/>
          </a:p>
        </p:txBody>
      </p:sp>
    </p:spTree>
    <p:extLst>
      <p:ext uri="{BB962C8B-B14F-4D97-AF65-F5344CB8AC3E}">
        <p14:creationId xmlns:p14="http://schemas.microsoft.com/office/powerpoint/2010/main" val="28195862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026408" cy="1325563"/>
          </a:xfrm>
        </p:spPr>
        <p:txBody>
          <a:bodyPr>
            <a:normAutofit fontScale="90000"/>
          </a:bodyPr>
          <a:lstStyle/>
          <a:p>
            <a:r>
              <a:rPr lang="en-US" dirty="0" smtClean="0"/>
              <a:t>Expressing linear perceptron as neurons</a:t>
            </a:r>
            <a:endParaRPr lang="en-US" dirty="0"/>
          </a:p>
        </p:txBody>
      </p:sp>
      <p:pic>
        <p:nvPicPr>
          <p:cNvPr id="4" name="Picture 3"/>
          <p:cNvPicPr>
            <a:picLocks noChangeAspect="1"/>
          </p:cNvPicPr>
          <p:nvPr/>
        </p:nvPicPr>
        <p:blipFill>
          <a:blip r:embed="rId2"/>
          <a:stretch>
            <a:fillRect/>
          </a:stretch>
        </p:blipFill>
        <p:spPr>
          <a:xfrm>
            <a:off x="4957252" y="413916"/>
            <a:ext cx="7306695" cy="6030167"/>
          </a:xfrm>
          <a:prstGeom prst="rect">
            <a:avLst/>
          </a:prstGeom>
        </p:spPr>
      </p:pic>
      <mc:AlternateContent xmlns:mc="http://schemas.openxmlformats.org/markup-compatibility/2006">
        <mc:Choice xmlns:a14="http://schemas.microsoft.com/office/drawing/2010/main" Requires="a14">
          <p:sp>
            <p:nvSpPr>
              <p:cNvPr id="5" name="TextBox 4"/>
              <p:cNvSpPr txBox="1"/>
              <p:nvPr/>
            </p:nvSpPr>
            <p:spPr>
              <a:xfrm>
                <a:off x="557784" y="1861771"/>
                <a:ext cx="4242816" cy="2008370"/>
              </a:xfrm>
              <a:prstGeom prst="rect">
                <a:avLst/>
              </a:prstGeom>
              <a:noFill/>
            </p:spPr>
            <p:txBody>
              <a:bodyPr wrap="square" rtlCol="0">
                <a:spAutoFit/>
              </a:bodyPr>
              <a:lstStyle/>
              <a:p>
                <a:r>
                  <a:rPr lang="en-US" dirty="0" smtClean="0"/>
                  <a:t>Artificial Neuron:</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oMath>
                  </m:oMathPara>
                </a14:m>
                <a:endParaRPr lang="en-US" dirty="0" smtClean="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𝑛</m:t>
                              </m:r>
                            </m:sub>
                          </m:sSub>
                        </m:e>
                      </m:d>
                    </m:oMath>
                  </m:oMathPara>
                </a14:m>
                <a:endParaRPr lang="en-US" b="0" dirty="0" smtClean="0"/>
              </a:p>
              <a:p>
                <a:r>
                  <a:rPr lang="en-US" dirty="0" err="1" smtClean="0"/>
                  <a:t>Logits</a:t>
                </a:r>
                <a:r>
                  <a:rPr lang="en-US" dirty="0" smtClean="0"/>
                  <a:t> of a neuron = </a:t>
                </a:r>
                <a:r>
                  <a:rPr lang="en-US" i="1" dirty="0" smtClean="0"/>
                  <a:t>z</a:t>
                </a:r>
                <a:endParaRPr lang="en-US" dirty="0" smtClean="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𝑏</m:t>
                          </m:r>
                        </m:e>
                      </m:nary>
                    </m:oMath>
                  </m:oMathPara>
                </a14:m>
                <a:endParaRPr lang="en-US" i="1" dirty="0"/>
              </a:p>
            </p:txBody>
          </p:sp>
        </mc:Choice>
        <mc:Fallback>
          <p:sp>
            <p:nvSpPr>
              <p:cNvPr id="5" name="TextBox 4"/>
              <p:cNvSpPr txBox="1">
                <a:spLocks noRot="1" noChangeAspect="1" noMove="1" noResize="1" noEditPoints="1" noAdjustHandles="1" noChangeArrowheads="1" noChangeShapeType="1" noTextEdit="1"/>
              </p:cNvSpPr>
              <p:nvPr/>
            </p:nvSpPr>
            <p:spPr>
              <a:xfrm>
                <a:off x="557784" y="1861771"/>
                <a:ext cx="4242816" cy="2008370"/>
              </a:xfrm>
              <a:prstGeom prst="rect">
                <a:avLst/>
              </a:prstGeom>
              <a:blipFill rotWithShape="0">
                <a:blip r:embed="rId3"/>
                <a:stretch>
                  <a:fillRect l="-1293" t="-1515"/>
                </a:stretch>
              </a:blipFill>
            </p:spPr>
            <p:txBody>
              <a:bodyPr/>
              <a:lstStyle/>
              <a:p>
                <a:r>
                  <a:rPr lang="en-US">
                    <a:noFill/>
                  </a:rPr>
                  <a:t> </a:t>
                </a:r>
              </a:p>
            </p:txBody>
          </p:sp>
        </mc:Fallback>
      </mc:AlternateContent>
      <p:pic>
        <p:nvPicPr>
          <p:cNvPr id="6" name="Picture 5"/>
          <p:cNvPicPr>
            <a:picLocks noChangeAspect="1"/>
          </p:cNvPicPr>
          <p:nvPr/>
        </p:nvPicPr>
        <p:blipFill>
          <a:blip r:embed="rId4"/>
          <a:stretch>
            <a:fillRect/>
          </a:stretch>
        </p:blipFill>
        <p:spPr>
          <a:xfrm>
            <a:off x="459641" y="3917135"/>
            <a:ext cx="1895740" cy="1343213"/>
          </a:xfrm>
          <a:prstGeom prst="rect">
            <a:avLst/>
          </a:prstGeom>
        </p:spPr>
      </p:pic>
      <p:pic>
        <p:nvPicPr>
          <p:cNvPr id="7" name="Picture 6"/>
          <p:cNvPicPr>
            <a:picLocks noChangeAspect="1"/>
          </p:cNvPicPr>
          <p:nvPr/>
        </p:nvPicPr>
        <p:blipFill>
          <a:blip r:embed="rId5"/>
          <a:stretch>
            <a:fillRect/>
          </a:stretch>
        </p:blipFill>
        <p:spPr>
          <a:xfrm>
            <a:off x="100419" y="5231833"/>
            <a:ext cx="3200847" cy="838317"/>
          </a:xfrm>
          <a:prstGeom prst="rect">
            <a:avLst/>
          </a:prstGeom>
        </p:spPr>
      </p:pic>
      <p:pic>
        <p:nvPicPr>
          <p:cNvPr id="8" name="Picture 7"/>
          <p:cNvPicPr>
            <a:picLocks noChangeAspect="1"/>
          </p:cNvPicPr>
          <p:nvPr/>
        </p:nvPicPr>
        <p:blipFill>
          <a:blip r:embed="rId6"/>
          <a:stretch>
            <a:fillRect/>
          </a:stretch>
        </p:blipFill>
        <p:spPr>
          <a:xfrm>
            <a:off x="2779894" y="4280475"/>
            <a:ext cx="1752845" cy="857370"/>
          </a:xfrm>
          <a:prstGeom prst="rect">
            <a:avLst/>
          </a:prstGeom>
        </p:spPr>
      </p:pic>
      <p:sp>
        <p:nvSpPr>
          <p:cNvPr id="9" name="Slide Number Placeholder 8"/>
          <p:cNvSpPr>
            <a:spLocks noGrp="1"/>
          </p:cNvSpPr>
          <p:nvPr>
            <p:ph type="sldNum" sz="quarter" idx="12"/>
          </p:nvPr>
        </p:nvSpPr>
        <p:spPr/>
        <p:txBody>
          <a:bodyPr/>
          <a:lstStyle/>
          <a:p>
            <a:fld id="{CF30C0FC-5B0F-4BAF-9960-46D27991E18D}" type="slidenum">
              <a:rPr lang="en-US" smtClean="0"/>
              <a:t>8</a:t>
            </a:fld>
            <a:endParaRPr lang="en-US"/>
          </a:p>
        </p:txBody>
      </p:sp>
    </p:spTree>
    <p:extLst>
      <p:ext uri="{BB962C8B-B14F-4D97-AF65-F5344CB8AC3E}">
        <p14:creationId xmlns:p14="http://schemas.microsoft.com/office/powerpoint/2010/main" val="1869874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Feed-forward neural networks</a:t>
            </a:r>
            <a:endParaRPr lang="en-US" dirty="0"/>
          </a:p>
        </p:txBody>
      </p:sp>
      <p:sp>
        <p:nvSpPr>
          <p:cNvPr id="3" name="Content Placeholder 2"/>
          <p:cNvSpPr>
            <a:spLocks noGrp="1"/>
          </p:cNvSpPr>
          <p:nvPr>
            <p:ph idx="1"/>
          </p:nvPr>
        </p:nvSpPr>
        <p:spPr/>
        <p:txBody>
          <a:bodyPr/>
          <a:lstStyle/>
          <a:p>
            <a:r>
              <a:rPr lang="en-US" dirty="0" smtClean="0"/>
              <a:t>A single neuron is not expressive enough to solve complicated learning problems.</a:t>
            </a:r>
          </a:p>
          <a:p>
            <a:r>
              <a:rPr lang="en-US" dirty="0" smtClean="0"/>
              <a:t>That’s the reason, our brain is made of more than one neuron.</a:t>
            </a:r>
          </a:p>
          <a:p>
            <a:r>
              <a:rPr lang="en-US" dirty="0" smtClean="0"/>
              <a:t>In fact, the neurons in our brain are organized in layers. </a:t>
            </a:r>
          </a:p>
          <a:p>
            <a:r>
              <a:rPr lang="en-US" dirty="0" smtClean="0"/>
              <a:t>The human cerebral cortex (the structure responsible for most of the human intelligence) is made up of 6 layers.</a:t>
            </a:r>
          </a:p>
          <a:p>
            <a:r>
              <a:rPr lang="en-US" dirty="0" smtClean="0"/>
              <a:t>Information flows from one layer to another until sensory input is converted into conceptual understanding. </a:t>
            </a:r>
            <a:endParaRPr lang="en-US" dirty="0"/>
          </a:p>
        </p:txBody>
      </p:sp>
      <p:sp>
        <p:nvSpPr>
          <p:cNvPr id="4" name="Slide Number Placeholder 3"/>
          <p:cNvSpPr>
            <a:spLocks noGrp="1"/>
          </p:cNvSpPr>
          <p:nvPr>
            <p:ph type="sldNum" sz="quarter" idx="12"/>
          </p:nvPr>
        </p:nvSpPr>
        <p:spPr/>
        <p:txBody>
          <a:bodyPr/>
          <a:lstStyle/>
          <a:p>
            <a:fld id="{CF30C0FC-5B0F-4BAF-9960-46D27991E18D}" type="slidenum">
              <a:rPr lang="en-US" smtClean="0"/>
              <a:t>9</a:t>
            </a:fld>
            <a:endParaRPr lang="en-US"/>
          </a:p>
        </p:txBody>
      </p:sp>
    </p:spTree>
    <p:extLst>
      <p:ext uri="{BB962C8B-B14F-4D97-AF65-F5344CB8AC3E}">
        <p14:creationId xmlns:p14="http://schemas.microsoft.com/office/powerpoint/2010/main" val="26211372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25056" cy="1325563"/>
          </a:xfrm>
        </p:spPr>
        <p:txBody>
          <a:bodyPr/>
          <a:lstStyle/>
          <a:p>
            <a:r>
              <a:rPr lang="en-US" dirty="0" smtClean="0"/>
              <a:t>Feed-forward neural network</a:t>
            </a:r>
            <a:endParaRPr lang="en-US" dirty="0"/>
          </a:p>
        </p:txBody>
      </p:sp>
      <p:pic>
        <p:nvPicPr>
          <p:cNvPr id="4" name="Picture 3"/>
          <p:cNvPicPr>
            <a:picLocks noChangeAspect="1"/>
          </p:cNvPicPr>
          <p:nvPr/>
        </p:nvPicPr>
        <p:blipFill>
          <a:blip r:embed="rId2"/>
          <a:stretch>
            <a:fillRect/>
          </a:stretch>
        </p:blipFill>
        <p:spPr>
          <a:xfrm>
            <a:off x="7536227" y="342469"/>
            <a:ext cx="4782217" cy="6173061"/>
          </a:xfrm>
          <a:prstGeom prst="rect">
            <a:avLst/>
          </a:prstGeom>
        </p:spPr>
      </p:pic>
      <p:sp>
        <p:nvSpPr>
          <p:cNvPr id="6" name="TextBox 5"/>
          <p:cNvSpPr txBox="1"/>
          <p:nvPr/>
        </p:nvSpPr>
        <p:spPr>
          <a:xfrm>
            <a:off x="838200" y="1600200"/>
            <a:ext cx="6449568" cy="3416320"/>
          </a:xfrm>
          <a:prstGeom prst="rect">
            <a:avLst/>
          </a:prstGeom>
          <a:noFill/>
        </p:spPr>
        <p:txBody>
          <a:bodyPr wrap="square" rtlCol="0">
            <a:spAutoFit/>
          </a:bodyPr>
          <a:lstStyle/>
          <a:p>
            <a:r>
              <a:rPr lang="en-US" dirty="0" smtClean="0"/>
              <a:t>Input Layer:</a:t>
            </a:r>
          </a:p>
          <a:p>
            <a:pPr marL="285750" indent="-285750">
              <a:buFont typeface="Arial" panose="020B0604020202020204" pitchFamily="34" charset="0"/>
              <a:buChar char="•"/>
            </a:pPr>
            <a:r>
              <a:rPr lang="en-US" dirty="0" smtClean="0"/>
              <a:t>Introduces raw input data into the network</a:t>
            </a:r>
          </a:p>
          <a:p>
            <a:pPr marL="285750" indent="-285750">
              <a:buFont typeface="Arial" panose="020B0604020202020204" pitchFamily="34" charset="0"/>
              <a:buChar char="•"/>
            </a:pPr>
            <a:r>
              <a:rPr lang="en-US" dirty="0" smtClean="0"/>
              <a:t>Each neuron in this layer corresponds to one feature of the input data.</a:t>
            </a:r>
          </a:p>
          <a:p>
            <a:pPr marL="285750" indent="-285750">
              <a:buFont typeface="Arial" panose="020B0604020202020204" pitchFamily="34" charset="0"/>
              <a:buChar char="•"/>
            </a:pPr>
            <a:r>
              <a:rPr lang="en-US" dirty="0" smtClean="0"/>
              <a:t>The input layer does not perform any computation; it simply passes the data to the next layer.</a:t>
            </a:r>
          </a:p>
          <a:p>
            <a:r>
              <a:rPr lang="en-US" dirty="0" smtClean="0"/>
              <a:t>Hidden Layer:</a:t>
            </a:r>
          </a:p>
          <a:p>
            <a:pPr marL="285750" indent="-285750">
              <a:buFont typeface="Arial" panose="020B0604020202020204" pitchFamily="34" charset="0"/>
              <a:buChar char="•"/>
            </a:pPr>
            <a:r>
              <a:rPr lang="en-US" dirty="0" smtClean="0"/>
              <a:t>Hidden layers are where the majority of the learning happens.</a:t>
            </a:r>
          </a:p>
          <a:p>
            <a:r>
              <a:rPr lang="en-US" dirty="0" smtClean="0"/>
              <a:t>Output Layer:</a:t>
            </a:r>
          </a:p>
          <a:p>
            <a:pPr marL="285750" indent="-285750">
              <a:buFont typeface="Arial" panose="020B0604020202020204" pitchFamily="34" charset="0"/>
              <a:buChar char="•"/>
            </a:pPr>
            <a:r>
              <a:rPr lang="en-US" dirty="0" smtClean="0"/>
              <a:t>Produces the final output of the network, which can be:</a:t>
            </a:r>
          </a:p>
          <a:p>
            <a:pPr marL="742950" lvl="1" indent="-285750">
              <a:buFont typeface="Arial" panose="020B0604020202020204" pitchFamily="34" charset="0"/>
              <a:buChar char="•"/>
            </a:pPr>
            <a:r>
              <a:rPr lang="en-US" dirty="0" smtClean="0"/>
              <a:t>A single value (e.g., regression).</a:t>
            </a:r>
          </a:p>
          <a:p>
            <a:pPr marL="742950" lvl="1" indent="-285750">
              <a:buFont typeface="Arial" panose="020B0604020202020204" pitchFamily="34" charset="0"/>
              <a:buChar char="•"/>
            </a:pPr>
            <a:r>
              <a:rPr lang="en-US" dirty="0" smtClean="0"/>
              <a:t>Class probabilities (e.g., classification).</a:t>
            </a:r>
            <a:endParaRPr lang="en-US" dirty="0"/>
          </a:p>
        </p:txBody>
      </p:sp>
      <p:pic>
        <p:nvPicPr>
          <p:cNvPr id="7" name="Picture 6"/>
          <p:cNvPicPr>
            <a:picLocks noChangeAspect="1"/>
          </p:cNvPicPr>
          <p:nvPr/>
        </p:nvPicPr>
        <p:blipFill>
          <a:blip r:embed="rId3"/>
          <a:stretch>
            <a:fillRect/>
          </a:stretch>
        </p:blipFill>
        <p:spPr>
          <a:xfrm>
            <a:off x="413725" y="5016520"/>
            <a:ext cx="7587275" cy="1449903"/>
          </a:xfrm>
          <a:prstGeom prst="rect">
            <a:avLst/>
          </a:prstGeom>
        </p:spPr>
      </p:pic>
      <p:sp>
        <p:nvSpPr>
          <p:cNvPr id="8" name="Slide Number Placeholder 7"/>
          <p:cNvSpPr>
            <a:spLocks noGrp="1"/>
          </p:cNvSpPr>
          <p:nvPr>
            <p:ph type="sldNum" sz="quarter" idx="12"/>
          </p:nvPr>
        </p:nvSpPr>
        <p:spPr/>
        <p:txBody>
          <a:bodyPr/>
          <a:lstStyle/>
          <a:p>
            <a:fld id="{CF30C0FC-5B0F-4BAF-9960-46D27991E18D}" type="slidenum">
              <a:rPr lang="en-US" smtClean="0"/>
              <a:t>10</a:t>
            </a:fld>
            <a:endParaRPr lang="en-US"/>
          </a:p>
        </p:txBody>
      </p:sp>
    </p:spTree>
    <p:extLst>
      <p:ext uri="{BB962C8B-B14F-4D97-AF65-F5344CB8AC3E}">
        <p14:creationId xmlns:p14="http://schemas.microsoft.com/office/powerpoint/2010/main" val="40313831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Neurons and their limitations</a:t>
            </a:r>
            <a:endParaRPr lang="en-US" dirty="0"/>
          </a:p>
        </p:txBody>
      </p:sp>
      <p:sp>
        <p:nvSpPr>
          <p:cNvPr id="3" name="Content Placeholder 2"/>
          <p:cNvSpPr>
            <a:spLocks noGrp="1"/>
          </p:cNvSpPr>
          <p:nvPr>
            <p:ph idx="1"/>
          </p:nvPr>
        </p:nvSpPr>
        <p:spPr/>
        <p:txBody>
          <a:bodyPr/>
          <a:lstStyle/>
          <a:p>
            <a:r>
              <a:rPr lang="en-US" dirty="0" smtClean="0"/>
              <a:t>Linear neurons are easy to compute with, but they run into serious limitations.</a:t>
            </a:r>
          </a:p>
          <a:p>
            <a:r>
              <a:rPr lang="en-US" dirty="0" err="1" smtClean="0"/>
              <a:t>Infact</a:t>
            </a:r>
            <a:r>
              <a:rPr lang="en-US" dirty="0" smtClean="0"/>
              <a:t>, it can be shown that any feed-forward neural network consisting of only linear neurons can be expressed as a network with no hidden layers.</a:t>
            </a:r>
          </a:p>
          <a:p>
            <a:r>
              <a:rPr lang="en-US" dirty="0" smtClean="0"/>
              <a:t>This is problematic because, as we discussed, hidden layers are what enable us to learn important features from the input data. In other words, to learn complex relationships, we need to use neurons that employ some sort of nonlinearity.</a:t>
            </a:r>
            <a:endParaRPr lang="en-US" dirty="0"/>
          </a:p>
        </p:txBody>
      </p:sp>
      <p:sp>
        <p:nvSpPr>
          <p:cNvPr id="4" name="Slide Number Placeholder 3"/>
          <p:cNvSpPr>
            <a:spLocks noGrp="1"/>
          </p:cNvSpPr>
          <p:nvPr>
            <p:ph type="sldNum" sz="quarter" idx="12"/>
          </p:nvPr>
        </p:nvSpPr>
        <p:spPr/>
        <p:txBody>
          <a:bodyPr/>
          <a:lstStyle/>
          <a:p>
            <a:fld id="{CF30C0FC-5B0F-4BAF-9960-46D27991E18D}" type="slidenum">
              <a:rPr lang="en-US" smtClean="0"/>
              <a:t>11</a:t>
            </a:fld>
            <a:endParaRPr lang="en-US"/>
          </a:p>
        </p:txBody>
      </p:sp>
      <p:grpSp>
        <p:nvGrpSpPr>
          <p:cNvPr id="5" name="Group 4">
            <a:extLst>
              <a:ext uri="{FF2B5EF4-FFF2-40B4-BE49-F238E27FC236}">
                <a16:creationId xmlns="" xmlns:a16="http://schemas.microsoft.com/office/drawing/2014/main" id="{24411621-883E-42A7-9E7E-21704A7D8C55}"/>
              </a:ext>
            </a:extLst>
          </p:cNvPr>
          <p:cNvGrpSpPr/>
          <p:nvPr/>
        </p:nvGrpSpPr>
        <p:grpSpPr>
          <a:xfrm>
            <a:off x="7075274" y="5202936"/>
            <a:ext cx="3367174" cy="1659391"/>
            <a:chOff x="7934337" y="2802886"/>
            <a:chExt cx="3641218" cy="1874705"/>
          </a:xfrm>
        </p:grpSpPr>
        <p:sp>
          <p:nvSpPr>
            <p:cNvPr id="6" name="Oval 5">
              <a:extLst>
                <a:ext uri="{FF2B5EF4-FFF2-40B4-BE49-F238E27FC236}">
                  <a16:creationId xmlns="" xmlns:a16="http://schemas.microsoft.com/office/drawing/2014/main" id="{33493B74-4C07-480C-B7C6-E5C7A5A4F573}"/>
                </a:ext>
              </a:extLst>
            </p:cNvPr>
            <p:cNvSpPr/>
            <p:nvPr/>
          </p:nvSpPr>
          <p:spPr>
            <a:xfrm>
              <a:off x="8989892" y="3429000"/>
              <a:ext cx="678094" cy="681355"/>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l-GR" sz="3600" dirty="0">
                  <a:latin typeface="Times New Roman" panose="02020603050405020304" pitchFamily="18" charset="0"/>
                  <a:cs typeface="Times New Roman" panose="02020603050405020304" pitchFamily="18" charset="0"/>
                </a:rPr>
                <a:t>Σ</a:t>
              </a:r>
              <a:endParaRPr lang="en-US" sz="3600" dirty="0"/>
            </a:p>
          </p:txBody>
        </p:sp>
        <p:sp>
          <p:nvSpPr>
            <p:cNvPr id="7" name="Oval 6">
              <a:extLst>
                <a:ext uri="{FF2B5EF4-FFF2-40B4-BE49-F238E27FC236}">
                  <a16:creationId xmlns="" xmlns:a16="http://schemas.microsoft.com/office/drawing/2014/main" id="{77DE30C5-2451-4AC1-84AF-7B1E128AD039}"/>
                </a:ext>
              </a:extLst>
            </p:cNvPr>
            <p:cNvSpPr/>
            <p:nvPr/>
          </p:nvSpPr>
          <p:spPr>
            <a:xfrm>
              <a:off x="10229629" y="3428999"/>
              <a:ext cx="678094" cy="68135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A</a:t>
              </a:r>
            </a:p>
          </p:txBody>
        </p:sp>
        <p:cxnSp>
          <p:nvCxnSpPr>
            <p:cNvPr id="8" name="Straight Connector 7">
              <a:extLst>
                <a:ext uri="{FF2B5EF4-FFF2-40B4-BE49-F238E27FC236}">
                  <a16:creationId xmlns="" xmlns:a16="http://schemas.microsoft.com/office/drawing/2014/main" id="{6EA8F280-A6BD-40EE-BF8E-85E1E82E8B12}"/>
                </a:ext>
              </a:extLst>
            </p:cNvPr>
            <p:cNvCxnSpPr>
              <a:endCxn id="6" idx="1"/>
            </p:cNvCxnSpPr>
            <p:nvPr/>
          </p:nvCxnSpPr>
          <p:spPr>
            <a:xfrm>
              <a:off x="8496733" y="3041151"/>
              <a:ext cx="592464" cy="487631"/>
            </a:xfrm>
            <a:prstGeom prst="line">
              <a:avLst/>
            </a:prstGeom>
          </p:spPr>
          <p:style>
            <a:lnRef idx="2">
              <a:schemeClr val="accent6"/>
            </a:lnRef>
            <a:fillRef idx="0">
              <a:schemeClr val="accent6"/>
            </a:fillRef>
            <a:effectRef idx="1">
              <a:schemeClr val="accent6"/>
            </a:effectRef>
            <a:fontRef idx="minor">
              <a:schemeClr val="tx1"/>
            </a:fontRef>
          </p:style>
        </p:cxnSp>
        <p:cxnSp>
          <p:nvCxnSpPr>
            <p:cNvPr id="9" name="Straight Connector 8">
              <a:extLst>
                <a:ext uri="{FF2B5EF4-FFF2-40B4-BE49-F238E27FC236}">
                  <a16:creationId xmlns="" xmlns:a16="http://schemas.microsoft.com/office/drawing/2014/main" id="{AA668793-78E9-41DC-B895-4BBC66B8DC85}"/>
                </a:ext>
              </a:extLst>
            </p:cNvPr>
            <p:cNvCxnSpPr>
              <a:cxnSpLocks/>
              <a:stCxn id="6" idx="2"/>
            </p:cNvCxnSpPr>
            <p:nvPr/>
          </p:nvCxnSpPr>
          <p:spPr>
            <a:xfrm flipH="1">
              <a:off x="8277981" y="3769678"/>
              <a:ext cx="711911" cy="11522"/>
            </a:xfrm>
            <a:prstGeom prst="line">
              <a:avLst/>
            </a:prstGeom>
          </p:spPr>
          <p:style>
            <a:lnRef idx="2">
              <a:schemeClr val="accent6"/>
            </a:lnRef>
            <a:fillRef idx="0">
              <a:schemeClr val="accent6"/>
            </a:fillRef>
            <a:effectRef idx="1">
              <a:schemeClr val="accent6"/>
            </a:effectRef>
            <a:fontRef idx="minor">
              <a:schemeClr val="tx1"/>
            </a:fontRef>
          </p:style>
        </p:cxnSp>
        <p:cxnSp>
          <p:nvCxnSpPr>
            <p:cNvPr id="10" name="Straight Connector 9">
              <a:extLst>
                <a:ext uri="{FF2B5EF4-FFF2-40B4-BE49-F238E27FC236}">
                  <a16:creationId xmlns="" xmlns:a16="http://schemas.microsoft.com/office/drawing/2014/main" id="{8EE80B6B-84B6-4B62-B834-E65A3125D0B7}"/>
                </a:ext>
              </a:extLst>
            </p:cNvPr>
            <p:cNvCxnSpPr>
              <a:stCxn id="6" idx="3"/>
            </p:cNvCxnSpPr>
            <p:nvPr/>
          </p:nvCxnSpPr>
          <p:spPr>
            <a:xfrm flipH="1">
              <a:off x="8496733" y="4010573"/>
              <a:ext cx="592464" cy="487631"/>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Straight Connector 10">
              <a:extLst>
                <a:ext uri="{FF2B5EF4-FFF2-40B4-BE49-F238E27FC236}">
                  <a16:creationId xmlns="" xmlns:a16="http://schemas.microsoft.com/office/drawing/2014/main" id="{C1601F2E-5B07-40D9-8045-FE13612B4717}"/>
                </a:ext>
              </a:extLst>
            </p:cNvPr>
            <p:cNvCxnSpPr>
              <a:stCxn id="6" idx="6"/>
              <a:endCxn id="7" idx="2"/>
            </p:cNvCxnSpPr>
            <p:nvPr/>
          </p:nvCxnSpPr>
          <p:spPr>
            <a:xfrm flipV="1">
              <a:off x="9667986" y="3769677"/>
              <a:ext cx="561643" cy="1"/>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Straight Connector 11">
              <a:extLst>
                <a:ext uri="{FF2B5EF4-FFF2-40B4-BE49-F238E27FC236}">
                  <a16:creationId xmlns="" xmlns:a16="http://schemas.microsoft.com/office/drawing/2014/main" id="{B23C5F64-FF0D-4AE3-814B-AD352F41D40A}"/>
                </a:ext>
              </a:extLst>
            </p:cNvPr>
            <p:cNvCxnSpPr>
              <a:stCxn id="7" idx="6"/>
            </p:cNvCxnSpPr>
            <p:nvPr/>
          </p:nvCxnSpPr>
          <p:spPr>
            <a:xfrm flipV="1">
              <a:off x="10907723" y="3769676"/>
              <a:ext cx="667832" cy="1"/>
            </a:xfrm>
            <a:prstGeom prst="line">
              <a:avLst/>
            </a:prstGeom>
          </p:spPr>
          <p:style>
            <a:lnRef idx="2">
              <a:schemeClr val="accent6"/>
            </a:lnRef>
            <a:fillRef idx="0">
              <a:schemeClr val="accent6"/>
            </a:fillRef>
            <a:effectRef idx="1">
              <a:schemeClr val="accent6"/>
            </a:effectRef>
            <a:fontRef idx="minor">
              <a:schemeClr val="tx1"/>
            </a:fontRef>
          </p:style>
        </p:cxnSp>
        <p:sp>
          <p:nvSpPr>
            <p:cNvPr id="13" name="TextBox 12">
              <a:extLst>
                <a:ext uri="{FF2B5EF4-FFF2-40B4-BE49-F238E27FC236}">
                  <a16:creationId xmlns="" xmlns:a16="http://schemas.microsoft.com/office/drawing/2014/main" id="{B3C3CE31-CC7A-4EA6-932C-ED8A28597040}"/>
                </a:ext>
              </a:extLst>
            </p:cNvPr>
            <p:cNvSpPr txBox="1"/>
            <p:nvPr/>
          </p:nvSpPr>
          <p:spPr>
            <a:xfrm>
              <a:off x="8676986" y="2915634"/>
              <a:ext cx="704039" cy="369332"/>
            </a:xfrm>
            <a:prstGeom prst="rect">
              <a:avLst/>
            </a:prstGeom>
            <a:noFill/>
          </p:spPr>
          <p:txBody>
            <a:bodyPr wrap="none" rtlCol="0">
              <a:spAutoFit/>
            </a:bodyPr>
            <a:lstStyle/>
            <a:p>
              <a:r>
                <a:rPr lang="en-US" dirty="0">
                  <a:solidFill>
                    <a:schemeClr val="accent6">
                      <a:lumMod val="75000"/>
                    </a:schemeClr>
                  </a:solidFill>
                  <a:latin typeface="Arial" panose="020B0604020202020204" pitchFamily="34" charset="0"/>
                  <a:cs typeface="Arial" panose="020B0604020202020204" pitchFamily="34" charset="0"/>
                </a:rPr>
                <a:t>b </a:t>
              </a:r>
              <a:r>
                <a:rPr lang="en-US" dirty="0">
                  <a:latin typeface="Arial" panose="020B0604020202020204" pitchFamily="34" charset="0"/>
                  <a:cs typeface="Arial" panose="020B0604020202020204" pitchFamily="34" charset="0"/>
                </a:rPr>
                <a:t>= 1</a:t>
              </a:r>
            </a:p>
          </p:txBody>
        </p:sp>
        <p:sp>
          <p:nvSpPr>
            <p:cNvPr id="14" name="TextBox 13">
              <a:extLst>
                <a:ext uri="{FF2B5EF4-FFF2-40B4-BE49-F238E27FC236}">
                  <a16:creationId xmlns="" xmlns:a16="http://schemas.microsoft.com/office/drawing/2014/main" id="{EEC46498-8990-4112-82BB-58B8B08263E9}"/>
                </a:ext>
              </a:extLst>
            </p:cNvPr>
            <p:cNvSpPr txBox="1"/>
            <p:nvPr/>
          </p:nvSpPr>
          <p:spPr>
            <a:xfrm>
              <a:off x="8256993" y="3426655"/>
              <a:ext cx="827471" cy="369332"/>
            </a:xfrm>
            <a:prstGeom prst="rect">
              <a:avLst/>
            </a:prstGeom>
            <a:noFill/>
          </p:spPr>
          <p:txBody>
            <a:bodyPr wrap="none" rtlCol="0">
              <a:spAutoFit/>
            </a:bodyPr>
            <a:lstStyle/>
            <a:p>
              <a:r>
                <a:rPr lang="en-US" dirty="0">
                  <a:solidFill>
                    <a:schemeClr val="accent6">
                      <a:lumMod val="75000"/>
                    </a:schemeClr>
                  </a:solidFill>
                  <a:latin typeface="Arial" panose="020B0604020202020204" pitchFamily="34" charset="0"/>
                  <a:cs typeface="Arial" panose="020B0604020202020204" pitchFamily="34" charset="0"/>
                </a:rPr>
                <a:t>w</a:t>
              </a:r>
              <a:r>
                <a:rPr lang="en-US" baseline="-25000" dirty="0">
                  <a:solidFill>
                    <a:schemeClr val="accent6">
                      <a:lumMod val="75000"/>
                    </a:schemeClr>
                  </a:solidFill>
                  <a:latin typeface="Arial" panose="020B0604020202020204" pitchFamily="34" charset="0"/>
                  <a:cs typeface="Arial" panose="020B0604020202020204" pitchFamily="34" charset="0"/>
                </a:rPr>
                <a:t>2</a:t>
              </a:r>
              <a:r>
                <a:rPr lang="en-US" dirty="0">
                  <a:solidFill>
                    <a:schemeClr val="accent6">
                      <a:lumMod val="75000"/>
                    </a:schemeClr>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4</a:t>
              </a:r>
            </a:p>
          </p:txBody>
        </p:sp>
        <p:sp>
          <p:nvSpPr>
            <p:cNvPr id="15" name="TextBox 14">
              <a:extLst>
                <a:ext uri="{FF2B5EF4-FFF2-40B4-BE49-F238E27FC236}">
                  <a16:creationId xmlns="" xmlns:a16="http://schemas.microsoft.com/office/drawing/2014/main" id="{84DDCF4E-6461-44B8-B3F5-BD323131F808}"/>
                </a:ext>
              </a:extLst>
            </p:cNvPr>
            <p:cNvSpPr txBox="1"/>
            <p:nvPr/>
          </p:nvSpPr>
          <p:spPr>
            <a:xfrm>
              <a:off x="8729539" y="4130913"/>
              <a:ext cx="806631" cy="369332"/>
            </a:xfrm>
            <a:prstGeom prst="rect">
              <a:avLst/>
            </a:prstGeom>
            <a:noFill/>
          </p:spPr>
          <p:txBody>
            <a:bodyPr wrap="none" rtlCol="0">
              <a:spAutoFit/>
            </a:bodyPr>
            <a:lstStyle/>
            <a:p>
              <a:r>
                <a:rPr lang="en-US" dirty="0">
                  <a:solidFill>
                    <a:schemeClr val="accent6">
                      <a:lumMod val="75000"/>
                    </a:schemeClr>
                  </a:solidFill>
                  <a:latin typeface="Arial" panose="020B0604020202020204" pitchFamily="34" charset="0"/>
                  <a:cs typeface="Arial" panose="020B0604020202020204" pitchFamily="34" charset="0"/>
                </a:rPr>
                <a:t>w</a:t>
              </a:r>
              <a:r>
                <a:rPr lang="en-US" baseline="-25000" dirty="0">
                  <a:solidFill>
                    <a:schemeClr val="accent6">
                      <a:lumMod val="75000"/>
                    </a:schemeClr>
                  </a:solidFill>
                  <a:latin typeface="Arial" panose="020B0604020202020204" pitchFamily="34" charset="0"/>
                  <a:cs typeface="Arial" panose="020B0604020202020204" pitchFamily="34" charset="0"/>
                </a:rPr>
                <a:t>1 </a:t>
              </a:r>
              <a:r>
                <a:rPr lang="en-US" dirty="0">
                  <a:latin typeface="Arial" panose="020B0604020202020204" pitchFamily="34" charset="0"/>
                  <a:cs typeface="Arial" panose="020B0604020202020204" pitchFamily="34" charset="0"/>
                </a:rPr>
                <a:t>= 2</a:t>
              </a:r>
              <a:endParaRPr lang="en-US" baseline="-250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 xmlns:a16="http://schemas.microsoft.com/office/drawing/2014/main" id="{E725A66D-A8CF-455B-A87E-4A5541273E48}"/>
                </a:ext>
              </a:extLst>
            </p:cNvPr>
            <p:cNvSpPr txBox="1"/>
            <p:nvPr/>
          </p:nvSpPr>
          <p:spPr>
            <a:xfrm>
              <a:off x="8130206" y="4308259"/>
              <a:ext cx="385042"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r>
                <a:rPr lang="en-US" baseline="-25000" dirty="0">
                  <a:latin typeface="Arial" panose="020B0604020202020204" pitchFamily="34" charset="0"/>
                  <a:cs typeface="Arial" panose="020B0604020202020204" pitchFamily="34" charset="0"/>
                </a:rPr>
                <a:t>1</a:t>
              </a:r>
            </a:p>
          </p:txBody>
        </p:sp>
        <p:sp>
          <p:nvSpPr>
            <p:cNvPr id="17" name="TextBox 16">
              <a:extLst>
                <a:ext uri="{FF2B5EF4-FFF2-40B4-BE49-F238E27FC236}">
                  <a16:creationId xmlns="" xmlns:a16="http://schemas.microsoft.com/office/drawing/2014/main" id="{6BE5F1F7-CBA3-42AB-ADB8-9696AEBCD95B}"/>
                </a:ext>
              </a:extLst>
            </p:cNvPr>
            <p:cNvSpPr txBox="1"/>
            <p:nvPr/>
          </p:nvSpPr>
          <p:spPr>
            <a:xfrm>
              <a:off x="7934337" y="3555969"/>
              <a:ext cx="385042"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r>
                <a:rPr lang="en-US" baseline="-25000" dirty="0">
                  <a:latin typeface="Arial" panose="020B0604020202020204" pitchFamily="34" charset="0"/>
                  <a:cs typeface="Arial" panose="020B0604020202020204" pitchFamily="34" charset="0"/>
                </a:rPr>
                <a:t>2</a:t>
              </a:r>
            </a:p>
          </p:txBody>
        </p:sp>
        <p:sp>
          <p:nvSpPr>
            <p:cNvPr id="18" name="TextBox 17">
              <a:extLst>
                <a:ext uri="{FF2B5EF4-FFF2-40B4-BE49-F238E27FC236}">
                  <a16:creationId xmlns="" xmlns:a16="http://schemas.microsoft.com/office/drawing/2014/main" id="{B5DCE07A-D72C-48C4-8815-E1FF06BEE43A}"/>
                </a:ext>
              </a:extLst>
            </p:cNvPr>
            <p:cNvSpPr txBox="1"/>
            <p:nvPr/>
          </p:nvSpPr>
          <p:spPr>
            <a:xfrm>
              <a:off x="8219241" y="2802886"/>
              <a:ext cx="312906"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1</a:t>
              </a:r>
            </a:p>
          </p:txBody>
        </p:sp>
      </p:grpSp>
    </p:spTree>
    <p:extLst>
      <p:ext uri="{BB962C8B-B14F-4D97-AF65-F5344CB8AC3E}">
        <p14:creationId xmlns:p14="http://schemas.microsoft.com/office/powerpoint/2010/main" val="1209954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Sigmoid, </a:t>
            </a:r>
            <a:r>
              <a:rPr lang="en-US" dirty="0" err="1" smtClean="0"/>
              <a:t>Tanh</a:t>
            </a:r>
            <a:r>
              <a:rPr lang="en-US" dirty="0" smtClean="0"/>
              <a:t>, and </a:t>
            </a:r>
            <a:r>
              <a:rPr lang="en-US" dirty="0" err="1" smtClean="0"/>
              <a:t>ReLU</a:t>
            </a:r>
            <a:r>
              <a:rPr lang="en-US" dirty="0" smtClean="0"/>
              <a:t> Neurons</a:t>
            </a:r>
            <a:endParaRPr lang="en-US" dirty="0"/>
          </a:p>
        </p:txBody>
      </p:sp>
      <p:sp>
        <p:nvSpPr>
          <p:cNvPr id="3" name="Content Placeholder 2"/>
          <p:cNvSpPr>
            <a:spLocks noGrp="1"/>
          </p:cNvSpPr>
          <p:nvPr>
            <p:ph idx="1"/>
          </p:nvPr>
        </p:nvSpPr>
        <p:spPr/>
        <p:txBody>
          <a:bodyPr/>
          <a:lstStyle/>
          <a:p>
            <a:r>
              <a:rPr lang="en-US" dirty="0" smtClean="0"/>
              <a:t>They introduce nonlinearities in their computations.</a:t>
            </a:r>
          </a:p>
          <a:p>
            <a:r>
              <a:rPr lang="en-US" dirty="0" smtClean="0"/>
              <a:t>These neurons use different activation functions on the </a:t>
            </a:r>
            <a:r>
              <a:rPr lang="en-US" dirty="0" err="1" smtClean="0"/>
              <a:t>logits</a:t>
            </a:r>
            <a:r>
              <a:rPr lang="en-US" dirty="0" smtClean="0"/>
              <a:t>.</a:t>
            </a:r>
          </a:p>
          <a:p>
            <a:r>
              <a:rPr lang="en-US" dirty="0" smtClean="0"/>
              <a:t>Sigmoid function</a:t>
            </a:r>
          </a:p>
        </p:txBody>
      </p:sp>
      <p:pic>
        <p:nvPicPr>
          <p:cNvPr id="4" name="Picture 3"/>
          <p:cNvPicPr>
            <a:picLocks noChangeAspect="1"/>
          </p:cNvPicPr>
          <p:nvPr/>
        </p:nvPicPr>
        <p:blipFill>
          <a:blip r:embed="rId2"/>
          <a:stretch>
            <a:fillRect/>
          </a:stretch>
        </p:blipFill>
        <p:spPr>
          <a:xfrm>
            <a:off x="4985067" y="2919931"/>
            <a:ext cx="1819529" cy="762106"/>
          </a:xfrm>
          <a:prstGeom prst="rect">
            <a:avLst/>
          </a:prstGeom>
        </p:spPr>
      </p:pic>
      <p:pic>
        <p:nvPicPr>
          <p:cNvPr id="5" name="Picture 4"/>
          <p:cNvPicPr>
            <a:picLocks noChangeAspect="1"/>
          </p:cNvPicPr>
          <p:nvPr/>
        </p:nvPicPr>
        <p:blipFill>
          <a:blip r:embed="rId3"/>
          <a:stretch>
            <a:fillRect/>
          </a:stretch>
        </p:blipFill>
        <p:spPr>
          <a:xfrm>
            <a:off x="1909635" y="4037628"/>
            <a:ext cx="7421011" cy="1543265"/>
          </a:xfrm>
          <a:prstGeom prst="rect">
            <a:avLst/>
          </a:prstGeom>
        </p:spPr>
      </p:pic>
      <p:pic>
        <p:nvPicPr>
          <p:cNvPr id="6" name="Picture 5"/>
          <p:cNvPicPr>
            <a:picLocks noChangeAspect="1"/>
          </p:cNvPicPr>
          <p:nvPr/>
        </p:nvPicPr>
        <p:blipFill>
          <a:blip r:embed="rId4"/>
          <a:stretch>
            <a:fillRect/>
          </a:stretch>
        </p:blipFill>
        <p:spPr>
          <a:xfrm>
            <a:off x="7650685" y="3143159"/>
            <a:ext cx="3359921" cy="2041533"/>
          </a:xfrm>
          <a:prstGeom prst="rect">
            <a:avLst/>
          </a:prstGeom>
        </p:spPr>
      </p:pic>
      <p:sp>
        <p:nvSpPr>
          <p:cNvPr id="7" name="Slide Number Placeholder 6"/>
          <p:cNvSpPr>
            <a:spLocks noGrp="1"/>
          </p:cNvSpPr>
          <p:nvPr>
            <p:ph type="sldNum" sz="quarter" idx="12"/>
          </p:nvPr>
        </p:nvSpPr>
        <p:spPr/>
        <p:txBody>
          <a:bodyPr/>
          <a:lstStyle/>
          <a:p>
            <a:fld id="{CF30C0FC-5B0F-4BAF-9960-46D27991E18D}" type="slidenum">
              <a:rPr lang="en-US" smtClean="0"/>
              <a:t>12</a:t>
            </a:fld>
            <a:endParaRPr lang="en-US"/>
          </a:p>
        </p:txBody>
      </p:sp>
    </p:spTree>
    <p:extLst>
      <p:ext uri="{BB962C8B-B14F-4D97-AF65-F5344CB8AC3E}">
        <p14:creationId xmlns:p14="http://schemas.microsoft.com/office/powerpoint/2010/main" val="1552334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Tanh</a:t>
            </a:r>
            <a:r>
              <a:rPr lang="en-US" dirty="0" smtClean="0"/>
              <a:t> Neurons</a:t>
            </a:r>
            <a:endParaRPr lang="en-US" dirty="0"/>
          </a:p>
        </p:txBody>
      </p:sp>
      <p:sp>
        <p:nvSpPr>
          <p:cNvPr id="3" name="Content Placeholder 2"/>
          <p:cNvSpPr>
            <a:spLocks noGrp="1"/>
          </p:cNvSpPr>
          <p:nvPr>
            <p:ph idx="1"/>
          </p:nvPr>
        </p:nvSpPr>
        <p:spPr/>
        <p:txBody>
          <a:bodyPr/>
          <a:lstStyle/>
          <a:p>
            <a:r>
              <a:rPr lang="en-US" dirty="0" smtClean="0"/>
              <a:t>These neurons apply </a:t>
            </a:r>
            <a:r>
              <a:rPr lang="en-US" dirty="0" err="1" smtClean="0"/>
              <a:t>tanh</a:t>
            </a:r>
            <a:r>
              <a:rPr lang="en-US" dirty="0" smtClean="0"/>
              <a:t> (hyperbolic tangent) functions as activation functions</a:t>
            </a:r>
          </a:p>
          <a:p>
            <a:endParaRPr lang="en-US" dirty="0"/>
          </a:p>
        </p:txBody>
      </p:sp>
      <p:pic>
        <p:nvPicPr>
          <p:cNvPr id="4" name="Picture 3"/>
          <p:cNvPicPr>
            <a:picLocks noChangeAspect="1"/>
          </p:cNvPicPr>
          <p:nvPr/>
        </p:nvPicPr>
        <p:blipFill>
          <a:blip r:embed="rId2"/>
          <a:stretch>
            <a:fillRect/>
          </a:stretch>
        </p:blipFill>
        <p:spPr>
          <a:xfrm>
            <a:off x="2993937" y="2350916"/>
            <a:ext cx="2162477" cy="638264"/>
          </a:xfrm>
          <a:prstGeom prst="rect">
            <a:avLst/>
          </a:prstGeom>
        </p:spPr>
      </p:pic>
      <p:pic>
        <p:nvPicPr>
          <p:cNvPr id="5" name="Picture 4"/>
          <p:cNvPicPr>
            <a:picLocks noChangeAspect="1"/>
          </p:cNvPicPr>
          <p:nvPr/>
        </p:nvPicPr>
        <p:blipFill>
          <a:blip r:embed="rId3"/>
          <a:stretch>
            <a:fillRect/>
          </a:stretch>
        </p:blipFill>
        <p:spPr>
          <a:xfrm>
            <a:off x="838200" y="3514471"/>
            <a:ext cx="5630061" cy="1228896"/>
          </a:xfrm>
          <a:prstGeom prst="rect">
            <a:avLst/>
          </a:prstGeom>
        </p:spPr>
      </p:pic>
      <p:pic>
        <p:nvPicPr>
          <p:cNvPr id="6" name="Picture 5"/>
          <p:cNvPicPr>
            <a:picLocks noChangeAspect="1"/>
          </p:cNvPicPr>
          <p:nvPr/>
        </p:nvPicPr>
        <p:blipFill>
          <a:blip r:embed="rId4"/>
          <a:stretch>
            <a:fillRect/>
          </a:stretch>
        </p:blipFill>
        <p:spPr>
          <a:xfrm>
            <a:off x="6620256" y="3647662"/>
            <a:ext cx="5571744" cy="3189681"/>
          </a:xfrm>
          <a:prstGeom prst="rect">
            <a:avLst/>
          </a:prstGeom>
        </p:spPr>
      </p:pic>
      <p:sp>
        <p:nvSpPr>
          <p:cNvPr id="7" name="Slide Number Placeholder 6"/>
          <p:cNvSpPr>
            <a:spLocks noGrp="1"/>
          </p:cNvSpPr>
          <p:nvPr>
            <p:ph type="sldNum" sz="quarter" idx="12"/>
          </p:nvPr>
        </p:nvSpPr>
        <p:spPr/>
        <p:txBody>
          <a:bodyPr/>
          <a:lstStyle/>
          <a:p>
            <a:fld id="{CF30C0FC-5B0F-4BAF-9960-46D27991E18D}" type="slidenum">
              <a:rPr lang="en-US" smtClean="0"/>
              <a:t>13</a:t>
            </a:fld>
            <a:endParaRPr lang="en-US"/>
          </a:p>
        </p:txBody>
      </p:sp>
    </p:spTree>
    <p:extLst>
      <p:ext uri="{BB962C8B-B14F-4D97-AF65-F5344CB8AC3E}">
        <p14:creationId xmlns:p14="http://schemas.microsoft.com/office/powerpoint/2010/main" val="2323717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ReLU</a:t>
            </a:r>
            <a:r>
              <a:rPr lang="en-US" dirty="0" smtClean="0"/>
              <a:t> Neurons</a:t>
            </a:r>
            <a:endParaRPr lang="en-US" dirty="0"/>
          </a:p>
        </p:txBody>
      </p:sp>
      <p:sp>
        <p:nvSpPr>
          <p:cNvPr id="3" name="Content Placeholder 2"/>
          <p:cNvSpPr>
            <a:spLocks noGrp="1"/>
          </p:cNvSpPr>
          <p:nvPr>
            <p:ph idx="1"/>
          </p:nvPr>
        </p:nvSpPr>
        <p:spPr/>
        <p:txBody>
          <a:bodyPr/>
          <a:lstStyle/>
          <a:p>
            <a:r>
              <a:rPr lang="en-US" dirty="0" smtClean="0"/>
              <a:t>They apply </a:t>
            </a:r>
            <a:r>
              <a:rPr lang="en-US" dirty="0" err="1" smtClean="0"/>
              <a:t>ReLU</a:t>
            </a:r>
            <a:r>
              <a:rPr lang="en-US" dirty="0" smtClean="0"/>
              <a:t> functions as activation functions.</a:t>
            </a:r>
            <a:endParaRPr lang="en-US" dirty="0"/>
          </a:p>
        </p:txBody>
      </p:sp>
      <p:pic>
        <p:nvPicPr>
          <p:cNvPr id="4" name="Picture 3"/>
          <p:cNvPicPr>
            <a:picLocks noChangeAspect="1"/>
          </p:cNvPicPr>
          <p:nvPr/>
        </p:nvPicPr>
        <p:blipFill>
          <a:blip r:embed="rId2"/>
          <a:stretch>
            <a:fillRect/>
          </a:stretch>
        </p:blipFill>
        <p:spPr>
          <a:xfrm>
            <a:off x="8632344" y="1825625"/>
            <a:ext cx="2333951" cy="390580"/>
          </a:xfrm>
          <a:prstGeom prst="rect">
            <a:avLst/>
          </a:prstGeom>
        </p:spPr>
      </p:pic>
      <p:pic>
        <p:nvPicPr>
          <p:cNvPr id="5" name="Picture 4"/>
          <p:cNvPicPr>
            <a:picLocks noChangeAspect="1"/>
          </p:cNvPicPr>
          <p:nvPr/>
        </p:nvPicPr>
        <p:blipFill>
          <a:blip r:embed="rId3"/>
          <a:stretch>
            <a:fillRect/>
          </a:stretch>
        </p:blipFill>
        <p:spPr>
          <a:xfrm>
            <a:off x="838200" y="2521561"/>
            <a:ext cx="5744377" cy="1247949"/>
          </a:xfrm>
          <a:prstGeom prst="rect">
            <a:avLst/>
          </a:prstGeom>
        </p:spPr>
      </p:pic>
      <p:pic>
        <p:nvPicPr>
          <p:cNvPr id="6" name="Picture 5"/>
          <p:cNvPicPr>
            <a:picLocks noChangeAspect="1"/>
          </p:cNvPicPr>
          <p:nvPr/>
        </p:nvPicPr>
        <p:blipFill>
          <a:blip r:embed="rId4"/>
          <a:stretch>
            <a:fillRect/>
          </a:stretch>
        </p:blipFill>
        <p:spPr>
          <a:xfrm>
            <a:off x="6582577" y="3722508"/>
            <a:ext cx="5152101" cy="3089739"/>
          </a:xfrm>
          <a:prstGeom prst="rect">
            <a:avLst/>
          </a:prstGeom>
        </p:spPr>
      </p:pic>
      <p:sp>
        <p:nvSpPr>
          <p:cNvPr id="7" name="Slide Number Placeholder 6"/>
          <p:cNvSpPr>
            <a:spLocks noGrp="1"/>
          </p:cNvSpPr>
          <p:nvPr>
            <p:ph type="sldNum" sz="quarter" idx="12"/>
          </p:nvPr>
        </p:nvSpPr>
        <p:spPr/>
        <p:txBody>
          <a:bodyPr/>
          <a:lstStyle/>
          <a:p>
            <a:fld id="{CF30C0FC-5B0F-4BAF-9960-46D27991E18D}" type="slidenum">
              <a:rPr lang="en-US" smtClean="0"/>
              <a:t>14</a:t>
            </a:fld>
            <a:endParaRPr lang="en-US"/>
          </a:p>
        </p:txBody>
      </p:sp>
    </p:spTree>
    <p:extLst>
      <p:ext uri="{BB962C8B-B14F-4D97-AF65-F5344CB8AC3E}">
        <p14:creationId xmlns:p14="http://schemas.microsoft.com/office/powerpoint/2010/main" val="20618358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Softmax</a:t>
            </a:r>
            <a:r>
              <a:rPr lang="en-US" dirty="0" smtClean="0"/>
              <a:t> Output layer</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a:bodyPr>
              <a:lstStyle/>
              <a:p>
                <a:r>
                  <a:rPr lang="en-US" dirty="0" smtClean="0"/>
                  <a:t>Oftentimes, we want our output vector to be a probability distribution over a set of mutually exclusive labels.</a:t>
                </a:r>
              </a:p>
              <a:p>
                <a:r>
                  <a:rPr lang="en-US" dirty="0" smtClean="0"/>
                  <a:t>For example, let’s say we want to build a neural network to recognize handwritten digits from the MNIST dataset. Each label (0 through 9) is mutually exclusive, but it’s unlikely that we will be able to recognize digits with 100% confidence.</a:t>
                </a:r>
              </a:p>
              <a:p>
                <a:r>
                  <a:rPr lang="en-US" dirty="0" smtClean="0"/>
                  <a:t>Using a probability distribution gives us a better idea of how confident we are in our predictions.</a:t>
                </a:r>
              </a:p>
              <a:p>
                <a:r>
                  <a:rPr lang="en-US" dirty="0" smtClean="0"/>
                  <a:t>The desired output vector is of the following form, where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9</m:t>
                        </m:r>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nary>
                  </m:oMath>
                </a14:m>
                <a:r>
                  <a:rPr lang="en-US" dirty="0" smtClean="0"/>
                  <a:t>:</a:t>
                </a:r>
              </a:p>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9</m:t>
                        </m:r>
                      </m:sub>
                    </m:sSub>
                    <m:r>
                      <a:rPr lang="en-US" b="0" i="1" smtClean="0">
                        <a:latin typeface="Cambria Math" panose="02040503050406030204" pitchFamily="18" charset="0"/>
                      </a:rPr>
                      <m:t>]</m:t>
                    </m:r>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28" t="-2101" r="-1565"/>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5976092" y="5598358"/>
            <a:ext cx="1190791" cy="800212"/>
          </a:xfrm>
          <a:prstGeom prst="rect">
            <a:avLst/>
          </a:prstGeom>
        </p:spPr>
      </p:pic>
      <p:sp>
        <p:nvSpPr>
          <p:cNvPr id="5" name="Slide Number Placeholder 4"/>
          <p:cNvSpPr>
            <a:spLocks noGrp="1"/>
          </p:cNvSpPr>
          <p:nvPr>
            <p:ph type="sldNum" sz="quarter" idx="12"/>
          </p:nvPr>
        </p:nvSpPr>
        <p:spPr/>
        <p:txBody>
          <a:bodyPr/>
          <a:lstStyle/>
          <a:p>
            <a:fld id="{CF30C0FC-5B0F-4BAF-9960-46D27991E18D}" type="slidenum">
              <a:rPr lang="en-US" smtClean="0"/>
              <a:t>15</a:t>
            </a:fld>
            <a:endParaRPr lang="en-US"/>
          </a:p>
        </p:txBody>
      </p:sp>
    </p:spTree>
    <p:extLst>
      <p:ext uri="{BB962C8B-B14F-4D97-AF65-F5344CB8AC3E}">
        <p14:creationId xmlns:p14="http://schemas.microsoft.com/office/powerpoint/2010/main" val="32762427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of Sigmoid </a:t>
            </a:r>
            <a:r>
              <a:rPr lang="en-US" dirty="0" err="1" smtClean="0"/>
              <a:t>Tanh</a:t>
            </a:r>
            <a:r>
              <a:rPr lang="en-US" dirty="0" smtClean="0"/>
              <a:t>, and </a:t>
            </a:r>
            <a:r>
              <a:rPr lang="en-US" dirty="0" err="1" smtClean="0"/>
              <a:t>ReLU</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828204" y="2209630"/>
            <a:ext cx="8535591" cy="2438740"/>
          </a:xfrm>
          <a:prstGeom prst="rect">
            <a:avLst/>
          </a:prstGeom>
        </p:spPr>
      </p:pic>
      <p:sp>
        <p:nvSpPr>
          <p:cNvPr id="5" name="Slide Number Placeholder 4"/>
          <p:cNvSpPr>
            <a:spLocks noGrp="1"/>
          </p:cNvSpPr>
          <p:nvPr>
            <p:ph type="sldNum" sz="quarter" idx="12"/>
          </p:nvPr>
        </p:nvSpPr>
        <p:spPr/>
        <p:txBody>
          <a:bodyPr/>
          <a:lstStyle/>
          <a:p>
            <a:fld id="{CF30C0FC-5B0F-4BAF-9960-46D27991E18D}" type="slidenum">
              <a:rPr lang="en-US" smtClean="0"/>
              <a:t>16</a:t>
            </a:fld>
            <a:endParaRPr lang="en-US"/>
          </a:p>
        </p:txBody>
      </p:sp>
    </p:spTree>
    <p:extLst>
      <p:ext uri="{BB962C8B-B14F-4D97-AF65-F5344CB8AC3E}">
        <p14:creationId xmlns:p14="http://schemas.microsoft.com/office/powerpoint/2010/main" val="41718818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t>
            </a:r>
            <a:r>
              <a:rPr lang="en-US" dirty="0" err="1" smtClean="0"/>
              <a:t>Softmax</a:t>
            </a:r>
            <a:r>
              <a:rPr lang="en-US" dirty="0" smtClean="0"/>
              <a:t> function</a:t>
            </a:r>
            <a:endParaRPr lang="en-US" dirty="0"/>
          </a:p>
        </p:txBody>
      </p:sp>
      <p:pic>
        <p:nvPicPr>
          <p:cNvPr id="4" name="Picture 3"/>
          <p:cNvPicPr>
            <a:picLocks noChangeAspect="1"/>
          </p:cNvPicPr>
          <p:nvPr/>
        </p:nvPicPr>
        <p:blipFill>
          <a:blip r:embed="rId3"/>
          <a:stretch>
            <a:fillRect/>
          </a:stretch>
        </p:blipFill>
        <p:spPr>
          <a:xfrm>
            <a:off x="838200" y="1485804"/>
            <a:ext cx="6144482" cy="4105848"/>
          </a:xfrm>
          <a:prstGeom prst="rect">
            <a:avLst/>
          </a:prstGeom>
        </p:spPr>
      </p:pic>
      <p:sp>
        <p:nvSpPr>
          <p:cNvPr id="5" name="Slide Number Placeholder 4"/>
          <p:cNvSpPr>
            <a:spLocks noGrp="1"/>
          </p:cNvSpPr>
          <p:nvPr>
            <p:ph type="sldNum" sz="quarter" idx="12"/>
          </p:nvPr>
        </p:nvSpPr>
        <p:spPr/>
        <p:txBody>
          <a:bodyPr/>
          <a:lstStyle/>
          <a:p>
            <a:fld id="{CF30C0FC-5B0F-4BAF-9960-46D27991E18D}" type="slidenum">
              <a:rPr lang="en-US" smtClean="0"/>
              <a:t>17</a:t>
            </a:fld>
            <a:endParaRPr lang="en-US"/>
          </a:p>
        </p:txBody>
      </p:sp>
    </p:spTree>
    <p:extLst>
      <p:ext uri="{BB962C8B-B14F-4D97-AF65-F5344CB8AC3E}">
        <p14:creationId xmlns:p14="http://schemas.microsoft.com/office/powerpoint/2010/main" val="14278988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 of Bias in a neural network</a:t>
            </a:r>
            <a:endParaRPr lang="en-US" dirty="0"/>
          </a:p>
        </p:txBody>
      </p:sp>
      <p:sp>
        <p:nvSpPr>
          <p:cNvPr id="4" name="Slide Number Placeholder 3"/>
          <p:cNvSpPr>
            <a:spLocks noGrp="1"/>
          </p:cNvSpPr>
          <p:nvPr>
            <p:ph type="sldNum" sz="quarter" idx="12"/>
          </p:nvPr>
        </p:nvSpPr>
        <p:spPr/>
        <p:txBody>
          <a:bodyPr/>
          <a:lstStyle/>
          <a:p>
            <a:fld id="{CF30C0FC-5B0F-4BAF-9960-46D27991E18D}" type="slidenum">
              <a:rPr lang="en-US" smtClean="0"/>
              <a:t>18</a:t>
            </a:fld>
            <a:endParaRPr lang="en-US"/>
          </a:p>
        </p:txBody>
      </p:sp>
      <p:pic>
        <p:nvPicPr>
          <p:cNvPr id="5" name="Picture 4"/>
          <p:cNvPicPr>
            <a:picLocks noChangeAspect="1"/>
          </p:cNvPicPr>
          <p:nvPr/>
        </p:nvPicPr>
        <p:blipFill>
          <a:blip r:embed="rId2"/>
          <a:stretch>
            <a:fillRect/>
          </a:stretch>
        </p:blipFill>
        <p:spPr>
          <a:xfrm>
            <a:off x="536781" y="1254910"/>
            <a:ext cx="8869013" cy="4220164"/>
          </a:xfrm>
          <a:prstGeom prst="rect">
            <a:avLst/>
          </a:prstGeom>
        </p:spPr>
      </p:pic>
    </p:spTree>
    <p:extLst>
      <p:ext uri="{BB962C8B-B14F-4D97-AF65-F5344CB8AC3E}">
        <p14:creationId xmlns:p14="http://schemas.microsoft.com/office/powerpoint/2010/main" val="42747096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Bias in action</a:t>
            </a:r>
            <a:endParaRPr lang="en-US" dirty="0"/>
          </a:p>
        </p:txBody>
      </p:sp>
      <p:sp>
        <p:nvSpPr>
          <p:cNvPr id="4" name="Slide Number Placeholder 3"/>
          <p:cNvSpPr>
            <a:spLocks noGrp="1"/>
          </p:cNvSpPr>
          <p:nvPr>
            <p:ph type="sldNum" sz="quarter" idx="12"/>
          </p:nvPr>
        </p:nvSpPr>
        <p:spPr/>
        <p:txBody>
          <a:bodyPr/>
          <a:lstStyle/>
          <a:p>
            <a:fld id="{CF30C0FC-5B0F-4BAF-9960-46D27991E18D}" type="slidenum">
              <a:rPr lang="en-US" smtClean="0"/>
              <a:t>19</a:t>
            </a:fld>
            <a:endParaRPr lang="en-US"/>
          </a:p>
        </p:txBody>
      </p:sp>
      <p:pic>
        <p:nvPicPr>
          <p:cNvPr id="5" name="Picture 4"/>
          <p:cNvPicPr>
            <a:picLocks noChangeAspect="1"/>
          </p:cNvPicPr>
          <p:nvPr/>
        </p:nvPicPr>
        <p:blipFill>
          <a:blip r:embed="rId2"/>
          <a:stretch>
            <a:fillRect/>
          </a:stretch>
        </p:blipFill>
        <p:spPr>
          <a:xfrm>
            <a:off x="838200" y="1422094"/>
            <a:ext cx="8621328" cy="4925112"/>
          </a:xfrm>
          <a:prstGeom prst="rect">
            <a:avLst/>
          </a:prstGeom>
        </p:spPr>
      </p:pic>
    </p:spTree>
    <p:extLst>
      <p:ext uri="{BB962C8B-B14F-4D97-AF65-F5344CB8AC3E}">
        <p14:creationId xmlns:p14="http://schemas.microsoft.com/office/powerpoint/2010/main" val="5667952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boundary of Linear Perceptron</a:t>
            </a:r>
            <a:endParaRPr lang="en-US" dirty="0"/>
          </a:p>
        </p:txBody>
      </p:sp>
      <p:sp>
        <p:nvSpPr>
          <p:cNvPr id="3" name="Content Placeholder 2"/>
          <p:cNvSpPr>
            <a:spLocks noGrp="1"/>
          </p:cNvSpPr>
          <p:nvPr>
            <p:ph idx="1"/>
          </p:nvPr>
        </p:nvSpPr>
        <p:spPr/>
        <p:txBody>
          <a:bodyPr/>
          <a:lstStyle/>
          <a:p>
            <a:r>
              <a:rPr lang="en-US" dirty="0" smtClean="0"/>
              <a:t>Ax + By + C = 0</a:t>
            </a:r>
            <a:endParaRPr lang="en-US" dirty="0"/>
          </a:p>
        </p:txBody>
      </p:sp>
      <p:pic>
        <p:nvPicPr>
          <p:cNvPr id="1026" name="Picture 2" descr="Perceptr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1247" y="1459478"/>
            <a:ext cx="7962770" cy="471748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3573514D-2FE9-42EC-9BF7-540E13BC1ADC}" type="slidenum">
              <a:rPr lang="en-US" smtClean="0"/>
              <a:t>20</a:t>
            </a:fld>
            <a:endParaRPr lang="en-US"/>
          </a:p>
        </p:txBody>
      </p:sp>
    </p:spTree>
    <p:extLst>
      <p:ext uri="{BB962C8B-B14F-4D97-AF65-F5344CB8AC3E}">
        <p14:creationId xmlns:p14="http://schemas.microsoft.com/office/powerpoint/2010/main" val="16445766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Perceptron Training – idea </a:t>
            </a:r>
            <a:endParaRPr lang="en-US" dirty="0"/>
          </a:p>
        </p:txBody>
      </p:sp>
      <p:sp>
        <p:nvSpPr>
          <p:cNvPr id="3" name="Content Placeholder 2"/>
          <p:cNvSpPr>
            <a:spLocks noGrp="1"/>
          </p:cNvSpPr>
          <p:nvPr>
            <p:ph idx="1"/>
          </p:nvPr>
        </p:nvSpPr>
        <p:spPr>
          <a:xfrm>
            <a:off x="838200" y="1825625"/>
            <a:ext cx="3358896" cy="4351338"/>
          </a:xfrm>
        </p:spPr>
        <p:txBody>
          <a:bodyPr/>
          <a:lstStyle/>
          <a:p>
            <a:r>
              <a:rPr lang="en-US" dirty="0" smtClean="0"/>
              <a:t>We start with a random line (by selecting random values of A, B, and C</a:t>
            </a:r>
          </a:p>
          <a:p>
            <a:r>
              <a:rPr lang="en-US" dirty="0" smtClean="0"/>
              <a:t>We need to shift the decision boundary in such a way that it appropriately shifts the line</a:t>
            </a:r>
            <a:endParaRPr lang="en-US" dirty="0"/>
          </a:p>
        </p:txBody>
      </p:sp>
      <p:pic>
        <p:nvPicPr>
          <p:cNvPr id="4" name="Picture 2" descr="Perceptr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1247" y="1459478"/>
            <a:ext cx="7962770" cy="471748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3573514D-2FE9-42EC-9BF7-540E13BC1ADC}" type="slidenum">
              <a:rPr lang="en-US" smtClean="0"/>
              <a:t>21</a:t>
            </a:fld>
            <a:endParaRPr lang="en-US"/>
          </a:p>
        </p:txBody>
      </p:sp>
    </p:spTree>
    <p:extLst>
      <p:ext uri="{BB962C8B-B14F-4D97-AF65-F5344CB8AC3E}">
        <p14:creationId xmlns:p14="http://schemas.microsoft.com/office/powerpoint/2010/main" val="14439644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Perceptron Training – idea </a:t>
            </a:r>
            <a:endParaRPr lang="en-US" dirty="0"/>
          </a:p>
        </p:txBody>
      </p:sp>
      <p:sp>
        <p:nvSpPr>
          <p:cNvPr id="3" name="Content Placeholder 2"/>
          <p:cNvSpPr>
            <a:spLocks noGrp="1"/>
          </p:cNvSpPr>
          <p:nvPr>
            <p:ph idx="1"/>
          </p:nvPr>
        </p:nvSpPr>
        <p:spPr>
          <a:xfrm>
            <a:off x="838200" y="1825625"/>
            <a:ext cx="2924632" cy="1347343"/>
          </a:xfrm>
        </p:spPr>
        <p:txBody>
          <a:bodyPr/>
          <a:lstStyle/>
          <a:p>
            <a:r>
              <a:rPr lang="en-US" dirty="0" smtClean="0"/>
              <a:t>2x + 3y + 5 = 0</a:t>
            </a:r>
            <a:endParaRPr lang="en-US" dirty="0"/>
          </a:p>
        </p:txBody>
      </p:sp>
      <p:pic>
        <p:nvPicPr>
          <p:cNvPr id="4" name="Picture 3"/>
          <p:cNvPicPr>
            <a:picLocks noChangeAspect="1"/>
          </p:cNvPicPr>
          <p:nvPr/>
        </p:nvPicPr>
        <p:blipFill>
          <a:blip r:embed="rId2"/>
          <a:stretch>
            <a:fillRect/>
          </a:stretch>
        </p:blipFill>
        <p:spPr>
          <a:xfrm>
            <a:off x="3762833" y="1690688"/>
            <a:ext cx="3387776" cy="2331447"/>
          </a:xfrm>
          <a:prstGeom prst="rect">
            <a:avLst/>
          </a:prstGeom>
        </p:spPr>
      </p:pic>
      <p:sp>
        <p:nvSpPr>
          <p:cNvPr id="5" name="TextBox 4"/>
          <p:cNvSpPr txBox="1"/>
          <p:nvPr/>
        </p:nvSpPr>
        <p:spPr>
          <a:xfrm>
            <a:off x="749808" y="4846320"/>
            <a:ext cx="3013024" cy="369332"/>
          </a:xfrm>
          <a:prstGeom prst="rect">
            <a:avLst/>
          </a:prstGeom>
          <a:noFill/>
        </p:spPr>
        <p:txBody>
          <a:bodyPr wrap="square" rtlCol="0">
            <a:spAutoFit/>
          </a:bodyPr>
          <a:lstStyle/>
          <a:p>
            <a:r>
              <a:rPr lang="en-US" dirty="0" smtClean="0"/>
              <a:t>2x + 3y + 5 &gt; 0</a:t>
            </a:r>
            <a:endParaRPr lang="en-US" dirty="0"/>
          </a:p>
        </p:txBody>
      </p:sp>
      <p:pic>
        <p:nvPicPr>
          <p:cNvPr id="6" name="Picture 5"/>
          <p:cNvPicPr>
            <a:picLocks noChangeAspect="1"/>
          </p:cNvPicPr>
          <p:nvPr/>
        </p:nvPicPr>
        <p:blipFill>
          <a:blip r:embed="rId3"/>
          <a:stretch>
            <a:fillRect/>
          </a:stretch>
        </p:blipFill>
        <p:spPr>
          <a:xfrm>
            <a:off x="3824852" y="4141614"/>
            <a:ext cx="3263737" cy="2412168"/>
          </a:xfrm>
          <a:prstGeom prst="rect">
            <a:avLst/>
          </a:prstGeom>
        </p:spPr>
      </p:pic>
      <p:sp>
        <p:nvSpPr>
          <p:cNvPr id="7" name="Slide Number Placeholder 6"/>
          <p:cNvSpPr>
            <a:spLocks noGrp="1"/>
          </p:cNvSpPr>
          <p:nvPr>
            <p:ph type="sldNum" sz="quarter" idx="12"/>
          </p:nvPr>
        </p:nvSpPr>
        <p:spPr/>
        <p:txBody>
          <a:bodyPr/>
          <a:lstStyle/>
          <a:p>
            <a:fld id="{3573514D-2FE9-42EC-9BF7-540E13BC1ADC}" type="slidenum">
              <a:rPr lang="en-US" smtClean="0"/>
              <a:t>22</a:t>
            </a:fld>
            <a:endParaRPr lang="en-US"/>
          </a:p>
        </p:txBody>
      </p:sp>
    </p:spTree>
    <p:extLst>
      <p:ext uri="{BB962C8B-B14F-4D97-AF65-F5344CB8AC3E}">
        <p14:creationId xmlns:p14="http://schemas.microsoft.com/office/powerpoint/2010/main" val="40953850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Perceptron Training – idea </a:t>
            </a:r>
            <a:endParaRPr lang="en-US" dirty="0"/>
          </a:p>
        </p:txBody>
      </p:sp>
      <p:pic>
        <p:nvPicPr>
          <p:cNvPr id="4" name="Picture 3"/>
          <p:cNvPicPr>
            <a:picLocks noChangeAspect="1"/>
          </p:cNvPicPr>
          <p:nvPr/>
        </p:nvPicPr>
        <p:blipFill>
          <a:blip r:embed="rId2"/>
          <a:stretch>
            <a:fillRect/>
          </a:stretch>
        </p:blipFill>
        <p:spPr>
          <a:xfrm>
            <a:off x="5739357" y="2194560"/>
            <a:ext cx="6069286" cy="4079260"/>
          </a:xfrm>
          <a:prstGeom prst="rect">
            <a:avLst/>
          </a:prstGeom>
        </p:spPr>
      </p:pic>
      <p:sp>
        <p:nvSpPr>
          <p:cNvPr id="5" name="TextBox 4"/>
          <p:cNvSpPr txBox="1"/>
          <p:nvPr/>
        </p:nvSpPr>
        <p:spPr>
          <a:xfrm>
            <a:off x="996696" y="2468880"/>
            <a:ext cx="4142232" cy="2031325"/>
          </a:xfrm>
          <a:prstGeom prst="rect">
            <a:avLst/>
          </a:prstGeom>
          <a:noFill/>
        </p:spPr>
        <p:txBody>
          <a:bodyPr wrap="square" rtlCol="0">
            <a:spAutoFit/>
          </a:bodyPr>
          <a:lstStyle/>
          <a:p>
            <a:pPr marL="285750" indent="-285750">
              <a:buFont typeface="Arial" panose="020B0604020202020204" pitchFamily="34" charset="0"/>
              <a:buChar char="•"/>
            </a:pPr>
            <a:r>
              <a:rPr lang="en-US" dirty="0" smtClean="0"/>
              <a:t>Decision boundary: 2x + 3y + 5 = 0</a:t>
            </a:r>
          </a:p>
          <a:p>
            <a:pPr marL="285750" indent="-285750">
              <a:buFont typeface="Arial" panose="020B0604020202020204" pitchFamily="34" charset="0"/>
              <a:buChar char="•"/>
            </a:pPr>
            <a:r>
              <a:rPr lang="en-US" dirty="0" smtClean="0"/>
              <a:t>Let us say we have a point, P (4,2) which belongs to a negative class i.e. it was wrongly predicted as a positive class.</a:t>
            </a:r>
          </a:p>
          <a:p>
            <a:pPr marL="285750" indent="-285750">
              <a:buFont typeface="Arial" panose="020B0604020202020204" pitchFamily="34" charset="0"/>
              <a:buChar char="•"/>
            </a:pPr>
            <a:r>
              <a:rPr lang="en-US" dirty="0" smtClean="0"/>
              <a:t>We need to shift the decision boundary to the right of the point P.</a:t>
            </a:r>
            <a:endParaRPr lang="en-US" dirty="0"/>
          </a:p>
        </p:txBody>
      </p:sp>
      <p:sp>
        <p:nvSpPr>
          <p:cNvPr id="3" name="Slide Number Placeholder 2"/>
          <p:cNvSpPr>
            <a:spLocks noGrp="1"/>
          </p:cNvSpPr>
          <p:nvPr>
            <p:ph type="sldNum" sz="quarter" idx="12"/>
          </p:nvPr>
        </p:nvSpPr>
        <p:spPr/>
        <p:txBody>
          <a:bodyPr/>
          <a:lstStyle/>
          <a:p>
            <a:fld id="{3573514D-2FE9-42EC-9BF7-540E13BC1ADC}" type="slidenum">
              <a:rPr lang="en-US" smtClean="0"/>
              <a:t>23</a:t>
            </a:fld>
            <a:endParaRPr lang="en-US"/>
          </a:p>
        </p:txBody>
      </p:sp>
    </p:spTree>
    <p:extLst>
      <p:ext uri="{BB962C8B-B14F-4D97-AF65-F5344CB8AC3E}">
        <p14:creationId xmlns:p14="http://schemas.microsoft.com/office/powerpoint/2010/main" val="26212971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Perceptron Training – idea </a:t>
            </a:r>
            <a:endParaRPr lang="en-US" dirty="0"/>
          </a:p>
        </p:txBody>
      </p:sp>
      <p:pic>
        <p:nvPicPr>
          <p:cNvPr id="4" name="Picture 3"/>
          <p:cNvPicPr>
            <a:picLocks noChangeAspect="1"/>
          </p:cNvPicPr>
          <p:nvPr/>
        </p:nvPicPr>
        <p:blipFill>
          <a:blip r:embed="rId2"/>
          <a:stretch>
            <a:fillRect/>
          </a:stretch>
        </p:blipFill>
        <p:spPr>
          <a:xfrm>
            <a:off x="838200" y="1940726"/>
            <a:ext cx="2495898" cy="1257475"/>
          </a:xfrm>
          <a:prstGeom prst="rect">
            <a:avLst/>
          </a:prstGeom>
        </p:spPr>
      </p:pic>
      <p:pic>
        <p:nvPicPr>
          <p:cNvPr id="5" name="Picture 4"/>
          <p:cNvPicPr>
            <a:picLocks noChangeAspect="1"/>
          </p:cNvPicPr>
          <p:nvPr/>
        </p:nvPicPr>
        <p:blipFill>
          <a:blip r:embed="rId3"/>
          <a:stretch>
            <a:fillRect/>
          </a:stretch>
        </p:blipFill>
        <p:spPr>
          <a:xfrm>
            <a:off x="3946214" y="2029968"/>
            <a:ext cx="6746240" cy="4390299"/>
          </a:xfrm>
          <a:prstGeom prst="rect">
            <a:avLst/>
          </a:prstGeom>
        </p:spPr>
      </p:pic>
      <p:sp>
        <p:nvSpPr>
          <p:cNvPr id="3" name="Slide Number Placeholder 2"/>
          <p:cNvSpPr>
            <a:spLocks noGrp="1"/>
          </p:cNvSpPr>
          <p:nvPr>
            <p:ph type="sldNum" sz="quarter" idx="12"/>
          </p:nvPr>
        </p:nvSpPr>
        <p:spPr/>
        <p:txBody>
          <a:bodyPr/>
          <a:lstStyle/>
          <a:p>
            <a:fld id="{3573514D-2FE9-42EC-9BF7-540E13BC1ADC}" type="slidenum">
              <a:rPr lang="en-US" smtClean="0"/>
              <a:t>24</a:t>
            </a:fld>
            <a:endParaRPr lang="en-US"/>
          </a:p>
        </p:txBody>
      </p:sp>
    </p:spTree>
    <p:extLst>
      <p:ext uri="{BB962C8B-B14F-4D97-AF65-F5344CB8AC3E}">
        <p14:creationId xmlns:p14="http://schemas.microsoft.com/office/powerpoint/2010/main" val="33788136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Perceptron Training – idea </a:t>
            </a:r>
            <a:endParaRPr lang="en-US" dirty="0"/>
          </a:p>
        </p:txBody>
      </p:sp>
      <p:sp>
        <p:nvSpPr>
          <p:cNvPr id="4" name="TextBox 3"/>
          <p:cNvSpPr txBox="1"/>
          <p:nvPr/>
        </p:nvSpPr>
        <p:spPr>
          <a:xfrm>
            <a:off x="1004449" y="1773936"/>
            <a:ext cx="4142232" cy="2031325"/>
          </a:xfrm>
          <a:prstGeom prst="rect">
            <a:avLst/>
          </a:prstGeom>
          <a:noFill/>
        </p:spPr>
        <p:txBody>
          <a:bodyPr wrap="square" rtlCol="0">
            <a:spAutoFit/>
          </a:bodyPr>
          <a:lstStyle/>
          <a:p>
            <a:pPr marL="285750" indent="-285750">
              <a:buFont typeface="Arial" panose="020B0604020202020204" pitchFamily="34" charset="0"/>
              <a:buChar char="•"/>
            </a:pPr>
            <a:r>
              <a:rPr lang="en-US" dirty="0" smtClean="0"/>
              <a:t>Decision boundary: 2x + 3y + 5 = 0</a:t>
            </a:r>
          </a:p>
          <a:p>
            <a:pPr marL="285750" indent="-285750">
              <a:buFont typeface="Arial" panose="020B0604020202020204" pitchFamily="34" charset="0"/>
              <a:buChar char="•"/>
            </a:pPr>
            <a:r>
              <a:rPr lang="en-US" dirty="0" smtClean="0"/>
              <a:t>Let us say we have a point, Q (-3,-2) which belongs to a positive class i.e. it was wrongly predicted as a negative class.</a:t>
            </a:r>
          </a:p>
          <a:p>
            <a:pPr marL="285750" indent="-285750">
              <a:buFont typeface="Arial" panose="020B0604020202020204" pitchFamily="34" charset="0"/>
              <a:buChar char="•"/>
            </a:pPr>
            <a:r>
              <a:rPr lang="en-US" dirty="0" smtClean="0"/>
              <a:t>We need to shift the decision boundary to the right of the point P.</a:t>
            </a:r>
            <a:endParaRPr lang="en-US" dirty="0"/>
          </a:p>
        </p:txBody>
      </p:sp>
      <p:pic>
        <p:nvPicPr>
          <p:cNvPr id="6" name="Picture 5"/>
          <p:cNvPicPr>
            <a:picLocks noChangeAspect="1"/>
          </p:cNvPicPr>
          <p:nvPr/>
        </p:nvPicPr>
        <p:blipFill>
          <a:blip r:embed="rId2"/>
          <a:stretch>
            <a:fillRect/>
          </a:stretch>
        </p:blipFill>
        <p:spPr>
          <a:xfrm>
            <a:off x="5312929" y="1690688"/>
            <a:ext cx="7125694" cy="5039428"/>
          </a:xfrm>
          <a:prstGeom prst="rect">
            <a:avLst/>
          </a:prstGeom>
        </p:spPr>
      </p:pic>
      <p:sp>
        <p:nvSpPr>
          <p:cNvPr id="3" name="Slide Number Placeholder 2"/>
          <p:cNvSpPr>
            <a:spLocks noGrp="1"/>
          </p:cNvSpPr>
          <p:nvPr>
            <p:ph type="sldNum" sz="quarter" idx="12"/>
          </p:nvPr>
        </p:nvSpPr>
        <p:spPr/>
        <p:txBody>
          <a:bodyPr/>
          <a:lstStyle/>
          <a:p>
            <a:fld id="{3573514D-2FE9-42EC-9BF7-540E13BC1ADC}" type="slidenum">
              <a:rPr lang="en-US" smtClean="0"/>
              <a:t>25</a:t>
            </a:fld>
            <a:endParaRPr lang="en-US"/>
          </a:p>
        </p:txBody>
      </p:sp>
    </p:spTree>
    <p:extLst>
      <p:ext uri="{BB962C8B-B14F-4D97-AF65-F5344CB8AC3E}">
        <p14:creationId xmlns:p14="http://schemas.microsoft.com/office/powerpoint/2010/main" val="206402620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Perceptron Training – idea </a:t>
            </a:r>
            <a:endParaRPr lang="en-US" dirty="0"/>
          </a:p>
        </p:txBody>
      </p:sp>
      <p:sp>
        <p:nvSpPr>
          <p:cNvPr id="4" name="TextBox 3"/>
          <p:cNvSpPr txBox="1"/>
          <p:nvPr/>
        </p:nvSpPr>
        <p:spPr>
          <a:xfrm>
            <a:off x="1004449" y="1773936"/>
            <a:ext cx="4142232" cy="2031325"/>
          </a:xfrm>
          <a:prstGeom prst="rect">
            <a:avLst/>
          </a:prstGeom>
          <a:noFill/>
        </p:spPr>
        <p:txBody>
          <a:bodyPr wrap="square" rtlCol="0">
            <a:spAutoFit/>
          </a:bodyPr>
          <a:lstStyle/>
          <a:p>
            <a:pPr marL="285750" indent="-285750">
              <a:buFont typeface="Arial" panose="020B0604020202020204" pitchFamily="34" charset="0"/>
              <a:buChar char="•"/>
            </a:pPr>
            <a:r>
              <a:rPr lang="en-US" dirty="0" smtClean="0"/>
              <a:t>Decision boundary: 2x + 3y + 5 = 0</a:t>
            </a:r>
          </a:p>
          <a:p>
            <a:pPr marL="285750" indent="-285750">
              <a:buFont typeface="Arial" panose="020B0604020202020204" pitchFamily="34" charset="0"/>
              <a:buChar char="•"/>
            </a:pPr>
            <a:r>
              <a:rPr lang="en-US" dirty="0" smtClean="0"/>
              <a:t>Let us say we have a point, Q (-3,-2) which belongs to a positive class i.e. it was wrongly predicted as a negative class.</a:t>
            </a:r>
          </a:p>
          <a:p>
            <a:pPr marL="285750" indent="-285750">
              <a:buFont typeface="Arial" panose="020B0604020202020204" pitchFamily="34" charset="0"/>
              <a:buChar char="•"/>
            </a:pPr>
            <a:r>
              <a:rPr lang="en-US" dirty="0" smtClean="0"/>
              <a:t>We need to shift the decision boundary to the right of the point P.</a:t>
            </a:r>
            <a:endParaRPr lang="en-US" dirty="0"/>
          </a:p>
        </p:txBody>
      </p:sp>
      <p:pic>
        <p:nvPicPr>
          <p:cNvPr id="3" name="Picture 2"/>
          <p:cNvPicPr>
            <a:picLocks noChangeAspect="1"/>
          </p:cNvPicPr>
          <p:nvPr/>
        </p:nvPicPr>
        <p:blipFill>
          <a:blip r:embed="rId2"/>
          <a:stretch>
            <a:fillRect/>
          </a:stretch>
        </p:blipFill>
        <p:spPr>
          <a:xfrm>
            <a:off x="838200" y="4114911"/>
            <a:ext cx="3276600" cy="1559662"/>
          </a:xfrm>
          <a:prstGeom prst="rect">
            <a:avLst/>
          </a:prstGeom>
        </p:spPr>
      </p:pic>
      <p:pic>
        <p:nvPicPr>
          <p:cNvPr id="5" name="Picture 4"/>
          <p:cNvPicPr>
            <a:picLocks noChangeAspect="1"/>
          </p:cNvPicPr>
          <p:nvPr/>
        </p:nvPicPr>
        <p:blipFill>
          <a:blip r:embed="rId3"/>
          <a:stretch>
            <a:fillRect/>
          </a:stretch>
        </p:blipFill>
        <p:spPr>
          <a:xfrm>
            <a:off x="5419662" y="1773936"/>
            <a:ext cx="6363588" cy="4906060"/>
          </a:xfrm>
          <a:prstGeom prst="rect">
            <a:avLst/>
          </a:prstGeom>
        </p:spPr>
      </p:pic>
      <p:sp>
        <p:nvSpPr>
          <p:cNvPr id="6" name="Slide Number Placeholder 5"/>
          <p:cNvSpPr>
            <a:spLocks noGrp="1"/>
          </p:cNvSpPr>
          <p:nvPr>
            <p:ph type="sldNum" sz="quarter" idx="12"/>
          </p:nvPr>
        </p:nvSpPr>
        <p:spPr/>
        <p:txBody>
          <a:bodyPr/>
          <a:lstStyle/>
          <a:p>
            <a:fld id="{3573514D-2FE9-42EC-9BF7-540E13BC1ADC}" type="slidenum">
              <a:rPr lang="en-US" smtClean="0"/>
              <a:t>26</a:t>
            </a:fld>
            <a:endParaRPr lang="en-US"/>
          </a:p>
        </p:txBody>
      </p:sp>
    </p:spTree>
    <p:extLst>
      <p:ext uri="{BB962C8B-B14F-4D97-AF65-F5344CB8AC3E}">
        <p14:creationId xmlns:p14="http://schemas.microsoft.com/office/powerpoint/2010/main" val="30996871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Algorithm</a:t>
            </a:r>
            <a:endParaRPr lang="en-US" dirty="0"/>
          </a:p>
        </p:txBody>
      </p:sp>
      <p:pic>
        <p:nvPicPr>
          <p:cNvPr id="4" name="Picture 3"/>
          <p:cNvPicPr>
            <a:picLocks noChangeAspect="1"/>
          </p:cNvPicPr>
          <p:nvPr/>
        </p:nvPicPr>
        <p:blipFill>
          <a:blip r:embed="rId2"/>
          <a:stretch>
            <a:fillRect/>
          </a:stretch>
        </p:blipFill>
        <p:spPr>
          <a:xfrm>
            <a:off x="838200" y="1799934"/>
            <a:ext cx="4029637" cy="4172532"/>
          </a:xfrm>
          <a:prstGeom prst="rect">
            <a:avLst/>
          </a:prstGeom>
        </p:spPr>
      </p:pic>
      <p:sp>
        <p:nvSpPr>
          <p:cNvPr id="5" name="TextBox 4"/>
          <p:cNvSpPr txBox="1"/>
          <p:nvPr/>
        </p:nvSpPr>
        <p:spPr>
          <a:xfrm>
            <a:off x="6647688" y="2157984"/>
            <a:ext cx="4846320" cy="1477328"/>
          </a:xfrm>
          <a:prstGeom prst="rect">
            <a:avLst/>
          </a:prstGeom>
          <a:noFill/>
        </p:spPr>
        <p:txBody>
          <a:bodyPr wrap="square" rtlCol="0">
            <a:spAutoFit/>
          </a:bodyPr>
          <a:lstStyle/>
          <a:p>
            <a:pPr marL="285750" indent="-285750">
              <a:buFont typeface="Arial" panose="020B0604020202020204" pitchFamily="34" charset="0"/>
              <a:buChar char="•"/>
            </a:pPr>
            <a:r>
              <a:rPr lang="en-US" dirty="0" smtClean="0"/>
              <a:t>The updates of the bias and weights are too abrupt. </a:t>
            </a:r>
          </a:p>
          <a:p>
            <a:pPr marL="285750" indent="-285750">
              <a:buFont typeface="Arial" panose="020B0604020202020204" pitchFamily="34" charset="0"/>
              <a:buChar char="•"/>
            </a:pPr>
            <a:r>
              <a:rPr lang="en-US" dirty="0" smtClean="0"/>
              <a:t>In order to make the learning more gradual, we need to introduce a learning rate, </a:t>
            </a:r>
            <a:r>
              <a:rPr lang="en-US" dirty="0" smtClean="0">
                <a:sym typeface="Symbol" panose="05050102010706020507" pitchFamily="18" charset="2"/>
              </a:rPr>
              <a:t> </a:t>
            </a:r>
            <a:endParaRPr lang="en-US" dirty="0" smtClean="0"/>
          </a:p>
          <a:p>
            <a:endParaRPr lang="en-US" dirty="0"/>
          </a:p>
        </p:txBody>
      </p:sp>
      <p:sp>
        <p:nvSpPr>
          <p:cNvPr id="3" name="Slide Number Placeholder 2"/>
          <p:cNvSpPr>
            <a:spLocks noGrp="1"/>
          </p:cNvSpPr>
          <p:nvPr>
            <p:ph type="sldNum" sz="quarter" idx="12"/>
          </p:nvPr>
        </p:nvSpPr>
        <p:spPr/>
        <p:txBody>
          <a:bodyPr/>
          <a:lstStyle/>
          <a:p>
            <a:fld id="{3573514D-2FE9-42EC-9BF7-540E13BC1ADC}" type="slidenum">
              <a:rPr lang="en-US" smtClean="0"/>
              <a:t>27</a:t>
            </a:fld>
            <a:endParaRPr lang="en-US"/>
          </a:p>
        </p:txBody>
      </p:sp>
    </p:spTree>
    <p:extLst>
      <p:ext uri="{BB962C8B-B14F-4D97-AF65-F5344CB8AC3E}">
        <p14:creationId xmlns:p14="http://schemas.microsoft.com/office/powerpoint/2010/main" val="226476663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Algorithm</a:t>
            </a:r>
            <a:endParaRPr lang="en-US" dirty="0"/>
          </a:p>
        </p:txBody>
      </p:sp>
      <p:pic>
        <p:nvPicPr>
          <p:cNvPr id="4" name="Picture 3"/>
          <p:cNvPicPr>
            <a:picLocks noChangeAspect="1"/>
          </p:cNvPicPr>
          <p:nvPr/>
        </p:nvPicPr>
        <p:blipFill>
          <a:blip r:embed="rId2"/>
          <a:stretch>
            <a:fillRect/>
          </a:stretch>
        </p:blipFill>
        <p:spPr>
          <a:xfrm>
            <a:off x="663969" y="1690688"/>
            <a:ext cx="4353533" cy="4344006"/>
          </a:xfrm>
          <a:prstGeom prst="rect">
            <a:avLst/>
          </a:prstGeom>
        </p:spPr>
      </p:pic>
      <p:sp>
        <p:nvSpPr>
          <p:cNvPr id="3" name="Slide Number Placeholder 2"/>
          <p:cNvSpPr>
            <a:spLocks noGrp="1"/>
          </p:cNvSpPr>
          <p:nvPr>
            <p:ph type="sldNum" sz="quarter" idx="12"/>
          </p:nvPr>
        </p:nvSpPr>
        <p:spPr/>
        <p:txBody>
          <a:bodyPr/>
          <a:lstStyle/>
          <a:p>
            <a:fld id="{3573514D-2FE9-42EC-9BF7-540E13BC1ADC}" type="slidenum">
              <a:rPr lang="en-US" smtClean="0"/>
              <a:t>28</a:t>
            </a:fld>
            <a:endParaRPr lang="en-US"/>
          </a:p>
        </p:txBody>
      </p:sp>
    </p:spTree>
    <p:extLst>
      <p:ext uri="{BB962C8B-B14F-4D97-AF65-F5344CB8AC3E}">
        <p14:creationId xmlns:p14="http://schemas.microsoft.com/office/powerpoint/2010/main" val="122027267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Algorithm</a:t>
            </a:r>
            <a:endParaRPr lang="en-US" dirty="0"/>
          </a:p>
        </p:txBody>
      </p:sp>
      <p:pic>
        <p:nvPicPr>
          <p:cNvPr id="4" name="Picture 3"/>
          <p:cNvPicPr>
            <a:picLocks noChangeAspect="1"/>
          </p:cNvPicPr>
          <p:nvPr/>
        </p:nvPicPr>
        <p:blipFill>
          <a:blip r:embed="rId2"/>
          <a:stretch>
            <a:fillRect/>
          </a:stretch>
        </p:blipFill>
        <p:spPr>
          <a:xfrm>
            <a:off x="838200" y="1814558"/>
            <a:ext cx="5658640" cy="2076740"/>
          </a:xfrm>
          <a:prstGeom prst="rect">
            <a:avLst/>
          </a:prstGeom>
        </p:spPr>
      </p:pic>
      <p:sp>
        <p:nvSpPr>
          <p:cNvPr id="3" name="Slide Number Placeholder 2"/>
          <p:cNvSpPr>
            <a:spLocks noGrp="1"/>
          </p:cNvSpPr>
          <p:nvPr>
            <p:ph type="sldNum" sz="quarter" idx="12"/>
          </p:nvPr>
        </p:nvSpPr>
        <p:spPr/>
        <p:txBody>
          <a:bodyPr/>
          <a:lstStyle/>
          <a:p>
            <a:fld id="{3573514D-2FE9-42EC-9BF7-540E13BC1ADC}" type="slidenum">
              <a:rPr lang="en-US" smtClean="0"/>
              <a:t>29</a:t>
            </a:fld>
            <a:endParaRPr lang="en-US"/>
          </a:p>
        </p:txBody>
      </p:sp>
    </p:spTree>
    <p:extLst>
      <p:ext uri="{BB962C8B-B14F-4D97-AF65-F5344CB8AC3E}">
        <p14:creationId xmlns:p14="http://schemas.microsoft.com/office/powerpoint/2010/main" val="31464225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Perceptron rule / </a:t>
            </a:r>
            <a:r>
              <a:rPr lang="en-US" dirty="0"/>
              <a:t>P</a:t>
            </a:r>
            <a:r>
              <a:rPr lang="en-US" dirty="0" smtClean="0"/>
              <a:t>erceptron trick</a:t>
            </a:r>
            <a:endParaRPr lang="en-US" dirty="0"/>
          </a:p>
        </p:txBody>
      </p:sp>
      <p:sp>
        <p:nvSpPr>
          <p:cNvPr id="3" name="Content Placeholder 2"/>
          <p:cNvSpPr>
            <a:spLocks noGrp="1"/>
          </p:cNvSpPr>
          <p:nvPr>
            <p:ph idx="1"/>
          </p:nvPr>
        </p:nvSpPr>
        <p:spPr/>
        <p:txBody>
          <a:bodyPr/>
          <a:lstStyle/>
          <a:p>
            <a:r>
              <a:rPr lang="en-US" dirty="0" smtClean="0"/>
              <a:t>Convergence can be slow</a:t>
            </a:r>
          </a:p>
          <a:p>
            <a:pPr lvl="1"/>
            <a:r>
              <a:rPr lang="en-US" dirty="0" smtClean="0"/>
              <a:t>If </a:t>
            </a:r>
            <a:r>
              <a:rPr lang="en-US" dirty="0"/>
              <a:t>the </a:t>
            </a:r>
            <a:r>
              <a:rPr lang="en-US" b="1" dirty="0"/>
              <a:t>learning rate</a:t>
            </a:r>
            <a:r>
              <a:rPr lang="en-US" dirty="0"/>
              <a:t> (</a:t>
            </a:r>
            <a:r>
              <a:rPr lang="en-US" dirty="0" smtClean="0"/>
              <a:t>η) </a:t>
            </a:r>
            <a:r>
              <a:rPr lang="en-US" dirty="0"/>
              <a:t>is too small, updates take too long</a:t>
            </a:r>
            <a:r>
              <a:rPr lang="en-US" dirty="0" smtClean="0"/>
              <a:t>.</a:t>
            </a:r>
          </a:p>
          <a:p>
            <a:pPr lvl="1"/>
            <a:r>
              <a:rPr lang="en-US" dirty="0"/>
              <a:t>If </a:t>
            </a:r>
            <a:r>
              <a:rPr lang="en-US" dirty="0" smtClean="0"/>
              <a:t>η </a:t>
            </a:r>
            <a:r>
              <a:rPr lang="en-US" dirty="0"/>
              <a:t>is too large, it may </a:t>
            </a:r>
            <a:r>
              <a:rPr lang="en-US" b="1" dirty="0"/>
              <a:t>oscillate</a:t>
            </a:r>
            <a:r>
              <a:rPr lang="en-US" dirty="0"/>
              <a:t> and never converge.</a:t>
            </a:r>
            <a:endParaRPr lang="en-US" dirty="0" smtClean="0"/>
          </a:p>
          <a:p>
            <a:r>
              <a:rPr lang="en-US" dirty="0" smtClean="0"/>
              <a:t>Limited generalization ability</a:t>
            </a:r>
          </a:p>
          <a:p>
            <a:pPr lvl="1"/>
            <a:r>
              <a:rPr lang="en-US" dirty="0"/>
              <a:t>The perceptron only finds </a:t>
            </a:r>
            <a:r>
              <a:rPr lang="en-US" b="1" dirty="0"/>
              <a:t>one possible </a:t>
            </a:r>
            <a:r>
              <a:rPr lang="en-US" b="1" dirty="0" err="1"/>
              <a:t>hyperplane</a:t>
            </a:r>
            <a:r>
              <a:rPr lang="en-US" dirty="0"/>
              <a:t>, but there are often many valid solutions</a:t>
            </a:r>
            <a:r>
              <a:rPr lang="en-US" dirty="0" smtClean="0"/>
              <a:t>.</a:t>
            </a:r>
          </a:p>
          <a:p>
            <a:pPr lvl="1"/>
            <a:r>
              <a:rPr lang="en-US" dirty="0" smtClean="0"/>
              <a:t>It </a:t>
            </a:r>
            <a:r>
              <a:rPr lang="en-US" b="1" dirty="0"/>
              <a:t>does not optimize for the best margin</a:t>
            </a:r>
            <a:r>
              <a:rPr lang="en-US" dirty="0"/>
              <a:t>, meaning it may not generalize well to new data.</a:t>
            </a:r>
            <a:endParaRPr lang="en-US" dirty="0" smtClean="0"/>
          </a:p>
          <a:p>
            <a:endParaRPr lang="en-US" dirty="0"/>
          </a:p>
        </p:txBody>
      </p:sp>
      <p:sp>
        <p:nvSpPr>
          <p:cNvPr id="4" name="Slide Number Placeholder 3"/>
          <p:cNvSpPr>
            <a:spLocks noGrp="1"/>
          </p:cNvSpPr>
          <p:nvPr>
            <p:ph type="sldNum" sz="quarter" idx="12"/>
          </p:nvPr>
        </p:nvSpPr>
        <p:spPr/>
        <p:txBody>
          <a:bodyPr/>
          <a:lstStyle/>
          <a:p>
            <a:fld id="{3573514D-2FE9-42EC-9BF7-540E13BC1ADC}" type="slidenum">
              <a:rPr lang="en-US" smtClean="0"/>
              <a:t>30</a:t>
            </a:fld>
            <a:endParaRPr lang="en-US"/>
          </a:p>
        </p:txBody>
      </p:sp>
    </p:spTree>
    <p:extLst>
      <p:ext uri="{BB962C8B-B14F-4D97-AF65-F5344CB8AC3E}">
        <p14:creationId xmlns:p14="http://schemas.microsoft.com/office/powerpoint/2010/main" val="395609373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Loss Function</a:t>
            </a:r>
            <a:endParaRPr lang="en-US" dirty="0"/>
          </a:p>
        </p:txBody>
      </p:sp>
      <p:sp>
        <p:nvSpPr>
          <p:cNvPr id="3" name="Content Placeholder 2"/>
          <p:cNvSpPr>
            <a:spLocks noGrp="1"/>
          </p:cNvSpPr>
          <p:nvPr>
            <p:ph idx="1"/>
          </p:nvPr>
        </p:nvSpPr>
        <p:spPr/>
        <p:txBody>
          <a:bodyPr/>
          <a:lstStyle/>
          <a:p>
            <a:r>
              <a:rPr lang="en-US" dirty="0"/>
              <a:t>A </a:t>
            </a:r>
            <a:r>
              <a:rPr lang="en-US" b="1" dirty="0"/>
              <a:t>loss function</a:t>
            </a:r>
            <a:r>
              <a:rPr lang="en-US" dirty="0"/>
              <a:t> is a mathematical function that measures how well a machine learning model’s predictions match the actual values. It quantifies the error between predicted outputs and the true labels, guiding the model’s learning process.</a:t>
            </a:r>
          </a:p>
        </p:txBody>
      </p:sp>
      <p:sp>
        <p:nvSpPr>
          <p:cNvPr id="4" name="Slide Number Placeholder 3"/>
          <p:cNvSpPr>
            <a:spLocks noGrp="1"/>
          </p:cNvSpPr>
          <p:nvPr>
            <p:ph type="sldNum" sz="quarter" idx="12"/>
          </p:nvPr>
        </p:nvSpPr>
        <p:spPr/>
        <p:txBody>
          <a:bodyPr/>
          <a:lstStyle/>
          <a:p>
            <a:fld id="{3573514D-2FE9-42EC-9BF7-540E13BC1ADC}" type="slidenum">
              <a:rPr lang="en-US" smtClean="0"/>
              <a:t>31</a:t>
            </a:fld>
            <a:endParaRPr lang="en-US"/>
          </a:p>
        </p:txBody>
      </p:sp>
    </p:spTree>
    <p:extLst>
      <p:ext uri="{BB962C8B-B14F-4D97-AF65-F5344CB8AC3E}">
        <p14:creationId xmlns:p14="http://schemas.microsoft.com/office/powerpoint/2010/main" val="40109118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we need a loss function?</a:t>
            </a:r>
            <a:endParaRPr lang="en-US" dirty="0"/>
          </a:p>
        </p:txBody>
      </p:sp>
      <p:sp>
        <p:nvSpPr>
          <p:cNvPr id="3" name="Content Placeholder 2"/>
          <p:cNvSpPr>
            <a:spLocks noGrp="1"/>
          </p:cNvSpPr>
          <p:nvPr>
            <p:ph idx="1"/>
          </p:nvPr>
        </p:nvSpPr>
        <p:spPr/>
        <p:txBody>
          <a:bodyPr/>
          <a:lstStyle/>
          <a:p>
            <a:r>
              <a:rPr lang="en-US" dirty="0"/>
              <a:t>It </a:t>
            </a:r>
            <a:r>
              <a:rPr lang="en-US" b="1" dirty="0"/>
              <a:t>evaluates the model's performance</a:t>
            </a:r>
            <a:r>
              <a:rPr lang="en-US" dirty="0"/>
              <a:t> by computing the difference between predictions and actual values</a:t>
            </a:r>
            <a:r>
              <a:rPr lang="en-US" dirty="0" smtClean="0"/>
              <a:t>.</a:t>
            </a:r>
          </a:p>
          <a:p>
            <a:r>
              <a:rPr lang="en-US" dirty="0"/>
              <a:t>It </a:t>
            </a:r>
            <a:r>
              <a:rPr lang="en-US" b="1" dirty="0"/>
              <a:t>guides optimization algorithms</a:t>
            </a:r>
            <a:r>
              <a:rPr lang="en-US" dirty="0"/>
              <a:t> (like gradient descent) to update the model’s parameters (weights &amp; biases</a:t>
            </a:r>
            <a:r>
              <a:rPr lang="en-US" dirty="0" smtClean="0"/>
              <a:t>).</a:t>
            </a:r>
          </a:p>
          <a:p>
            <a:r>
              <a:rPr lang="en-US" dirty="0"/>
              <a:t>A </a:t>
            </a:r>
            <a:r>
              <a:rPr lang="en-US" b="1" dirty="0"/>
              <a:t>smaller loss means a better model</a:t>
            </a:r>
            <a:r>
              <a:rPr lang="en-US" dirty="0" smtClean="0"/>
              <a:t>.</a:t>
            </a:r>
            <a:endParaRPr lang="en-US" dirty="0"/>
          </a:p>
        </p:txBody>
      </p:sp>
      <p:sp>
        <p:nvSpPr>
          <p:cNvPr id="4" name="Slide Number Placeholder 3"/>
          <p:cNvSpPr>
            <a:spLocks noGrp="1"/>
          </p:cNvSpPr>
          <p:nvPr>
            <p:ph type="sldNum" sz="quarter" idx="12"/>
          </p:nvPr>
        </p:nvSpPr>
        <p:spPr/>
        <p:txBody>
          <a:bodyPr/>
          <a:lstStyle/>
          <a:p>
            <a:fld id="{3573514D-2FE9-42EC-9BF7-540E13BC1ADC}" type="slidenum">
              <a:rPr lang="en-US" smtClean="0"/>
              <a:t>32</a:t>
            </a:fld>
            <a:endParaRPr lang="en-US"/>
          </a:p>
        </p:txBody>
      </p:sp>
    </p:spTree>
    <p:extLst>
      <p:ext uri="{BB962C8B-B14F-4D97-AF65-F5344CB8AC3E}">
        <p14:creationId xmlns:p14="http://schemas.microsoft.com/office/powerpoint/2010/main" val="35713928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Loss Function</a:t>
            </a:r>
            <a:endParaRPr lang="en-US" dirty="0"/>
          </a:p>
        </p:txBody>
      </p:sp>
      <p:sp>
        <p:nvSpPr>
          <p:cNvPr id="3" name="Content Placeholder 2"/>
          <p:cNvSpPr>
            <a:spLocks noGrp="1"/>
          </p:cNvSpPr>
          <p:nvPr>
            <p:ph idx="1"/>
          </p:nvPr>
        </p:nvSpPr>
        <p:spPr/>
        <p:txBody>
          <a:bodyPr/>
          <a:lstStyle/>
          <a:p>
            <a:r>
              <a:rPr lang="en-US" dirty="0" smtClean="0"/>
              <a:t>Hinge loss – SVM </a:t>
            </a:r>
          </a:p>
          <a:p>
            <a:r>
              <a:rPr lang="en-US" dirty="0" smtClean="0"/>
              <a:t>Cross Entropy loss / Log loss – Logistic Regression</a:t>
            </a:r>
          </a:p>
          <a:p>
            <a:r>
              <a:rPr lang="en-US" dirty="0" smtClean="0"/>
              <a:t>MSE – Regression</a:t>
            </a:r>
          </a:p>
          <a:p>
            <a:r>
              <a:rPr lang="en-US" dirty="0" smtClean="0"/>
              <a:t>MAE – Regression  </a:t>
            </a:r>
          </a:p>
          <a:p>
            <a:r>
              <a:rPr lang="en-US" dirty="0" smtClean="0"/>
              <a:t>Huber Loss – Regression (less sensitive to outliers compared to MSE)</a:t>
            </a:r>
            <a:endParaRPr lang="en-US" dirty="0"/>
          </a:p>
        </p:txBody>
      </p:sp>
      <p:sp>
        <p:nvSpPr>
          <p:cNvPr id="4" name="Slide Number Placeholder 3"/>
          <p:cNvSpPr>
            <a:spLocks noGrp="1"/>
          </p:cNvSpPr>
          <p:nvPr>
            <p:ph type="sldNum" sz="quarter" idx="12"/>
          </p:nvPr>
        </p:nvSpPr>
        <p:spPr/>
        <p:txBody>
          <a:bodyPr/>
          <a:lstStyle/>
          <a:p>
            <a:fld id="{3573514D-2FE9-42EC-9BF7-540E13BC1ADC}" type="slidenum">
              <a:rPr lang="en-US" smtClean="0"/>
              <a:t>33</a:t>
            </a:fld>
            <a:endParaRPr lang="en-US"/>
          </a:p>
        </p:txBody>
      </p:sp>
    </p:spTree>
    <p:extLst>
      <p:ext uri="{BB962C8B-B14F-4D97-AF65-F5344CB8AC3E}">
        <p14:creationId xmlns:p14="http://schemas.microsoft.com/office/powerpoint/2010/main" val="350857930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Loss Function (</a:t>
            </a:r>
            <a:r>
              <a:rPr lang="en-US" dirty="0" err="1" smtClean="0"/>
              <a:t>sklearn</a:t>
            </a:r>
            <a:r>
              <a:rPr lang="en-US" dirty="0" smtClean="0"/>
              <a:t> documentation) </a:t>
            </a:r>
            <a:endParaRPr lang="en-US" dirty="0"/>
          </a:p>
        </p:txBody>
      </p:sp>
      <p:pic>
        <p:nvPicPr>
          <p:cNvPr id="4" name="Picture 3"/>
          <p:cNvPicPr>
            <a:picLocks noChangeAspect="1"/>
          </p:cNvPicPr>
          <p:nvPr/>
        </p:nvPicPr>
        <p:blipFill>
          <a:blip r:embed="rId2"/>
          <a:stretch>
            <a:fillRect/>
          </a:stretch>
        </p:blipFill>
        <p:spPr>
          <a:xfrm>
            <a:off x="651209" y="1690688"/>
            <a:ext cx="8053879" cy="4717721"/>
          </a:xfrm>
          <a:prstGeom prst="rect">
            <a:avLst/>
          </a:prstGeom>
        </p:spPr>
      </p:pic>
      <p:sp>
        <p:nvSpPr>
          <p:cNvPr id="5" name="TextBox 4"/>
          <p:cNvSpPr txBox="1"/>
          <p:nvPr/>
        </p:nvSpPr>
        <p:spPr>
          <a:xfrm>
            <a:off x="8558784" y="2395728"/>
            <a:ext cx="3633216" cy="646331"/>
          </a:xfrm>
          <a:prstGeom prst="rect">
            <a:avLst/>
          </a:prstGeom>
          <a:noFill/>
        </p:spPr>
        <p:txBody>
          <a:bodyPr wrap="square" rtlCol="0">
            <a:spAutoFit/>
          </a:bodyPr>
          <a:lstStyle/>
          <a:p>
            <a:r>
              <a:rPr lang="en-US" dirty="0">
                <a:hlinkClick r:id="rId3"/>
              </a:rPr>
              <a:t>https://scikit-learn.org/stable/modules/sgd.html</a:t>
            </a:r>
            <a:r>
              <a:rPr lang="en-US" dirty="0" smtClean="0">
                <a:hlinkClick r:id="rId3"/>
              </a:rPr>
              <a:t>#</a:t>
            </a:r>
            <a:r>
              <a:rPr lang="en-US" dirty="0" smtClean="0"/>
              <a:t> </a:t>
            </a:r>
            <a:endParaRPr lang="en-US" dirty="0"/>
          </a:p>
        </p:txBody>
      </p:sp>
      <p:sp>
        <p:nvSpPr>
          <p:cNvPr id="3" name="Slide Number Placeholder 2"/>
          <p:cNvSpPr>
            <a:spLocks noGrp="1"/>
          </p:cNvSpPr>
          <p:nvPr>
            <p:ph type="sldNum" sz="quarter" idx="12"/>
          </p:nvPr>
        </p:nvSpPr>
        <p:spPr/>
        <p:txBody>
          <a:bodyPr/>
          <a:lstStyle/>
          <a:p>
            <a:fld id="{3573514D-2FE9-42EC-9BF7-540E13BC1ADC}" type="slidenum">
              <a:rPr lang="en-US" smtClean="0"/>
              <a:t>34</a:t>
            </a:fld>
            <a:endParaRPr lang="en-US"/>
          </a:p>
        </p:txBody>
      </p:sp>
    </p:spTree>
    <p:extLst>
      <p:ext uri="{BB962C8B-B14F-4D97-AF65-F5344CB8AC3E}">
        <p14:creationId xmlns:p14="http://schemas.microsoft.com/office/powerpoint/2010/main" val="24196166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43733"/>
            <a:ext cx="2656124" cy="1325563"/>
          </a:xfrm>
        </p:spPr>
        <p:txBody>
          <a:bodyPr>
            <a:normAutofit/>
          </a:bodyPr>
          <a:lstStyle/>
          <a:p>
            <a:r>
              <a:rPr lang="en-US" dirty="0" smtClean="0"/>
              <a:t>Loss Functions</a:t>
            </a:r>
            <a:endParaRPr lang="en-US" dirty="0"/>
          </a:p>
        </p:txBody>
      </p:sp>
      <p:pic>
        <p:nvPicPr>
          <p:cNvPr id="4" name="Picture 3"/>
          <p:cNvPicPr>
            <a:picLocks noChangeAspect="1"/>
          </p:cNvPicPr>
          <p:nvPr/>
        </p:nvPicPr>
        <p:blipFill>
          <a:blip r:embed="rId2"/>
          <a:stretch>
            <a:fillRect/>
          </a:stretch>
        </p:blipFill>
        <p:spPr>
          <a:xfrm>
            <a:off x="3494324" y="365125"/>
            <a:ext cx="8440328" cy="6182588"/>
          </a:xfrm>
          <a:prstGeom prst="rect">
            <a:avLst/>
          </a:prstGeom>
        </p:spPr>
      </p:pic>
      <p:sp>
        <p:nvSpPr>
          <p:cNvPr id="3" name="Slide Number Placeholder 2"/>
          <p:cNvSpPr>
            <a:spLocks noGrp="1"/>
          </p:cNvSpPr>
          <p:nvPr>
            <p:ph type="sldNum" sz="quarter" idx="12"/>
          </p:nvPr>
        </p:nvSpPr>
        <p:spPr/>
        <p:txBody>
          <a:bodyPr/>
          <a:lstStyle/>
          <a:p>
            <a:fld id="{3573514D-2FE9-42EC-9BF7-540E13BC1ADC}" type="slidenum">
              <a:rPr lang="en-US" smtClean="0"/>
              <a:t>35</a:t>
            </a:fld>
            <a:endParaRPr lang="en-US"/>
          </a:p>
        </p:txBody>
      </p:sp>
    </p:spTree>
    <p:extLst>
      <p:ext uri="{BB962C8B-B14F-4D97-AF65-F5344CB8AC3E}">
        <p14:creationId xmlns:p14="http://schemas.microsoft.com/office/powerpoint/2010/main" val="313781116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Perceptron Loss Function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3340735"/>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e>
                      </m:d>
                      <m:r>
                        <a:rPr lang="en-US" b="0" i="1" smtClean="0">
                          <a:latin typeface="Cambria Math" panose="02040503050406030204" pitchFamily="18" charset="0"/>
                        </a:rPr>
                        <m:t>=</m:t>
                      </m:r>
                      <m:r>
                        <m:rPr>
                          <m:sty m:val="p"/>
                        </m:rPr>
                        <a:rPr lang="en-US" b="0" i="0" smtClean="0">
                          <a:latin typeface="Cambria Math" panose="02040503050406030204" pitchFamily="18" charset="0"/>
                        </a:rPr>
                        <m:t>max</m:t>
                      </m:r>
                      <m:r>
                        <a:rPr lang="en-US" b="0" i="0"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oMath>
                  </m:oMathPara>
                </a14:m>
                <a:endParaRPr lang="en-US" dirty="0" smtClean="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r>
                            <a:rPr lang="en-US" b="0" i="1" smtClean="0">
                              <a:latin typeface="Cambria Math" panose="02040503050406030204" pitchFamily="18" charset="0"/>
                            </a:rPr>
                            <m:t>, </m:t>
                          </m:r>
                          <m:r>
                            <a:rPr lang="en-US" b="0" i="1" smtClean="0">
                              <a:latin typeface="Cambria Math" panose="02040503050406030204" pitchFamily="18" charset="0"/>
                            </a:rPr>
                            <m:t>𝑏</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m:rPr>
                              <m:sty m:val="p"/>
                            </m:rPr>
                            <a:rPr lang="en-US" b="0" i="0" smtClean="0">
                              <a:latin typeface="Cambria Math" panose="02040503050406030204" pitchFamily="18" charset="0"/>
                            </a:rPr>
                            <m:t>max</m:t>
                          </m:r>
                          <m:r>
                            <a:rPr lang="en-US" b="0" i="1"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e>
                      </m:nary>
                    </m:oMath>
                  </m:oMathPara>
                </a14:m>
                <a:endParaRPr lang="en-US" dirty="0" smtClean="0"/>
              </a:p>
              <a:p>
                <a:pPr marL="0" indent="0">
                  <a:buNone/>
                </a:pPr>
                <a:r>
                  <a:rPr lang="en-US" dirty="0" smtClean="0"/>
                  <a:t>Objective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 </m:t>
                      </m:r>
                      <m:f>
                        <m:fPr>
                          <m:type m:val="noBar"/>
                          <m:ctrlPr>
                            <a:rPr lang="en-US" b="0" i="1" smtClean="0">
                              <a:latin typeface="Cambria Math" panose="02040503050406030204" pitchFamily="18" charset="0"/>
                            </a:rPr>
                          </m:ctrlPr>
                        </m:fPr>
                        <m:num>
                          <m:r>
                            <a:rPr lang="en-US" b="0" i="1" smtClean="0">
                              <a:latin typeface="Cambria Math" panose="02040503050406030204" pitchFamily="18" charset="0"/>
                            </a:rPr>
                            <m:t>𝑎𝑟𝑔𝑚𝑖𝑛</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r>
                            <a:rPr lang="en-US" b="0" i="1" smtClean="0">
                              <a:latin typeface="Cambria Math" panose="02040503050406030204" pitchFamily="18" charset="0"/>
                            </a:rPr>
                            <m:t>, </m:t>
                          </m:r>
                          <m:r>
                            <a:rPr lang="en-US" b="0" i="1" smtClean="0">
                              <a:latin typeface="Cambria Math" panose="02040503050406030204" pitchFamily="18" charset="0"/>
                            </a:rPr>
                            <m:t>𝑏</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𝑚𝑎𝑥</m:t>
                          </m:r>
                          <m:d>
                            <m:dPr>
                              <m:ctrlPr>
                                <a:rPr lang="en-US" b="0" i="1" smtClean="0">
                                  <a:latin typeface="Cambria Math" panose="02040503050406030204" pitchFamily="18" charset="0"/>
                                </a:rPr>
                              </m:ctrlPr>
                            </m:dPr>
                            <m:e>
                              <m:r>
                                <a:rPr lang="en-US" b="0" i="1"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e>
                          </m:d>
                        </m:e>
                      </m:nary>
                    </m:oMath>
                  </m:oMathPara>
                </a14:m>
                <a:endParaRPr lang="en-US" dirty="0" smtClean="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3340735"/>
              </a:xfrm>
              <a:blipFill rotWithShape="0">
                <a:blip r:embed="rId2"/>
                <a:stretch>
                  <a:fillRect l="-1217"/>
                </a:stretch>
              </a:blipFill>
            </p:spPr>
            <p:txBody>
              <a:bodyPr/>
              <a:lstStyle/>
              <a:p>
                <a:r>
                  <a:rPr lang="en-US">
                    <a:noFill/>
                  </a:rPr>
                  <a:t> </a:t>
                </a:r>
              </a:p>
            </p:txBody>
          </p:sp>
        </mc:Fallback>
      </mc:AlternateContent>
      <p:sp>
        <p:nvSpPr>
          <p:cNvPr id="4" name="TextBox 3"/>
          <p:cNvSpPr txBox="1"/>
          <p:nvPr/>
        </p:nvSpPr>
        <p:spPr>
          <a:xfrm>
            <a:off x="2587752" y="5486400"/>
            <a:ext cx="1793120" cy="369332"/>
          </a:xfrm>
          <a:prstGeom prst="rect">
            <a:avLst/>
          </a:prstGeom>
          <a:noFill/>
        </p:spPr>
        <p:txBody>
          <a:bodyPr wrap="none" rtlCol="0">
            <a:spAutoFit/>
          </a:bodyPr>
          <a:lstStyle/>
          <a:p>
            <a:r>
              <a:rPr lang="en-US" dirty="0" smtClean="0"/>
              <a:t>Gradient descent</a:t>
            </a:r>
            <a:endParaRPr lang="en-US" dirty="0"/>
          </a:p>
        </p:txBody>
      </p:sp>
      <p:cxnSp>
        <p:nvCxnSpPr>
          <p:cNvPr id="6" name="Curved Connector 5"/>
          <p:cNvCxnSpPr/>
          <p:nvPr/>
        </p:nvCxnSpPr>
        <p:spPr>
          <a:xfrm flipV="1">
            <a:off x="4133088" y="4878324"/>
            <a:ext cx="640080" cy="576072"/>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
        <p:nvSpPr>
          <p:cNvPr id="5" name="Slide Number Placeholder 4"/>
          <p:cNvSpPr>
            <a:spLocks noGrp="1"/>
          </p:cNvSpPr>
          <p:nvPr>
            <p:ph type="sldNum" sz="quarter" idx="12"/>
          </p:nvPr>
        </p:nvSpPr>
        <p:spPr/>
        <p:txBody>
          <a:bodyPr/>
          <a:lstStyle/>
          <a:p>
            <a:fld id="{3573514D-2FE9-42EC-9BF7-540E13BC1ADC}" type="slidenum">
              <a:rPr lang="en-US" smtClean="0"/>
              <a:t>36</a:t>
            </a:fld>
            <a:endParaRPr lang="en-US"/>
          </a:p>
        </p:txBody>
      </p:sp>
    </p:spTree>
    <p:extLst>
      <p:ext uri="{BB962C8B-B14F-4D97-AF65-F5344CB8AC3E}">
        <p14:creationId xmlns:p14="http://schemas.microsoft.com/office/powerpoint/2010/main" val="41540643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Understanding Perceptron Loss Function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63608175"/>
              </p:ext>
            </p:extLst>
          </p:nvPr>
        </p:nvGraphicFramePr>
        <p:xfrm>
          <a:off x="838200" y="1825625"/>
          <a:ext cx="10515600" cy="2966720"/>
        </p:xfrm>
        <a:graphic>
          <a:graphicData uri="http://schemas.openxmlformats.org/drawingml/2006/table">
            <a:tbl>
              <a:tblPr firstRow="1" bandRow="1">
                <a:tableStyleId>{5C22544A-7EE6-4342-B048-85BDC9FD1C3A}</a:tableStyleId>
              </a:tblPr>
              <a:tblGrid>
                <a:gridCol w="3505200"/>
                <a:gridCol w="3505200"/>
                <a:gridCol w="3505200"/>
              </a:tblGrid>
              <a:tr h="370840">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endParaRPr lang="en-US" dirty="0"/>
                    </a:p>
                  </a:txBody>
                  <a:tcPr/>
                </a:tc>
              </a:tr>
              <a:tr h="370840">
                <a:tc>
                  <a:txBody>
                    <a:bodyPr/>
                    <a:lstStyle/>
                    <a:p>
                      <a:r>
                        <a:rPr lang="en-US" dirty="0" smtClean="0"/>
                        <a:t>X</a:t>
                      </a:r>
                      <a:r>
                        <a:rPr lang="en-US" baseline="-25000" dirty="0" smtClean="0"/>
                        <a:t>1</a:t>
                      </a:r>
                      <a:endParaRPr lang="en-US" dirty="0"/>
                    </a:p>
                  </a:txBody>
                  <a:tcPr/>
                </a:tc>
                <a:tc>
                  <a:txBody>
                    <a:bodyPr/>
                    <a:lstStyle/>
                    <a:p>
                      <a:r>
                        <a:rPr lang="en-US" dirty="0" smtClean="0"/>
                        <a:t>X</a:t>
                      </a:r>
                      <a:r>
                        <a:rPr lang="en-US" baseline="-25000" dirty="0" smtClean="0"/>
                        <a:t>2</a:t>
                      </a:r>
                      <a:endParaRPr lang="en-US" dirty="0"/>
                    </a:p>
                  </a:txBody>
                  <a:tcPr/>
                </a:tc>
                <a:tc>
                  <a:txBody>
                    <a:bodyPr/>
                    <a:lstStyle/>
                    <a:p>
                      <a:r>
                        <a:rPr lang="en-US" dirty="0" smtClean="0"/>
                        <a:t>Y</a:t>
                      </a:r>
                      <a:endParaRPr lang="en-US" dirty="0"/>
                    </a:p>
                  </a:txBody>
                  <a:tcPr/>
                </a:tc>
              </a:tr>
              <a:tr h="370840">
                <a:tc>
                  <a:txBody>
                    <a:bodyPr/>
                    <a:lstStyle/>
                    <a:p>
                      <a:r>
                        <a:rPr lang="en-US" dirty="0" smtClean="0"/>
                        <a:t>X</a:t>
                      </a:r>
                      <a:r>
                        <a:rPr lang="en-US" baseline="-25000" dirty="0" smtClean="0"/>
                        <a:t>11</a:t>
                      </a:r>
                      <a:endParaRPr lang="en-US" dirty="0"/>
                    </a:p>
                  </a:txBody>
                  <a:tcPr/>
                </a:tc>
                <a:tc>
                  <a:txBody>
                    <a:bodyPr/>
                    <a:lstStyle/>
                    <a:p>
                      <a:r>
                        <a:rPr lang="en-US" dirty="0" smtClean="0"/>
                        <a:t>X</a:t>
                      </a:r>
                      <a:r>
                        <a:rPr lang="en-US" baseline="-25000" dirty="0" smtClean="0"/>
                        <a:t>21</a:t>
                      </a:r>
                      <a:endParaRPr lang="en-US" dirty="0"/>
                    </a:p>
                  </a:txBody>
                  <a:tcPr/>
                </a:tc>
                <a:tc>
                  <a:txBody>
                    <a:bodyPr/>
                    <a:lstStyle/>
                    <a:p>
                      <a:r>
                        <a:rPr lang="en-US" dirty="0" smtClean="0"/>
                        <a:t>-1/1</a:t>
                      </a:r>
                      <a:endParaRPr lang="en-US" dirty="0"/>
                    </a:p>
                  </a:txBody>
                  <a:tcPr/>
                </a:tc>
              </a:tr>
              <a:tr h="370840">
                <a:tc>
                  <a:txBody>
                    <a:bodyPr/>
                    <a:lstStyle/>
                    <a:p>
                      <a:r>
                        <a:rPr lang="en-US" dirty="0" smtClean="0"/>
                        <a:t>X</a:t>
                      </a:r>
                      <a:r>
                        <a:rPr lang="en-US" baseline="-25000" dirty="0" smtClean="0"/>
                        <a:t>21</a:t>
                      </a:r>
                      <a:endParaRPr lang="en-US" dirty="0"/>
                    </a:p>
                  </a:txBody>
                  <a:tcPr/>
                </a:tc>
                <a:tc>
                  <a:txBody>
                    <a:bodyPr/>
                    <a:lstStyle/>
                    <a:p>
                      <a:r>
                        <a:rPr lang="en-US" dirty="0" smtClean="0"/>
                        <a:t>X</a:t>
                      </a:r>
                      <a:r>
                        <a:rPr lang="en-US" baseline="-25000" dirty="0" smtClean="0"/>
                        <a:t>22</a:t>
                      </a:r>
                      <a:endParaRPr lang="en-US" dirty="0"/>
                    </a:p>
                  </a:txBody>
                  <a:tcPr/>
                </a:tc>
                <a:tc>
                  <a:txBody>
                    <a:bodyPr/>
                    <a:lstStyle/>
                    <a:p>
                      <a:r>
                        <a:rPr lang="en-US" dirty="0" smtClean="0"/>
                        <a:t>-1/1</a:t>
                      </a:r>
                      <a:endParaRPr lang="en-US" dirty="0"/>
                    </a:p>
                  </a:txBody>
                  <a:tcPr/>
                </a:tc>
              </a:tr>
              <a:tr h="370840">
                <a:tc>
                  <a:txBody>
                    <a:bodyPr/>
                    <a:lstStyle/>
                    <a:p>
                      <a:r>
                        <a:rPr lang="en-US" dirty="0" smtClean="0"/>
                        <a:t>…</a:t>
                      </a:r>
                      <a:endParaRPr lang="en-US" dirty="0"/>
                    </a:p>
                  </a:txBody>
                  <a:tcPr/>
                </a:tc>
                <a:tc>
                  <a:txBody>
                    <a:bodyPr/>
                    <a:lstStyle/>
                    <a:p>
                      <a:endParaRPr lang="en-US"/>
                    </a:p>
                  </a:txBody>
                  <a:tcPr/>
                </a:tc>
                <a:tc>
                  <a:txBody>
                    <a:bodyPr/>
                    <a:lstStyle/>
                    <a:p>
                      <a:endParaRPr lang="en-US" dirty="0"/>
                    </a:p>
                  </a:txBody>
                  <a:tcPr/>
                </a:tc>
              </a:tr>
              <a:tr h="370840">
                <a:tc>
                  <a:txBody>
                    <a:bodyPr/>
                    <a:lstStyle/>
                    <a:p>
                      <a:r>
                        <a:rPr lang="en-US" dirty="0" smtClean="0"/>
                        <a:t>X</a:t>
                      </a:r>
                      <a:r>
                        <a:rPr lang="en-US" baseline="-25000" dirty="0" smtClean="0"/>
                        <a:t>i1</a:t>
                      </a:r>
                      <a:endParaRPr lang="en-US" dirty="0"/>
                    </a:p>
                  </a:txBody>
                  <a:tcPr/>
                </a:tc>
                <a:tc>
                  <a:txBody>
                    <a:bodyPr/>
                    <a:lstStyle/>
                    <a:p>
                      <a:r>
                        <a:rPr lang="en-US" dirty="0" smtClean="0"/>
                        <a:t>X</a:t>
                      </a:r>
                      <a:r>
                        <a:rPr lang="en-US" baseline="-25000" dirty="0" smtClean="0"/>
                        <a:t>i2</a:t>
                      </a:r>
                      <a:endParaRPr lang="en-US" dirty="0"/>
                    </a:p>
                  </a:txBody>
                  <a:tcPr/>
                </a:tc>
                <a:tc>
                  <a:txBody>
                    <a:bodyPr/>
                    <a:lstStyle/>
                    <a:p>
                      <a:r>
                        <a:rPr lang="en-US" dirty="0" smtClean="0"/>
                        <a:t>-1/1</a:t>
                      </a:r>
                      <a:endParaRPr lang="en-US" dirty="0"/>
                    </a:p>
                  </a:txBody>
                  <a:tcPr/>
                </a:tc>
              </a:tr>
              <a:tr h="370840">
                <a:tc>
                  <a:txBody>
                    <a:bodyPr/>
                    <a:lstStyle/>
                    <a:p>
                      <a:r>
                        <a:rPr lang="en-US" dirty="0" smtClean="0"/>
                        <a:t>…</a:t>
                      </a:r>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tr>
              <a:tr h="370840">
                <a:tc>
                  <a:txBody>
                    <a:bodyPr/>
                    <a:lstStyle/>
                    <a:p>
                      <a:r>
                        <a:rPr lang="en-US" dirty="0" smtClean="0"/>
                        <a:t>X</a:t>
                      </a:r>
                      <a:r>
                        <a:rPr lang="en-US" baseline="-25000" dirty="0" smtClean="0"/>
                        <a:t>n1</a:t>
                      </a:r>
                      <a:endParaRPr lang="en-US" dirty="0"/>
                    </a:p>
                  </a:txBody>
                  <a:tcPr/>
                </a:tc>
                <a:tc>
                  <a:txBody>
                    <a:bodyPr/>
                    <a:lstStyle/>
                    <a:p>
                      <a:r>
                        <a:rPr lang="en-US" dirty="0" smtClean="0"/>
                        <a:t>X</a:t>
                      </a:r>
                      <a:r>
                        <a:rPr lang="en-US" baseline="-25000" dirty="0" smtClean="0"/>
                        <a:t>n2</a:t>
                      </a:r>
                      <a:endParaRPr lang="en-US" dirty="0"/>
                    </a:p>
                  </a:txBody>
                  <a:tcPr/>
                </a:tc>
                <a:tc>
                  <a:txBody>
                    <a:bodyPr/>
                    <a:lstStyle/>
                    <a:p>
                      <a:r>
                        <a:rPr lang="en-US" dirty="0" smtClean="0"/>
                        <a:t>-1/1</a:t>
                      </a:r>
                      <a:endParaRPr lang="en-US" dirty="0"/>
                    </a:p>
                  </a:txBody>
                  <a:tcPr/>
                </a:tc>
              </a:tr>
            </a:tbl>
          </a:graphicData>
        </a:graphic>
      </p:graphicFrame>
      <mc:AlternateContent xmlns:mc="http://schemas.openxmlformats.org/markup-compatibility/2006" xmlns:a14="http://schemas.microsoft.com/office/drawing/2010/main">
        <mc:Choice Requires="a14">
          <p:sp>
            <p:nvSpPr>
              <p:cNvPr id="5" name="TextBox 4"/>
              <p:cNvSpPr txBox="1"/>
              <p:nvPr/>
            </p:nvSpPr>
            <p:spPr>
              <a:xfrm>
                <a:off x="1170432" y="5376672"/>
                <a:ext cx="47914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1170432" y="5376672"/>
                <a:ext cx="4791456" cy="369332"/>
              </a:xfrm>
              <a:prstGeom prst="rect">
                <a:avLst/>
              </a:prstGeom>
              <a:blipFill rotWithShape="0">
                <a:blip r:embed="rId2"/>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961888" y="5971032"/>
                <a:ext cx="5125762"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𝑚𝑎𝑥</m:t>
                          </m:r>
                          <m:d>
                            <m:dPr>
                              <m:ctrlPr>
                                <a:rPr lang="en-US" b="0" i="1" smtClean="0">
                                  <a:latin typeface="Cambria Math" panose="02040503050406030204" pitchFamily="18" charset="0"/>
                                </a:rPr>
                              </m:ctrlPr>
                            </m:dPr>
                            <m:e>
                              <m:r>
                                <a:rPr lang="en-US" b="0" i="1"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e>
                          </m:d>
                          <m:r>
                            <a:rPr lang="en-US" b="0" i="1" smtClean="0">
                              <a:latin typeface="Cambria Math" panose="02040503050406030204" pitchFamily="18" charset="0"/>
                            </a:rPr>
                            <m:t>+</m:t>
                          </m:r>
                          <m:r>
                            <a:rPr lang="en-US" b="0" i="1" smtClean="0">
                              <a:latin typeface="Cambria Math" panose="02040503050406030204" pitchFamily="18" charset="0"/>
                            </a:rPr>
                            <m:t>𝑚𝑎𝑥</m:t>
                          </m:r>
                          <m:d>
                            <m:dPr>
                              <m:ctrlPr>
                                <a:rPr lang="en-US" b="0" i="1" smtClean="0">
                                  <a:latin typeface="Cambria Math" panose="02040503050406030204" pitchFamily="18" charset="0"/>
                                </a:rPr>
                              </m:ctrlPr>
                            </m:dPr>
                            <m:e>
                              <m:r>
                                <a:rPr lang="en-US" b="0" i="1"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e>
                          </m:d>
                        </m:e>
                      </m:d>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5961888" y="5971032"/>
                <a:ext cx="5125762" cy="610936"/>
              </a:xfrm>
              <a:prstGeom prst="rect">
                <a:avLst/>
              </a:prstGeom>
              <a:blipFill rotWithShape="0">
                <a:blip r:embed="rId3"/>
                <a:stretch>
                  <a:fillRect/>
                </a:stretch>
              </a:blipFill>
            </p:spPr>
            <p:txBody>
              <a:bodyPr/>
              <a:lstStyle/>
              <a:p>
                <a:r>
                  <a:rPr lang="en-US">
                    <a:noFill/>
                  </a:rPr>
                  <a:t> </a:t>
                </a:r>
              </a:p>
            </p:txBody>
          </p:sp>
        </mc:Fallback>
      </mc:AlternateContent>
      <p:sp>
        <p:nvSpPr>
          <p:cNvPr id="7" name="TextBox 6"/>
          <p:cNvSpPr txBox="1"/>
          <p:nvPr/>
        </p:nvSpPr>
        <p:spPr>
          <a:xfrm>
            <a:off x="2606040" y="6091834"/>
            <a:ext cx="1673352" cy="369332"/>
          </a:xfrm>
          <a:prstGeom prst="rect">
            <a:avLst/>
          </a:prstGeom>
          <a:noFill/>
        </p:spPr>
        <p:txBody>
          <a:bodyPr wrap="square" rtlCol="0">
            <a:spAutoFit/>
          </a:bodyPr>
          <a:lstStyle/>
          <a:p>
            <a:r>
              <a:rPr lang="en-US" dirty="0" smtClean="0"/>
              <a:t>For two points</a:t>
            </a:r>
            <a:endParaRPr lang="en-US" dirty="0"/>
          </a:p>
        </p:txBody>
      </p:sp>
      <p:cxnSp>
        <p:nvCxnSpPr>
          <p:cNvPr id="11" name="Straight Arrow Connector 10"/>
          <p:cNvCxnSpPr>
            <a:stCxn id="7" idx="3"/>
            <a:endCxn id="6" idx="1"/>
          </p:cNvCxnSpPr>
          <p:nvPr/>
        </p:nvCxnSpPr>
        <p:spPr>
          <a:xfrm>
            <a:off x="4279392" y="6276500"/>
            <a:ext cx="168249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 name="Slide Number Placeholder 2"/>
          <p:cNvSpPr>
            <a:spLocks noGrp="1"/>
          </p:cNvSpPr>
          <p:nvPr>
            <p:ph type="sldNum" sz="quarter" idx="12"/>
          </p:nvPr>
        </p:nvSpPr>
        <p:spPr/>
        <p:txBody>
          <a:bodyPr/>
          <a:lstStyle/>
          <a:p>
            <a:fld id="{3573514D-2FE9-42EC-9BF7-540E13BC1ADC}" type="slidenum">
              <a:rPr lang="en-US" smtClean="0"/>
              <a:t>37</a:t>
            </a:fld>
            <a:endParaRPr lang="en-US"/>
          </a:p>
        </p:txBody>
      </p:sp>
    </p:spTree>
    <p:extLst>
      <p:ext uri="{BB962C8B-B14F-4D97-AF65-F5344CB8AC3E}">
        <p14:creationId xmlns:p14="http://schemas.microsoft.com/office/powerpoint/2010/main" val="10881235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Perceptron Loss Function</a:t>
            </a: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3314776829"/>
                  </p:ext>
                </p:extLst>
              </p:nvPr>
            </p:nvGraphicFramePr>
            <p:xfrm>
              <a:off x="1185672" y="1779905"/>
              <a:ext cx="4910328" cy="1884426"/>
            </p:xfrm>
            <a:graphic>
              <a:graphicData uri="http://schemas.openxmlformats.org/drawingml/2006/table">
                <a:tbl>
                  <a:tblPr firstRow="1" bandRow="1">
                    <a:tableStyleId>{5C22544A-7EE6-4342-B048-85BDC9FD1C3A}</a:tableStyleId>
                  </a:tblPr>
                  <a:tblGrid>
                    <a:gridCol w="679704"/>
                    <a:gridCol w="713232"/>
                    <a:gridCol w="1509348"/>
                    <a:gridCol w="2008044"/>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1" i="1" smtClean="0">
                                        <a:latin typeface="Cambria Math" panose="02040503050406030204" pitchFamily="18" charset="0"/>
                                      </a:rPr>
                                      <m:t>𝒚</m:t>
                                    </m:r>
                                  </m:e>
                                  <m:sub>
                                    <m:r>
                                      <a:rPr lang="en-US" b="1" i="1" smtClean="0">
                                        <a:latin typeface="Cambria Math" panose="02040503050406030204" pitchFamily="18" charset="0"/>
                                      </a:rPr>
                                      <m:t>𝒊</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1" i="1" smtClean="0">
                                            <a:latin typeface="Cambria Math" panose="02040503050406030204" pitchFamily="18" charset="0"/>
                                          </a:rPr>
                                          <m:t>𝒚</m:t>
                                        </m:r>
                                      </m:e>
                                    </m:acc>
                                  </m:e>
                                  <m:sub>
                                    <m:r>
                                      <a:rPr lang="en-US" b="1" i="1" smtClean="0">
                                        <a:latin typeface="Cambria Math" panose="02040503050406030204" pitchFamily="18" charset="0"/>
                                      </a:rPr>
                                      <m:t>𝒊</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𝒚</m:t>
                                    </m:r>
                                  </m:e>
                                  <m:sub>
                                    <m:r>
                                      <a:rPr lang="en-US" b="1" i="1" smtClean="0">
                                        <a:latin typeface="Cambria Math" panose="02040503050406030204" pitchFamily="18" charset="0"/>
                                      </a:rPr>
                                      <m:t>𝒊</m:t>
                                    </m:r>
                                  </m:sub>
                                </m:sSub>
                                <m:r>
                                  <a:rPr lang="en-US" b="1" i="1" smtClean="0">
                                    <a:latin typeface="Cambria Math" panose="02040503050406030204" pitchFamily="18" charset="0"/>
                                  </a:rPr>
                                  <m:t>𝒇</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e>
                                </m:d>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𝒎𝒂𝒙</m:t>
                                </m:r>
                                <m:d>
                                  <m:dPr>
                                    <m:ctrlPr>
                                      <a:rPr lang="en-US" b="1" i="1" smtClean="0">
                                        <a:latin typeface="Cambria Math" panose="02040503050406030204" pitchFamily="18" charset="0"/>
                                      </a:rPr>
                                    </m:ctrlPr>
                                  </m:dPr>
                                  <m:e>
                                    <m:r>
                                      <a:rPr lang="en-US" b="1" i="1" smtClean="0">
                                        <a:latin typeface="Cambria Math" panose="02040503050406030204" pitchFamily="18" charset="0"/>
                                      </a:rPr>
                                      <m:t>𝟎</m:t>
                                    </m:r>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𝒚</m:t>
                                        </m:r>
                                      </m:e>
                                      <m:sub>
                                        <m:r>
                                          <a:rPr lang="en-US" b="1" i="1" smtClean="0">
                                            <a:latin typeface="Cambria Math" panose="02040503050406030204" pitchFamily="18" charset="0"/>
                                          </a:rPr>
                                          <m:t>𝒊</m:t>
                                        </m:r>
                                      </m:sub>
                                    </m:sSub>
                                    <m:r>
                                      <a:rPr lang="en-US" b="1" i="1" smtClean="0">
                                        <a:latin typeface="Cambria Math" panose="02040503050406030204" pitchFamily="18" charset="0"/>
                                      </a:rPr>
                                      <m:t>𝒇</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e>
                                    </m:d>
                                  </m:e>
                                </m:d>
                              </m:oMath>
                            </m:oMathPara>
                          </a14:m>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3314776829"/>
                  </p:ext>
                </p:extLst>
              </p:nvPr>
            </p:nvGraphicFramePr>
            <p:xfrm>
              <a:off x="1185672" y="1779905"/>
              <a:ext cx="4910328" cy="1884426"/>
            </p:xfrm>
            <a:graphic>
              <a:graphicData uri="http://schemas.openxmlformats.org/drawingml/2006/table">
                <a:tbl>
                  <a:tblPr firstRow="1" bandRow="1">
                    <a:tableStyleId>{5C22544A-7EE6-4342-B048-85BDC9FD1C3A}</a:tableStyleId>
                  </a:tblPr>
                  <a:tblGrid>
                    <a:gridCol w="679704"/>
                    <a:gridCol w="713232"/>
                    <a:gridCol w="1509348"/>
                    <a:gridCol w="2008044"/>
                  </a:tblGrid>
                  <a:tr h="401066">
                    <a:tc>
                      <a:txBody>
                        <a:bodyPr/>
                        <a:lstStyle/>
                        <a:p>
                          <a:endParaRPr lang="en-US"/>
                        </a:p>
                      </a:txBody>
                      <a:tcPr>
                        <a:blipFill rotWithShape="0">
                          <a:blip r:embed="rId2"/>
                          <a:stretch>
                            <a:fillRect l="-893" t="-4545" r="-624107" b="-392424"/>
                          </a:stretch>
                        </a:blipFill>
                      </a:tcPr>
                    </a:tc>
                    <a:tc>
                      <a:txBody>
                        <a:bodyPr/>
                        <a:lstStyle/>
                        <a:p>
                          <a:endParaRPr lang="en-US"/>
                        </a:p>
                      </a:txBody>
                      <a:tcPr>
                        <a:blipFill rotWithShape="0">
                          <a:blip r:embed="rId2"/>
                          <a:stretch>
                            <a:fillRect l="-96581" t="-4545" r="-497436" b="-392424"/>
                          </a:stretch>
                        </a:blipFill>
                      </a:tcPr>
                    </a:tc>
                    <a:tc>
                      <a:txBody>
                        <a:bodyPr/>
                        <a:lstStyle/>
                        <a:p>
                          <a:endParaRPr lang="en-US"/>
                        </a:p>
                      </a:txBody>
                      <a:tcPr>
                        <a:blipFill rotWithShape="0">
                          <a:blip r:embed="rId2"/>
                          <a:stretch>
                            <a:fillRect l="-93117" t="-4545" r="-135628" b="-392424"/>
                          </a:stretch>
                        </a:blipFill>
                      </a:tcPr>
                    </a:tc>
                    <a:tc>
                      <a:txBody>
                        <a:bodyPr/>
                        <a:lstStyle/>
                        <a:p>
                          <a:endParaRPr lang="en-US"/>
                        </a:p>
                      </a:txBody>
                      <a:tcPr>
                        <a:blipFill rotWithShape="0">
                          <a:blip r:embed="rId2"/>
                          <a:stretch>
                            <a:fillRect l="-144545" t="-4545" r="-1515" b="-392424"/>
                          </a:stretch>
                        </a:blipFill>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bl>
              </a:graphicData>
            </a:graphic>
          </p:graphicFrame>
        </mc:Fallback>
      </mc:AlternateContent>
      <p:sp>
        <p:nvSpPr>
          <p:cNvPr id="3" name="Slide Number Placeholder 2"/>
          <p:cNvSpPr>
            <a:spLocks noGrp="1"/>
          </p:cNvSpPr>
          <p:nvPr>
            <p:ph type="sldNum" sz="quarter" idx="12"/>
          </p:nvPr>
        </p:nvSpPr>
        <p:spPr/>
        <p:txBody>
          <a:bodyPr/>
          <a:lstStyle/>
          <a:p>
            <a:fld id="{3573514D-2FE9-42EC-9BF7-540E13BC1ADC}" type="slidenum">
              <a:rPr lang="en-US" smtClean="0"/>
              <a:t>38</a:t>
            </a:fld>
            <a:endParaRPr lang="en-US"/>
          </a:p>
        </p:txBody>
      </p:sp>
    </p:spTree>
    <p:extLst>
      <p:ext uri="{BB962C8B-B14F-4D97-AF65-F5344CB8AC3E}">
        <p14:creationId xmlns:p14="http://schemas.microsoft.com/office/powerpoint/2010/main" val="29888138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1032</TotalTime>
  <Words>1237</Words>
  <Application>Microsoft Office PowerPoint</Application>
  <PresentationFormat>Widescreen</PresentationFormat>
  <Paragraphs>215</Paragraphs>
  <Slides>38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Calibri</vt:lpstr>
      <vt:lpstr>Calibri Light</vt:lpstr>
      <vt:lpstr>Cambria Math</vt:lpstr>
      <vt:lpstr>Symbol</vt:lpstr>
      <vt:lpstr>Times New Roman</vt:lpstr>
      <vt:lpstr>Office Theme</vt:lpstr>
      <vt:lpstr>Perceptron and Perceptron Training</vt:lpstr>
      <vt:lpstr>PowerPoint Presentation</vt:lpstr>
      <vt:lpstr>Linear Perceptron Architecture </vt:lpstr>
      <vt:lpstr>Linear Perceptron</vt:lpstr>
      <vt:lpstr>Linear Perceptron</vt:lpstr>
      <vt:lpstr>Issues</vt:lpstr>
      <vt:lpstr>Neuron</vt:lpstr>
      <vt:lpstr>Expressing linear perceptron as neurons</vt:lpstr>
      <vt:lpstr>Feed-forward neural networks</vt:lpstr>
      <vt:lpstr>Feed-forward neural network</vt:lpstr>
      <vt:lpstr>Linear Neurons and their limitations</vt:lpstr>
      <vt:lpstr>Sigmoid, Tanh, and ReLU Neurons</vt:lpstr>
      <vt:lpstr>Tanh Neurons</vt:lpstr>
      <vt:lpstr>ReLU Neurons</vt:lpstr>
      <vt:lpstr>Softmax Output layer</vt:lpstr>
      <vt:lpstr>Comparison of Sigmoid Tanh, and ReLU</vt:lpstr>
      <vt:lpstr>Example of Softmax function</vt:lpstr>
      <vt:lpstr>Role of Bias in a neural network</vt:lpstr>
      <vt:lpstr>Example of Bias in action</vt:lpstr>
      <vt:lpstr>Decision boundary of Linear Perceptron</vt:lpstr>
      <vt:lpstr>Perceptron Training – idea </vt:lpstr>
      <vt:lpstr>Perceptron Training – idea </vt:lpstr>
      <vt:lpstr>Perceptron Training – idea </vt:lpstr>
      <vt:lpstr>Perceptron Training – idea </vt:lpstr>
      <vt:lpstr>Perceptron Training – idea </vt:lpstr>
      <vt:lpstr>Perceptron Training – idea </vt:lpstr>
      <vt:lpstr>Learning Algorithm</vt:lpstr>
      <vt:lpstr>Learning Algorithm</vt:lpstr>
      <vt:lpstr>Learning Algorithm</vt:lpstr>
      <vt:lpstr>Problems with Perceptron rule / Perceptron trick</vt:lpstr>
      <vt:lpstr>Loss Function</vt:lpstr>
      <vt:lpstr>Why do we need a loss function?</vt:lpstr>
      <vt:lpstr>Examples of Loss Function</vt:lpstr>
      <vt:lpstr>Loss Function (sklearn documentation) </vt:lpstr>
      <vt:lpstr>Loss Functions</vt:lpstr>
      <vt:lpstr>Perceptron Loss Function</vt:lpstr>
      <vt:lpstr>Understanding Perceptron Loss Function</vt:lpstr>
      <vt:lpstr>Understanding Perceptron Loss Function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Perceptron training</dc:title>
  <dc:creator>ASUS</dc:creator>
  <cp:lastModifiedBy>ASUS</cp:lastModifiedBy>
  <cp:revision>22</cp:revision>
  <dcterms:created xsi:type="dcterms:W3CDTF">2025-01-31T09:54:32Z</dcterms:created>
  <dcterms:modified xsi:type="dcterms:W3CDTF">2025-06-23T16:43:45Z</dcterms:modified>
</cp:coreProperties>
</file>
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57" r:id="rId3"/>
    <p:sldId id="258" r:id="rId4"/>
    <p:sldId id="259" r:id="rId5"/>
    <p:sldId id="260" r:id="rId6"/>
    <p:sldId id="261" r:id="rId7"/>
    <p:sldId id="265" r:id="rId8"/>
    <p:sldId id="266" r:id="rId9"/>
    <p:sldId id="267" r:id="rId10"/>
    <p:sldId id="268" r:id="rId11"/>
    <p:sldId id="269" r:id="rId12"/>
    <p:sldId id="270" r:id="rId13"/>
    <p:sldId id="271" r:id="rId14"/>
    <p:sldId id="272" r:id="rId15"/>
    <p:sldId id="262" r:id="rId16"/>
    <p:sldId id="263" r:id="rId17"/>
    <p:sldId id="264" r:id="rId18"/>
    <p:sldId id="273" r:id="rId19"/>
    <p:sldId id="274" r:id="rId20"/>
    <p:sldId id="275" r:id="rId21"/>
    <p:sldId id="27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83" d="100"/>
          <a:sy n="83" d="100"/>
        </p:scale>
        <p:origin x="629" y="53"/>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244ABD0-907A-4195-A84B-171B5E8641E8}" type="doc">
      <dgm:prSet loTypeId="urn:microsoft.com/office/officeart/2005/8/layout/vList3" loCatId="list" qsTypeId="urn:microsoft.com/office/officeart/2005/8/quickstyle/simple1" qsCatId="simple" csTypeId="urn:microsoft.com/office/officeart/2005/8/colors/accent1_2" csCatId="accent1" phldr="1"/>
      <dgm:spPr/>
    </dgm:pt>
    <dgm:pt modelId="{2560F508-40F7-4182-AD11-DF20B1862122}">
      <dgm:prSet phldrT="[Text]"/>
      <dgm:spPr/>
      <dgm:t>
        <a:bodyPr/>
        <a:lstStyle/>
        <a:p>
          <a:r>
            <a:rPr lang="en-US" dirty="0" smtClean="0"/>
            <a:t>(1943) Warren McCulloch &amp; Walter Pitts introduced the idea of ANN in which they presented a computational model of how biological neurons can be used to perform computations using propositional logic</a:t>
          </a:r>
          <a:endParaRPr lang="en-US" dirty="0"/>
        </a:p>
      </dgm:t>
    </dgm:pt>
    <dgm:pt modelId="{6D04491E-88D0-408C-BAD5-0564A7FD3952}" type="parTrans" cxnId="{1BD19540-66AC-4F8B-8358-B89FED2729EB}">
      <dgm:prSet/>
      <dgm:spPr/>
      <dgm:t>
        <a:bodyPr/>
        <a:lstStyle/>
        <a:p>
          <a:endParaRPr lang="en-US"/>
        </a:p>
      </dgm:t>
    </dgm:pt>
    <dgm:pt modelId="{4B3D6CC4-6646-48EC-86A2-EE68EC3DAE90}" type="sibTrans" cxnId="{1BD19540-66AC-4F8B-8358-B89FED2729EB}">
      <dgm:prSet/>
      <dgm:spPr/>
      <dgm:t>
        <a:bodyPr/>
        <a:lstStyle/>
        <a:p>
          <a:endParaRPr lang="en-US"/>
        </a:p>
      </dgm:t>
    </dgm:pt>
    <dgm:pt modelId="{D67B394D-D628-42E1-814A-C598ABA2B945}">
      <dgm:prSet phldrT="[Text]"/>
      <dgm:spPr/>
      <dgm:t>
        <a:bodyPr/>
        <a:lstStyle/>
        <a:p>
          <a:r>
            <a:rPr lang="en-US" dirty="0" smtClean="0"/>
            <a:t>(1960s) It was clear that the promises would go unfulfilled and the funding flew elsewhere.</a:t>
          </a:r>
          <a:endParaRPr lang="en-US" dirty="0"/>
        </a:p>
      </dgm:t>
    </dgm:pt>
    <dgm:pt modelId="{B19F04E5-03B4-4E2D-8FB3-D291F5057C2D}" type="parTrans" cxnId="{73BA9CC1-3EFD-418E-AF32-87DEB1BFC5F9}">
      <dgm:prSet/>
      <dgm:spPr/>
      <dgm:t>
        <a:bodyPr/>
        <a:lstStyle/>
        <a:p>
          <a:endParaRPr lang="en-US"/>
        </a:p>
      </dgm:t>
    </dgm:pt>
    <dgm:pt modelId="{9FD554BF-372A-4B51-A2EE-ED41393EBE6B}" type="sibTrans" cxnId="{73BA9CC1-3EFD-418E-AF32-87DEB1BFC5F9}">
      <dgm:prSet/>
      <dgm:spPr/>
      <dgm:t>
        <a:bodyPr/>
        <a:lstStyle/>
        <a:p>
          <a:endParaRPr lang="en-US"/>
        </a:p>
      </dgm:t>
    </dgm:pt>
    <dgm:pt modelId="{0357118D-AC8C-4059-BC48-64FCC2857BF5}">
      <dgm:prSet phldrT="[Text]"/>
      <dgm:spPr/>
      <dgm:t>
        <a:bodyPr/>
        <a:lstStyle/>
        <a:p>
          <a:r>
            <a:rPr lang="en-US" dirty="0" smtClean="0"/>
            <a:t>(1980s) New architectures were invented and better training techniques were developed, sparking a revival of interests in connectionism (study of NNs)</a:t>
          </a:r>
          <a:endParaRPr lang="en-US" dirty="0"/>
        </a:p>
      </dgm:t>
    </dgm:pt>
    <dgm:pt modelId="{819B15DA-FDC7-49FB-BEE8-2E1107F01E1B}" type="parTrans" cxnId="{B0A5DBE4-308B-4D23-BCE4-E74FE87077F2}">
      <dgm:prSet/>
      <dgm:spPr/>
      <dgm:t>
        <a:bodyPr/>
        <a:lstStyle/>
        <a:p>
          <a:endParaRPr lang="en-US"/>
        </a:p>
      </dgm:t>
    </dgm:pt>
    <dgm:pt modelId="{DF7983B0-FB77-4EF7-9967-22928E448BB8}" type="sibTrans" cxnId="{B0A5DBE4-308B-4D23-BCE4-E74FE87077F2}">
      <dgm:prSet/>
      <dgm:spPr/>
      <dgm:t>
        <a:bodyPr/>
        <a:lstStyle/>
        <a:p>
          <a:endParaRPr lang="en-US"/>
        </a:p>
      </dgm:t>
    </dgm:pt>
    <dgm:pt modelId="{FAAC8666-8FC9-4CE0-808D-E16A21065C06}">
      <dgm:prSet phldrT="[Text]"/>
      <dgm:spPr/>
      <dgm:t>
        <a:bodyPr/>
        <a:lstStyle/>
        <a:p>
          <a:r>
            <a:rPr lang="en-US" dirty="0" smtClean="0"/>
            <a:t>(1990s) The progress was slow, and other powerful ML techniques (such as SVMs) were developed. Again the study of NNs was put on hold.</a:t>
          </a:r>
          <a:endParaRPr lang="en-US" dirty="0"/>
        </a:p>
      </dgm:t>
    </dgm:pt>
    <dgm:pt modelId="{790857E4-FB13-4A67-9EAC-E0E0CA4722A1}" type="parTrans" cxnId="{7341E8CE-2231-4180-86D0-B858C873D3C4}">
      <dgm:prSet/>
      <dgm:spPr/>
      <dgm:t>
        <a:bodyPr/>
        <a:lstStyle/>
        <a:p>
          <a:endParaRPr lang="en-US"/>
        </a:p>
      </dgm:t>
    </dgm:pt>
    <dgm:pt modelId="{82A59710-4800-4E4E-AD3B-974CF7903065}" type="sibTrans" cxnId="{7341E8CE-2231-4180-86D0-B858C873D3C4}">
      <dgm:prSet/>
      <dgm:spPr/>
      <dgm:t>
        <a:bodyPr/>
        <a:lstStyle/>
        <a:p>
          <a:endParaRPr lang="en-US"/>
        </a:p>
      </dgm:t>
    </dgm:pt>
    <dgm:pt modelId="{5C2284BA-2FE9-4665-83E9-BD5B7CEFB276}">
      <dgm:prSet phldrT="[Text]"/>
      <dgm:spPr/>
      <dgm:t>
        <a:bodyPr/>
        <a:lstStyle/>
        <a:p>
          <a:r>
            <a:rPr lang="en-US" dirty="0" smtClean="0"/>
            <a:t>(Now) There is another wave of interests in ANNs.</a:t>
          </a:r>
          <a:endParaRPr lang="en-US" dirty="0"/>
        </a:p>
      </dgm:t>
    </dgm:pt>
    <dgm:pt modelId="{92F94010-97FB-451D-A85D-611FAF1C30D4}" type="parTrans" cxnId="{E8030BA3-B9EC-44D9-9A9D-7C2281CC20CA}">
      <dgm:prSet/>
      <dgm:spPr/>
      <dgm:t>
        <a:bodyPr/>
        <a:lstStyle/>
        <a:p>
          <a:endParaRPr lang="en-US"/>
        </a:p>
      </dgm:t>
    </dgm:pt>
    <dgm:pt modelId="{41ED8B0D-6344-4D9A-A27E-BBE86711ED8B}" type="sibTrans" cxnId="{E8030BA3-B9EC-44D9-9A9D-7C2281CC20CA}">
      <dgm:prSet/>
      <dgm:spPr/>
      <dgm:t>
        <a:bodyPr/>
        <a:lstStyle/>
        <a:p>
          <a:endParaRPr lang="en-US"/>
        </a:p>
      </dgm:t>
    </dgm:pt>
    <dgm:pt modelId="{659AEF50-B9CE-40AC-8DAA-03CA3616C275}" type="pres">
      <dgm:prSet presAssocID="{E244ABD0-907A-4195-A84B-171B5E8641E8}" presName="linearFlow" presStyleCnt="0">
        <dgm:presLayoutVars>
          <dgm:dir/>
          <dgm:resizeHandles val="exact"/>
        </dgm:presLayoutVars>
      </dgm:prSet>
      <dgm:spPr/>
    </dgm:pt>
    <dgm:pt modelId="{8175A2A1-7383-44DF-92DD-8EDA87C86A0E}" type="pres">
      <dgm:prSet presAssocID="{2560F508-40F7-4182-AD11-DF20B1862122}" presName="composite" presStyleCnt="0"/>
      <dgm:spPr/>
    </dgm:pt>
    <dgm:pt modelId="{346CDA8B-C1FD-4291-BFE6-4B3E836E8F92}" type="pres">
      <dgm:prSet presAssocID="{2560F508-40F7-4182-AD11-DF20B1862122}" presName="imgShp" presStyleLbl="fgImgPlace1" presStyleIdx="0" presStyleCnt="5"/>
      <dgm:spPr/>
    </dgm:pt>
    <dgm:pt modelId="{0556A76C-F0F3-43A7-951D-7D903418FF0B}" type="pres">
      <dgm:prSet presAssocID="{2560F508-40F7-4182-AD11-DF20B1862122}" presName="txShp" presStyleLbl="node1" presStyleIdx="0" presStyleCnt="5">
        <dgm:presLayoutVars>
          <dgm:bulletEnabled val="1"/>
        </dgm:presLayoutVars>
      </dgm:prSet>
      <dgm:spPr/>
      <dgm:t>
        <a:bodyPr/>
        <a:lstStyle/>
        <a:p>
          <a:endParaRPr lang="en-US"/>
        </a:p>
      </dgm:t>
    </dgm:pt>
    <dgm:pt modelId="{6F3F1AD3-A8E2-4F01-92E5-54C563EEB90E}" type="pres">
      <dgm:prSet presAssocID="{4B3D6CC4-6646-48EC-86A2-EE68EC3DAE90}" presName="spacing" presStyleCnt="0"/>
      <dgm:spPr/>
    </dgm:pt>
    <dgm:pt modelId="{8EB352BA-3096-4702-BFE8-FAEC5365162B}" type="pres">
      <dgm:prSet presAssocID="{D67B394D-D628-42E1-814A-C598ABA2B945}" presName="composite" presStyleCnt="0"/>
      <dgm:spPr/>
    </dgm:pt>
    <dgm:pt modelId="{82EAF9F5-F7B3-47C0-8ACB-35CE7DC83A78}" type="pres">
      <dgm:prSet presAssocID="{D67B394D-D628-42E1-814A-C598ABA2B945}" presName="imgShp" presStyleLbl="fgImgPlace1" presStyleIdx="1" presStyleCnt="5"/>
      <dgm:spPr/>
    </dgm:pt>
    <dgm:pt modelId="{2CABC9C1-34A7-4F7C-ACCF-83321B18EFA6}" type="pres">
      <dgm:prSet presAssocID="{D67B394D-D628-42E1-814A-C598ABA2B945}" presName="txShp" presStyleLbl="node1" presStyleIdx="1" presStyleCnt="5">
        <dgm:presLayoutVars>
          <dgm:bulletEnabled val="1"/>
        </dgm:presLayoutVars>
      </dgm:prSet>
      <dgm:spPr/>
      <dgm:t>
        <a:bodyPr/>
        <a:lstStyle/>
        <a:p>
          <a:endParaRPr lang="en-US"/>
        </a:p>
      </dgm:t>
    </dgm:pt>
    <dgm:pt modelId="{A928DB04-8A50-494A-A22A-A2FAF31F8D01}" type="pres">
      <dgm:prSet presAssocID="{9FD554BF-372A-4B51-A2EE-ED41393EBE6B}" presName="spacing" presStyleCnt="0"/>
      <dgm:spPr/>
    </dgm:pt>
    <dgm:pt modelId="{37CDE9C8-D79A-4D86-A88F-ACE22B509DB5}" type="pres">
      <dgm:prSet presAssocID="{0357118D-AC8C-4059-BC48-64FCC2857BF5}" presName="composite" presStyleCnt="0"/>
      <dgm:spPr/>
    </dgm:pt>
    <dgm:pt modelId="{F260F996-6294-44BB-83B2-FBB702C4447D}" type="pres">
      <dgm:prSet presAssocID="{0357118D-AC8C-4059-BC48-64FCC2857BF5}" presName="imgShp" presStyleLbl="fgImgPlace1" presStyleIdx="2" presStyleCnt="5"/>
      <dgm:spPr/>
    </dgm:pt>
    <dgm:pt modelId="{643FC4C5-CEAE-4A1A-AE28-08C42BBF2658}" type="pres">
      <dgm:prSet presAssocID="{0357118D-AC8C-4059-BC48-64FCC2857BF5}" presName="txShp" presStyleLbl="node1" presStyleIdx="2" presStyleCnt="5">
        <dgm:presLayoutVars>
          <dgm:bulletEnabled val="1"/>
        </dgm:presLayoutVars>
      </dgm:prSet>
      <dgm:spPr/>
      <dgm:t>
        <a:bodyPr/>
        <a:lstStyle/>
        <a:p>
          <a:endParaRPr lang="en-US"/>
        </a:p>
      </dgm:t>
    </dgm:pt>
    <dgm:pt modelId="{A178D6C4-6B1C-41B6-8872-A832A68A10A6}" type="pres">
      <dgm:prSet presAssocID="{DF7983B0-FB77-4EF7-9967-22928E448BB8}" presName="spacing" presStyleCnt="0"/>
      <dgm:spPr/>
    </dgm:pt>
    <dgm:pt modelId="{964C8046-36AF-4AD7-8A09-4DE9C8C4CA59}" type="pres">
      <dgm:prSet presAssocID="{FAAC8666-8FC9-4CE0-808D-E16A21065C06}" presName="composite" presStyleCnt="0"/>
      <dgm:spPr/>
    </dgm:pt>
    <dgm:pt modelId="{69130B7B-6934-42D0-9129-4BF1BCCDAD48}" type="pres">
      <dgm:prSet presAssocID="{FAAC8666-8FC9-4CE0-808D-E16A21065C06}" presName="imgShp" presStyleLbl="fgImgPlace1" presStyleIdx="3" presStyleCnt="5"/>
      <dgm:spPr/>
    </dgm:pt>
    <dgm:pt modelId="{8DE8CF0D-EFD5-47F9-946A-04E67CF583C1}" type="pres">
      <dgm:prSet presAssocID="{FAAC8666-8FC9-4CE0-808D-E16A21065C06}" presName="txShp" presStyleLbl="node1" presStyleIdx="3" presStyleCnt="5">
        <dgm:presLayoutVars>
          <dgm:bulletEnabled val="1"/>
        </dgm:presLayoutVars>
      </dgm:prSet>
      <dgm:spPr/>
      <dgm:t>
        <a:bodyPr/>
        <a:lstStyle/>
        <a:p>
          <a:endParaRPr lang="en-US"/>
        </a:p>
      </dgm:t>
    </dgm:pt>
    <dgm:pt modelId="{0D97C502-0290-4E26-AA90-C5B2EE36E866}" type="pres">
      <dgm:prSet presAssocID="{82A59710-4800-4E4E-AD3B-974CF7903065}" presName="spacing" presStyleCnt="0"/>
      <dgm:spPr/>
    </dgm:pt>
    <dgm:pt modelId="{C08F2D9D-9225-4A0A-B54F-89D46E7D5EDA}" type="pres">
      <dgm:prSet presAssocID="{5C2284BA-2FE9-4665-83E9-BD5B7CEFB276}" presName="composite" presStyleCnt="0"/>
      <dgm:spPr/>
    </dgm:pt>
    <dgm:pt modelId="{F979AEE5-65C2-474F-8911-2223C235D2D1}" type="pres">
      <dgm:prSet presAssocID="{5C2284BA-2FE9-4665-83E9-BD5B7CEFB276}" presName="imgShp" presStyleLbl="fgImgPlace1" presStyleIdx="4" presStyleCnt="5"/>
      <dgm:spPr/>
    </dgm:pt>
    <dgm:pt modelId="{250E2C36-4C35-4FED-8A8A-5D8E0DCDC23E}" type="pres">
      <dgm:prSet presAssocID="{5C2284BA-2FE9-4665-83E9-BD5B7CEFB276}" presName="txShp" presStyleLbl="node1" presStyleIdx="4" presStyleCnt="5">
        <dgm:presLayoutVars>
          <dgm:bulletEnabled val="1"/>
        </dgm:presLayoutVars>
      </dgm:prSet>
      <dgm:spPr/>
      <dgm:t>
        <a:bodyPr/>
        <a:lstStyle/>
        <a:p>
          <a:endParaRPr lang="en-US"/>
        </a:p>
      </dgm:t>
    </dgm:pt>
  </dgm:ptLst>
  <dgm:cxnLst>
    <dgm:cxn modelId="{A4F5CE65-97B2-4ED2-A9B0-2C22AAAAD45F}" type="presOf" srcId="{E244ABD0-907A-4195-A84B-171B5E8641E8}" destId="{659AEF50-B9CE-40AC-8DAA-03CA3616C275}" srcOrd="0" destOrd="0" presId="urn:microsoft.com/office/officeart/2005/8/layout/vList3"/>
    <dgm:cxn modelId="{73BA9CC1-3EFD-418E-AF32-87DEB1BFC5F9}" srcId="{E244ABD0-907A-4195-A84B-171B5E8641E8}" destId="{D67B394D-D628-42E1-814A-C598ABA2B945}" srcOrd="1" destOrd="0" parTransId="{B19F04E5-03B4-4E2D-8FB3-D291F5057C2D}" sibTransId="{9FD554BF-372A-4B51-A2EE-ED41393EBE6B}"/>
    <dgm:cxn modelId="{C9D1F46E-C873-4C92-B51A-A7AC3C606264}" type="presOf" srcId="{2560F508-40F7-4182-AD11-DF20B1862122}" destId="{0556A76C-F0F3-43A7-951D-7D903418FF0B}" srcOrd="0" destOrd="0" presId="urn:microsoft.com/office/officeart/2005/8/layout/vList3"/>
    <dgm:cxn modelId="{65116F9E-BCD9-46C3-92BE-EEFAFC9DFB84}" type="presOf" srcId="{FAAC8666-8FC9-4CE0-808D-E16A21065C06}" destId="{8DE8CF0D-EFD5-47F9-946A-04E67CF583C1}" srcOrd="0" destOrd="0" presId="urn:microsoft.com/office/officeart/2005/8/layout/vList3"/>
    <dgm:cxn modelId="{E8030BA3-B9EC-44D9-9A9D-7C2281CC20CA}" srcId="{E244ABD0-907A-4195-A84B-171B5E8641E8}" destId="{5C2284BA-2FE9-4665-83E9-BD5B7CEFB276}" srcOrd="4" destOrd="0" parTransId="{92F94010-97FB-451D-A85D-611FAF1C30D4}" sibTransId="{41ED8B0D-6344-4D9A-A27E-BBE86711ED8B}"/>
    <dgm:cxn modelId="{EABBCD05-68FE-48F9-9E97-9F5B71CBAE84}" type="presOf" srcId="{D67B394D-D628-42E1-814A-C598ABA2B945}" destId="{2CABC9C1-34A7-4F7C-ACCF-83321B18EFA6}" srcOrd="0" destOrd="0" presId="urn:microsoft.com/office/officeart/2005/8/layout/vList3"/>
    <dgm:cxn modelId="{7341E8CE-2231-4180-86D0-B858C873D3C4}" srcId="{E244ABD0-907A-4195-A84B-171B5E8641E8}" destId="{FAAC8666-8FC9-4CE0-808D-E16A21065C06}" srcOrd="3" destOrd="0" parTransId="{790857E4-FB13-4A67-9EAC-E0E0CA4722A1}" sibTransId="{82A59710-4800-4E4E-AD3B-974CF7903065}"/>
    <dgm:cxn modelId="{B0A5DBE4-308B-4D23-BCE4-E74FE87077F2}" srcId="{E244ABD0-907A-4195-A84B-171B5E8641E8}" destId="{0357118D-AC8C-4059-BC48-64FCC2857BF5}" srcOrd="2" destOrd="0" parTransId="{819B15DA-FDC7-49FB-BEE8-2E1107F01E1B}" sibTransId="{DF7983B0-FB77-4EF7-9967-22928E448BB8}"/>
    <dgm:cxn modelId="{4675DB2E-DB01-4E98-9BF5-A8D1EF57BCD8}" type="presOf" srcId="{5C2284BA-2FE9-4665-83E9-BD5B7CEFB276}" destId="{250E2C36-4C35-4FED-8A8A-5D8E0DCDC23E}" srcOrd="0" destOrd="0" presId="urn:microsoft.com/office/officeart/2005/8/layout/vList3"/>
    <dgm:cxn modelId="{19C45A18-BC60-44DB-A6F6-EBC990772111}" type="presOf" srcId="{0357118D-AC8C-4059-BC48-64FCC2857BF5}" destId="{643FC4C5-CEAE-4A1A-AE28-08C42BBF2658}" srcOrd="0" destOrd="0" presId="urn:microsoft.com/office/officeart/2005/8/layout/vList3"/>
    <dgm:cxn modelId="{1BD19540-66AC-4F8B-8358-B89FED2729EB}" srcId="{E244ABD0-907A-4195-A84B-171B5E8641E8}" destId="{2560F508-40F7-4182-AD11-DF20B1862122}" srcOrd="0" destOrd="0" parTransId="{6D04491E-88D0-408C-BAD5-0564A7FD3952}" sibTransId="{4B3D6CC4-6646-48EC-86A2-EE68EC3DAE90}"/>
    <dgm:cxn modelId="{55DF475A-3C58-4D32-82D5-AF28E620D578}" type="presParOf" srcId="{659AEF50-B9CE-40AC-8DAA-03CA3616C275}" destId="{8175A2A1-7383-44DF-92DD-8EDA87C86A0E}" srcOrd="0" destOrd="0" presId="urn:microsoft.com/office/officeart/2005/8/layout/vList3"/>
    <dgm:cxn modelId="{002240D1-F3E3-49D0-AF25-D952F4931441}" type="presParOf" srcId="{8175A2A1-7383-44DF-92DD-8EDA87C86A0E}" destId="{346CDA8B-C1FD-4291-BFE6-4B3E836E8F92}" srcOrd="0" destOrd="0" presId="urn:microsoft.com/office/officeart/2005/8/layout/vList3"/>
    <dgm:cxn modelId="{25AF83D8-E0B2-46AA-829B-A211388DE560}" type="presParOf" srcId="{8175A2A1-7383-44DF-92DD-8EDA87C86A0E}" destId="{0556A76C-F0F3-43A7-951D-7D903418FF0B}" srcOrd="1" destOrd="0" presId="urn:microsoft.com/office/officeart/2005/8/layout/vList3"/>
    <dgm:cxn modelId="{2D8FF981-732E-475A-9CAE-C64996DE3FD4}" type="presParOf" srcId="{659AEF50-B9CE-40AC-8DAA-03CA3616C275}" destId="{6F3F1AD3-A8E2-4F01-92E5-54C563EEB90E}" srcOrd="1" destOrd="0" presId="urn:microsoft.com/office/officeart/2005/8/layout/vList3"/>
    <dgm:cxn modelId="{6219C4C7-3829-48FF-B6DB-2DC3B00E8B15}" type="presParOf" srcId="{659AEF50-B9CE-40AC-8DAA-03CA3616C275}" destId="{8EB352BA-3096-4702-BFE8-FAEC5365162B}" srcOrd="2" destOrd="0" presId="urn:microsoft.com/office/officeart/2005/8/layout/vList3"/>
    <dgm:cxn modelId="{95B13F12-CBB6-4180-B5B8-7C6F274A4A7C}" type="presParOf" srcId="{8EB352BA-3096-4702-BFE8-FAEC5365162B}" destId="{82EAF9F5-F7B3-47C0-8ACB-35CE7DC83A78}" srcOrd="0" destOrd="0" presId="urn:microsoft.com/office/officeart/2005/8/layout/vList3"/>
    <dgm:cxn modelId="{6EF12EEB-772C-4BD8-BEE7-6576EE9B0471}" type="presParOf" srcId="{8EB352BA-3096-4702-BFE8-FAEC5365162B}" destId="{2CABC9C1-34A7-4F7C-ACCF-83321B18EFA6}" srcOrd="1" destOrd="0" presId="urn:microsoft.com/office/officeart/2005/8/layout/vList3"/>
    <dgm:cxn modelId="{0AFCE6F5-DE59-44F4-93A6-FB99EE90A7E1}" type="presParOf" srcId="{659AEF50-B9CE-40AC-8DAA-03CA3616C275}" destId="{A928DB04-8A50-494A-A22A-A2FAF31F8D01}" srcOrd="3" destOrd="0" presId="urn:microsoft.com/office/officeart/2005/8/layout/vList3"/>
    <dgm:cxn modelId="{262DAAC6-04D0-47D3-83D6-1D9ADBF00D37}" type="presParOf" srcId="{659AEF50-B9CE-40AC-8DAA-03CA3616C275}" destId="{37CDE9C8-D79A-4D86-A88F-ACE22B509DB5}" srcOrd="4" destOrd="0" presId="urn:microsoft.com/office/officeart/2005/8/layout/vList3"/>
    <dgm:cxn modelId="{C9F4B5F3-DBA8-4E5E-8950-01C6B826DCC3}" type="presParOf" srcId="{37CDE9C8-D79A-4D86-A88F-ACE22B509DB5}" destId="{F260F996-6294-44BB-83B2-FBB702C4447D}" srcOrd="0" destOrd="0" presId="urn:microsoft.com/office/officeart/2005/8/layout/vList3"/>
    <dgm:cxn modelId="{9DED2140-19A2-4D34-8B1E-C93191A01802}" type="presParOf" srcId="{37CDE9C8-D79A-4D86-A88F-ACE22B509DB5}" destId="{643FC4C5-CEAE-4A1A-AE28-08C42BBF2658}" srcOrd="1" destOrd="0" presId="urn:microsoft.com/office/officeart/2005/8/layout/vList3"/>
    <dgm:cxn modelId="{1DB81EFD-B3DD-4AD8-BA78-64E564A1709E}" type="presParOf" srcId="{659AEF50-B9CE-40AC-8DAA-03CA3616C275}" destId="{A178D6C4-6B1C-41B6-8872-A832A68A10A6}" srcOrd="5" destOrd="0" presId="urn:microsoft.com/office/officeart/2005/8/layout/vList3"/>
    <dgm:cxn modelId="{82C63E08-78D1-43AB-97A0-B8A1752F6F64}" type="presParOf" srcId="{659AEF50-B9CE-40AC-8DAA-03CA3616C275}" destId="{964C8046-36AF-4AD7-8A09-4DE9C8C4CA59}" srcOrd="6" destOrd="0" presId="urn:microsoft.com/office/officeart/2005/8/layout/vList3"/>
    <dgm:cxn modelId="{46602681-5B86-4649-9297-65CF23771289}" type="presParOf" srcId="{964C8046-36AF-4AD7-8A09-4DE9C8C4CA59}" destId="{69130B7B-6934-42D0-9129-4BF1BCCDAD48}" srcOrd="0" destOrd="0" presId="urn:microsoft.com/office/officeart/2005/8/layout/vList3"/>
    <dgm:cxn modelId="{2418C486-419E-4287-A98C-9E6C60591B62}" type="presParOf" srcId="{964C8046-36AF-4AD7-8A09-4DE9C8C4CA59}" destId="{8DE8CF0D-EFD5-47F9-946A-04E67CF583C1}" srcOrd="1" destOrd="0" presId="urn:microsoft.com/office/officeart/2005/8/layout/vList3"/>
    <dgm:cxn modelId="{197318FC-906D-4A40-BFDD-5EFF7DCAF852}" type="presParOf" srcId="{659AEF50-B9CE-40AC-8DAA-03CA3616C275}" destId="{0D97C502-0290-4E26-AA90-C5B2EE36E866}" srcOrd="7" destOrd="0" presId="urn:microsoft.com/office/officeart/2005/8/layout/vList3"/>
    <dgm:cxn modelId="{03E6F2D1-6DC3-4404-89B6-7B161D111B62}" type="presParOf" srcId="{659AEF50-B9CE-40AC-8DAA-03CA3616C275}" destId="{C08F2D9D-9225-4A0A-B54F-89D46E7D5EDA}" srcOrd="8" destOrd="0" presId="urn:microsoft.com/office/officeart/2005/8/layout/vList3"/>
    <dgm:cxn modelId="{56D4D213-B1A9-4869-B014-32AD3A2F15DA}" type="presParOf" srcId="{C08F2D9D-9225-4A0A-B54F-89D46E7D5EDA}" destId="{F979AEE5-65C2-474F-8911-2223C235D2D1}" srcOrd="0" destOrd="0" presId="urn:microsoft.com/office/officeart/2005/8/layout/vList3"/>
    <dgm:cxn modelId="{73FE7395-4F25-42C9-84EF-1CF0EB992E57}" type="presParOf" srcId="{C08F2D9D-9225-4A0A-B54F-89D46E7D5EDA}" destId="{250E2C36-4C35-4FED-8A8A-5D8E0DCDC23E}"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56A76C-F0F3-43A7-951D-7D903418FF0B}">
      <dsp:nvSpPr>
        <dsp:cNvPr id="0" name=""/>
        <dsp:cNvSpPr/>
      </dsp:nvSpPr>
      <dsp:spPr>
        <a:xfrm rot="10800000">
          <a:off x="1936811" y="2205"/>
          <a:ext cx="6992874" cy="701793"/>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9471" tIns="53340" rIns="99568" bIns="53340" numCol="1" spcCol="1270" anchor="ctr" anchorCtr="0">
          <a:noAutofit/>
        </a:bodyPr>
        <a:lstStyle/>
        <a:p>
          <a:pPr lvl="0" algn="ctr" defTabSz="622300">
            <a:lnSpc>
              <a:spcPct val="90000"/>
            </a:lnSpc>
            <a:spcBef>
              <a:spcPct val="0"/>
            </a:spcBef>
            <a:spcAft>
              <a:spcPct val="35000"/>
            </a:spcAft>
          </a:pPr>
          <a:r>
            <a:rPr lang="en-US" sz="1400" kern="1200" dirty="0" smtClean="0"/>
            <a:t>(1943) Warren McCulloch &amp; Walter Pitts introduced the idea of ANN in which they presented a computational model of how biological neurons can be used to perform computations using propositional logic</a:t>
          </a:r>
          <a:endParaRPr lang="en-US" sz="1400" kern="1200" dirty="0"/>
        </a:p>
      </dsp:txBody>
      <dsp:txXfrm rot="10800000">
        <a:off x="2112259" y="2205"/>
        <a:ext cx="6817426" cy="701793"/>
      </dsp:txXfrm>
    </dsp:sp>
    <dsp:sp modelId="{346CDA8B-C1FD-4291-BFE6-4B3E836E8F92}">
      <dsp:nvSpPr>
        <dsp:cNvPr id="0" name=""/>
        <dsp:cNvSpPr/>
      </dsp:nvSpPr>
      <dsp:spPr>
        <a:xfrm>
          <a:off x="1585914" y="2205"/>
          <a:ext cx="701793" cy="701793"/>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CABC9C1-34A7-4F7C-ACCF-83321B18EFA6}">
      <dsp:nvSpPr>
        <dsp:cNvPr id="0" name=""/>
        <dsp:cNvSpPr/>
      </dsp:nvSpPr>
      <dsp:spPr>
        <a:xfrm rot="10800000">
          <a:off x="1936811" y="913488"/>
          <a:ext cx="6992874" cy="701793"/>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9471" tIns="53340" rIns="99568" bIns="53340" numCol="1" spcCol="1270" anchor="ctr" anchorCtr="0">
          <a:noAutofit/>
        </a:bodyPr>
        <a:lstStyle/>
        <a:p>
          <a:pPr lvl="0" algn="ctr" defTabSz="622300">
            <a:lnSpc>
              <a:spcPct val="90000"/>
            </a:lnSpc>
            <a:spcBef>
              <a:spcPct val="0"/>
            </a:spcBef>
            <a:spcAft>
              <a:spcPct val="35000"/>
            </a:spcAft>
          </a:pPr>
          <a:r>
            <a:rPr lang="en-US" sz="1400" kern="1200" dirty="0" smtClean="0"/>
            <a:t>(1960s) It was clear that the promises would go unfulfilled and the funding flew elsewhere.</a:t>
          </a:r>
          <a:endParaRPr lang="en-US" sz="1400" kern="1200" dirty="0"/>
        </a:p>
      </dsp:txBody>
      <dsp:txXfrm rot="10800000">
        <a:off x="2112259" y="913488"/>
        <a:ext cx="6817426" cy="701793"/>
      </dsp:txXfrm>
    </dsp:sp>
    <dsp:sp modelId="{82EAF9F5-F7B3-47C0-8ACB-35CE7DC83A78}">
      <dsp:nvSpPr>
        <dsp:cNvPr id="0" name=""/>
        <dsp:cNvSpPr/>
      </dsp:nvSpPr>
      <dsp:spPr>
        <a:xfrm>
          <a:off x="1585914" y="913488"/>
          <a:ext cx="701793" cy="701793"/>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43FC4C5-CEAE-4A1A-AE28-08C42BBF2658}">
      <dsp:nvSpPr>
        <dsp:cNvPr id="0" name=""/>
        <dsp:cNvSpPr/>
      </dsp:nvSpPr>
      <dsp:spPr>
        <a:xfrm rot="10800000">
          <a:off x="1936811" y="1824772"/>
          <a:ext cx="6992874" cy="701793"/>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9471" tIns="53340" rIns="99568" bIns="53340" numCol="1" spcCol="1270" anchor="ctr" anchorCtr="0">
          <a:noAutofit/>
        </a:bodyPr>
        <a:lstStyle/>
        <a:p>
          <a:pPr lvl="0" algn="ctr" defTabSz="622300">
            <a:lnSpc>
              <a:spcPct val="90000"/>
            </a:lnSpc>
            <a:spcBef>
              <a:spcPct val="0"/>
            </a:spcBef>
            <a:spcAft>
              <a:spcPct val="35000"/>
            </a:spcAft>
          </a:pPr>
          <a:r>
            <a:rPr lang="en-US" sz="1400" kern="1200" dirty="0" smtClean="0"/>
            <a:t>(1980s) New architectures were invented and better training techniques were developed, sparking a revival of interests in connectionism (study of NNs)</a:t>
          </a:r>
          <a:endParaRPr lang="en-US" sz="1400" kern="1200" dirty="0"/>
        </a:p>
      </dsp:txBody>
      <dsp:txXfrm rot="10800000">
        <a:off x="2112259" y="1824772"/>
        <a:ext cx="6817426" cy="701793"/>
      </dsp:txXfrm>
    </dsp:sp>
    <dsp:sp modelId="{F260F996-6294-44BB-83B2-FBB702C4447D}">
      <dsp:nvSpPr>
        <dsp:cNvPr id="0" name=""/>
        <dsp:cNvSpPr/>
      </dsp:nvSpPr>
      <dsp:spPr>
        <a:xfrm>
          <a:off x="1585914" y="1824772"/>
          <a:ext cx="701793" cy="701793"/>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DE8CF0D-EFD5-47F9-946A-04E67CF583C1}">
      <dsp:nvSpPr>
        <dsp:cNvPr id="0" name=""/>
        <dsp:cNvSpPr/>
      </dsp:nvSpPr>
      <dsp:spPr>
        <a:xfrm rot="10800000">
          <a:off x="1936811" y="2736056"/>
          <a:ext cx="6992874" cy="701793"/>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9471" tIns="53340" rIns="99568" bIns="53340" numCol="1" spcCol="1270" anchor="ctr" anchorCtr="0">
          <a:noAutofit/>
        </a:bodyPr>
        <a:lstStyle/>
        <a:p>
          <a:pPr lvl="0" algn="ctr" defTabSz="622300">
            <a:lnSpc>
              <a:spcPct val="90000"/>
            </a:lnSpc>
            <a:spcBef>
              <a:spcPct val="0"/>
            </a:spcBef>
            <a:spcAft>
              <a:spcPct val="35000"/>
            </a:spcAft>
          </a:pPr>
          <a:r>
            <a:rPr lang="en-US" sz="1400" kern="1200" dirty="0" smtClean="0"/>
            <a:t>(1990s) The progress was slow, and other powerful ML techniques (such as SVMs) were developed. Again the study of NNs was put on hold.</a:t>
          </a:r>
          <a:endParaRPr lang="en-US" sz="1400" kern="1200" dirty="0"/>
        </a:p>
      </dsp:txBody>
      <dsp:txXfrm rot="10800000">
        <a:off x="2112259" y="2736056"/>
        <a:ext cx="6817426" cy="701793"/>
      </dsp:txXfrm>
    </dsp:sp>
    <dsp:sp modelId="{69130B7B-6934-42D0-9129-4BF1BCCDAD48}">
      <dsp:nvSpPr>
        <dsp:cNvPr id="0" name=""/>
        <dsp:cNvSpPr/>
      </dsp:nvSpPr>
      <dsp:spPr>
        <a:xfrm>
          <a:off x="1585914" y="2736056"/>
          <a:ext cx="701793" cy="701793"/>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50E2C36-4C35-4FED-8A8A-5D8E0DCDC23E}">
      <dsp:nvSpPr>
        <dsp:cNvPr id="0" name=""/>
        <dsp:cNvSpPr/>
      </dsp:nvSpPr>
      <dsp:spPr>
        <a:xfrm rot="10800000">
          <a:off x="1936811" y="3647339"/>
          <a:ext cx="6992874" cy="701793"/>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9471" tIns="53340" rIns="99568" bIns="53340" numCol="1" spcCol="1270" anchor="ctr" anchorCtr="0">
          <a:noAutofit/>
        </a:bodyPr>
        <a:lstStyle/>
        <a:p>
          <a:pPr lvl="0" algn="ctr" defTabSz="622300">
            <a:lnSpc>
              <a:spcPct val="90000"/>
            </a:lnSpc>
            <a:spcBef>
              <a:spcPct val="0"/>
            </a:spcBef>
            <a:spcAft>
              <a:spcPct val="35000"/>
            </a:spcAft>
          </a:pPr>
          <a:r>
            <a:rPr lang="en-US" sz="1400" kern="1200" dirty="0" smtClean="0"/>
            <a:t>(Now) There is another wave of interests in ANNs.</a:t>
          </a:r>
          <a:endParaRPr lang="en-US" sz="1400" kern="1200" dirty="0"/>
        </a:p>
      </dsp:txBody>
      <dsp:txXfrm rot="10800000">
        <a:off x="2112259" y="3647339"/>
        <a:ext cx="6817426" cy="701793"/>
      </dsp:txXfrm>
    </dsp:sp>
    <dsp:sp modelId="{F979AEE5-65C2-474F-8911-2223C235D2D1}">
      <dsp:nvSpPr>
        <dsp:cNvPr id="0" name=""/>
        <dsp:cNvSpPr/>
      </dsp:nvSpPr>
      <dsp:spPr>
        <a:xfrm>
          <a:off x="1585914" y="3647339"/>
          <a:ext cx="701793" cy="701793"/>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49D203-34FA-40A4-B2F8-D4E8BC3754CF}" type="datetimeFigureOut">
              <a:rPr lang="en-US" smtClean="0"/>
              <a:t>6/21/2025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584388-801A-4F82-9E64-0E145FE16A37}" type="slidenum">
              <a:rPr lang="en-US" smtClean="0"/>
              <a:t>‹#›</a:t>
            </a:fld>
            <a:endParaRPr lang="en-US"/>
          </a:p>
        </p:txBody>
      </p:sp>
    </p:spTree>
    <p:extLst>
      <p:ext uri="{BB962C8B-B14F-4D97-AF65-F5344CB8AC3E}">
        <p14:creationId xmlns:p14="http://schemas.microsoft.com/office/powerpoint/2010/main" val="24448504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2584388-801A-4F82-9E64-0E145FE16A37}" type="slidenum">
              <a:rPr lang="en-US" smtClean="0"/>
              <a:t>16</a:t>
            </a:fld>
            <a:endParaRPr lang="en-US"/>
          </a:p>
        </p:txBody>
      </p:sp>
    </p:spTree>
    <p:extLst>
      <p:ext uri="{BB962C8B-B14F-4D97-AF65-F5344CB8AC3E}">
        <p14:creationId xmlns:p14="http://schemas.microsoft.com/office/powerpoint/2010/main" val="7643279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2584388-801A-4F82-9E64-0E145FE16A37}" type="slidenum">
              <a:rPr lang="en-US" smtClean="0"/>
              <a:t>17</a:t>
            </a:fld>
            <a:endParaRPr lang="en-US"/>
          </a:p>
        </p:txBody>
      </p:sp>
    </p:spTree>
    <p:extLst>
      <p:ext uri="{BB962C8B-B14F-4D97-AF65-F5344CB8AC3E}">
        <p14:creationId xmlns:p14="http://schemas.microsoft.com/office/powerpoint/2010/main" val="14479066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9C3AF19-1AA5-44A0-B56D-68E02D4B3028}" type="datetimeFigureOut">
              <a:rPr lang="en-US" smtClean="0"/>
              <a:t>6/21/2025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469489-92C4-4D5B-BDE3-CB2CA45F5901}" type="slidenum">
              <a:rPr lang="en-US" smtClean="0"/>
              <a:t>‹#›</a:t>
            </a:fld>
            <a:endParaRPr lang="en-US"/>
          </a:p>
        </p:txBody>
      </p:sp>
    </p:spTree>
    <p:extLst>
      <p:ext uri="{BB962C8B-B14F-4D97-AF65-F5344CB8AC3E}">
        <p14:creationId xmlns:p14="http://schemas.microsoft.com/office/powerpoint/2010/main" val="12889087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9C3AF19-1AA5-44A0-B56D-68E02D4B3028}" type="datetimeFigureOut">
              <a:rPr lang="en-US" smtClean="0"/>
              <a:t>6/21/2025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469489-92C4-4D5B-BDE3-CB2CA45F5901}" type="slidenum">
              <a:rPr lang="en-US" smtClean="0"/>
              <a:t>‹#›</a:t>
            </a:fld>
            <a:endParaRPr lang="en-US"/>
          </a:p>
        </p:txBody>
      </p:sp>
    </p:spTree>
    <p:extLst>
      <p:ext uri="{BB962C8B-B14F-4D97-AF65-F5344CB8AC3E}">
        <p14:creationId xmlns:p14="http://schemas.microsoft.com/office/powerpoint/2010/main" val="1153794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9C3AF19-1AA5-44A0-B56D-68E02D4B3028}" type="datetimeFigureOut">
              <a:rPr lang="en-US" smtClean="0"/>
              <a:t>6/21/2025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469489-92C4-4D5B-BDE3-CB2CA45F5901}" type="slidenum">
              <a:rPr lang="en-US" smtClean="0"/>
              <a:t>‹#›</a:t>
            </a:fld>
            <a:endParaRPr lang="en-US"/>
          </a:p>
        </p:txBody>
      </p:sp>
    </p:spTree>
    <p:extLst>
      <p:ext uri="{BB962C8B-B14F-4D97-AF65-F5344CB8AC3E}">
        <p14:creationId xmlns:p14="http://schemas.microsoft.com/office/powerpoint/2010/main" val="36917027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9C3AF19-1AA5-44A0-B56D-68E02D4B3028}" type="datetimeFigureOut">
              <a:rPr lang="en-US" smtClean="0"/>
              <a:t>6/21/2025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469489-92C4-4D5B-BDE3-CB2CA45F5901}" type="slidenum">
              <a:rPr lang="en-US" smtClean="0"/>
              <a:t>‹#›</a:t>
            </a:fld>
            <a:endParaRPr lang="en-US"/>
          </a:p>
        </p:txBody>
      </p:sp>
    </p:spTree>
    <p:extLst>
      <p:ext uri="{BB962C8B-B14F-4D97-AF65-F5344CB8AC3E}">
        <p14:creationId xmlns:p14="http://schemas.microsoft.com/office/powerpoint/2010/main" val="39516174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9C3AF19-1AA5-44A0-B56D-68E02D4B3028}" type="datetimeFigureOut">
              <a:rPr lang="en-US" smtClean="0"/>
              <a:t>6/21/2025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9469489-92C4-4D5B-BDE3-CB2CA45F5901}" type="slidenum">
              <a:rPr lang="en-US" smtClean="0"/>
              <a:t>‹#›</a:t>
            </a:fld>
            <a:endParaRPr lang="en-US"/>
          </a:p>
        </p:txBody>
      </p:sp>
    </p:spTree>
    <p:extLst>
      <p:ext uri="{BB962C8B-B14F-4D97-AF65-F5344CB8AC3E}">
        <p14:creationId xmlns:p14="http://schemas.microsoft.com/office/powerpoint/2010/main" val="23202593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9C3AF19-1AA5-44A0-B56D-68E02D4B3028}" type="datetimeFigureOut">
              <a:rPr lang="en-US" smtClean="0"/>
              <a:t>6/21/2025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9469489-92C4-4D5B-BDE3-CB2CA45F5901}" type="slidenum">
              <a:rPr lang="en-US" smtClean="0"/>
              <a:t>‹#›</a:t>
            </a:fld>
            <a:endParaRPr lang="en-US"/>
          </a:p>
        </p:txBody>
      </p:sp>
    </p:spTree>
    <p:extLst>
      <p:ext uri="{BB962C8B-B14F-4D97-AF65-F5344CB8AC3E}">
        <p14:creationId xmlns:p14="http://schemas.microsoft.com/office/powerpoint/2010/main" val="6953388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C3AF19-1AA5-44A0-B56D-68E02D4B3028}" type="datetimeFigureOut">
              <a:rPr lang="en-US" smtClean="0"/>
              <a:t>6/21/2025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9469489-92C4-4D5B-BDE3-CB2CA45F5901}" type="slidenum">
              <a:rPr lang="en-US" smtClean="0"/>
              <a:t>‹#›</a:t>
            </a:fld>
            <a:endParaRPr lang="en-US"/>
          </a:p>
        </p:txBody>
      </p:sp>
    </p:spTree>
    <p:extLst>
      <p:ext uri="{BB962C8B-B14F-4D97-AF65-F5344CB8AC3E}">
        <p14:creationId xmlns:p14="http://schemas.microsoft.com/office/powerpoint/2010/main" val="17317425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9C3AF19-1AA5-44A0-B56D-68E02D4B3028}" type="datetimeFigureOut">
              <a:rPr lang="en-US" smtClean="0"/>
              <a:t>6/21/2025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469489-92C4-4D5B-BDE3-CB2CA45F5901}" type="slidenum">
              <a:rPr lang="en-US" smtClean="0"/>
              <a:t>‹#›</a:t>
            </a:fld>
            <a:endParaRPr lang="en-US"/>
          </a:p>
        </p:txBody>
      </p:sp>
    </p:spTree>
    <p:extLst>
      <p:ext uri="{BB962C8B-B14F-4D97-AF65-F5344CB8AC3E}">
        <p14:creationId xmlns:p14="http://schemas.microsoft.com/office/powerpoint/2010/main" val="21714085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9C3AF19-1AA5-44A0-B56D-68E02D4B3028}" type="datetimeFigureOut">
              <a:rPr lang="en-US" smtClean="0"/>
              <a:t>6/21/2025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469489-92C4-4D5B-BDE3-CB2CA45F5901}" type="slidenum">
              <a:rPr lang="en-US" smtClean="0"/>
              <a:t>‹#›</a:t>
            </a:fld>
            <a:endParaRPr lang="en-US"/>
          </a:p>
        </p:txBody>
      </p:sp>
    </p:spTree>
    <p:extLst>
      <p:ext uri="{BB962C8B-B14F-4D97-AF65-F5344CB8AC3E}">
        <p14:creationId xmlns:p14="http://schemas.microsoft.com/office/powerpoint/2010/main" val="3573600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9C3AF19-1AA5-44A0-B56D-68E02D4B3028}" type="datetimeFigureOut">
              <a:rPr lang="en-US" smtClean="0"/>
              <a:t>6/21/2025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469489-92C4-4D5B-BDE3-CB2CA45F5901}" type="slidenum">
              <a:rPr lang="en-US" smtClean="0"/>
              <a:t>‹#›</a:t>
            </a:fld>
            <a:endParaRPr lang="en-US"/>
          </a:p>
        </p:txBody>
      </p:sp>
    </p:spTree>
    <p:extLst>
      <p:ext uri="{BB962C8B-B14F-4D97-AF65-F5344CB8AC3E}">
        <p14:creationId xmlns:p14="http://schemas.microsoft.com/office/powerpoint/2010/main" val="39672851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9C3AF19-1AA5-44A0-B56D-68E02D4B3028}" type="datetimeFigureOut">
              <a:rPr lang="en-US" smtClean="0"/>
              <a:t>6/21/2025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469489-92C4-4D5B-BDE3-CB2CA45F5901}" type="slidenum">
              <a:rPr lang="en-US" smtClean="0"/>
              <a:t>‹#›</a:t>
            </a:fld>
            <a:endParaRPr lang="en-US"/>
          </a:p>
        </p:txBody>
      </p:sp>
    </p:spTree>
    <p:extLst>
      <p:ext uri="{BB962C8B-B14F-4D97-AF65-F5344CB8AC3E}">
        <p14:creationId xmlns:p14="http://schemas.microsoft.com/office/powerpoint/2010/main" val="11998204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9C3AF19-1AA5-44A0-B56D-68E02D4B3028}" type="datetimeFigureOut">
              <a:rPr lang="en-US" smtClean="0"/>
              <a:t>6/21/2025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9469489-92C4-4D5B-BDE3-CB2CA45F5901}" type="slidenum">
              <a:rPr lang="en-US" smtClean="0"/>
              <a:t>‹#›</a:t>
            </a:fld>
            <a:endParaRPr lang="en-US"/>
          </a:p>
        </p:txBody>
      </p:sp>
    </p:spTree>
    <p:extLst>
      <p:ext uri="{BB962C8B-B14F-4D97-AF65-F5344CB8AC3E}">
        <p14:creationId xmlns:p14="http://schemas.microsoft.com/office/powerpoint/2010/main" val="2847516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hyperlink" Target="https://link.springer.com/article/10.1007/BF02478259" TargetMode="Externa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s://netlogoweb.org/"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Introduction to Artificial Neural Networks</a:t>
            </a:r>
            <a:endParaRPr lang="en-US" dirty="0"/>
          </a:p>
        </p:txBody>
      </p:sp>
      <p:sp>
        <p:nvSpPr>
          <p:cNvPr id="3" name="Subtitle 2"/>
          <p:cNvSpPr>
            <a:spLocks noGrp="1"/>
          </p:cNvSpPr>
          <p:nvPr>
            <p:ph type="subTitle" idx="1"/>
          </p:nvPr>
        </p:nvSpPr>
        <p:spPr/>
        <p:txBody>
          <a:bodyPr/>
          <a:lstStyle/>
          <a:p>
            <a:r>
              <a:rPr lang="en-US" dirty="0" smtClean="0"/>
              <a:t>Dr. </a:t>
            </a:r>
            <a:r>
              <a:rPr lang="en-US" dirty="0" err="1" smtClean="0"/>
              <a:t>Sifat</a:t>
            </a:r>
            <a:r>
              <a:rPr lang="en-US" dirty="0" smtClean="0"/>
              <a:t> </a:t>
            </a:r>
            <a:r>
              <a:rPr lang="en-US" dirty="0" err="1" smtClean="0"/>
              <a:t>Momen</a:t>
            </a:r>
            <a:endParaRPr lang="en-US" dirty="0"/>
          </a:p>
        </p:txBody>
      </p:sp>
    </p:spTree>
    <p:extLst>
      <p:ext uri="{BB962C8B-B14F-4D97-AF65-F5344CB8AC3E}">
        <p14:creationId xmlns:p14="http://schemas.microsoft.com/office/powerpoint/2010/main" val="126328526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Goal: Build an Intelligent System</a:t>
            </a:r>
            <a:endParaRPr lang="en-US" dirty="0"/>
          </a:p>
        </p:txBody>
      </p:sp>
      <p:sp>
        <p:nvSpPr>
          <p:cNvPr id="3" name="Content Placeholder 2"/>
          <p:cNvSpPr>
            <a:spLocks noGrp="1"/>
          </p:cNvSpPr>
          <p:nvPr>
            <p:ph idx="1"/>
          </p:nvPr>
        </p:nvSpPr>
        <p:spPr/>
        <p:txBody>
          <a:bodyPr/>
          <a:lstStyle/>
          <a:p>
            <a:r>
              <a:rPr lang="en-US" dirty="0" smtClean="0"/>
              <a:t>We need an architecture to be inspired by.</a:t>
            </a:r>
          </a:p>
          <a:p>
            <a:r>
              <a:rPr lang="en-US" dirty="0" smtClean="0"/>
              <a:t>What is an intelligent system?</a:t>
            </a:r>
          </a:p>
          <a:p>
            <a:r>
              <a:rPr lang="en-US" dirty="0" smtClean="0"/>
              <a:t>What should an intelligent system be able to do?</a:t>
            </a:r>
          </a:p>
          <a:p>
            <a:r>
              <a:rPr lang="en-US" dirty="0" smtClean="0"/>
              <a:t>What could be a good example architecture of an intelligent system?</a:t>
            </a:r>
            <a:endParaRPr lang="en-US" dirty="0"/>
          </a:p>
        </p:txBody>
      </p:sp>
    </p:spTree>
    <p:extLst>
      <p:ext uri="{BB962C8B-B14F-4D97-AF65-F5344CB8AC3E}">
        <p14:creationId xmlns:p14="http://schemas.microsoft.com/office/powerpoint/2010/main" val="86507486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Goal: Build an Intelligent System</a:t>
            </a:r>
            <a:endParaRPr lang="en-US" dirty="0"/>
          </a:p>
        </p:txBody>
      </p:sp>
      <p:pic>
        <p:nvPicPr>
          <p:cNvPr id="1026" name="Picture 2" descr="Infographic – The 9 Types of Human Intelligence by Howard Gardne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75288" y="1466692"/>
            <a:ext cx="5220712" cy="521319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6501384" y="1690688"/>
            <a:ext cx="5321808" cy="1477328"/>
          </a:xfrm>
          <a:prstGeom prst="rect">
            <a:avLst/>
          </a:prstGeom>
          <a:noFill/>
        </p:spPr>
        <p:txBody>
          <a:bodyPr wrap="square" rtlCol="0">
            <a:spAutoFit/>
          </a:bodyPr>
          <a:lstStyle/>
          <a:p>
            <a:r>
              <a:rPr lang="en-US" dirty="0" smtClean="0"/>
              <a:t>Human beings are </a:t>
            </a:r>
          </a:p>
          <a:p>
            <a:pPr marL="285750" indent="-285750">
              <a:buFont typeface="Arial" panose="020B0604020202020204" pitchFamily="34" charset="0"/>
              <a:buChar char="•"/>
            </a:pPr>
            <a:r>
              <a:rPr lang="en-US" dirty="0" smtClean="0"/>
              <a:t>Versatile</a:t>
            </a:r>
          </a:p>
          <a:p>
            <a:pPr marL="285750" indent="-285750">
              <a:buFont typeface="Arial" panose="020B0604020202020204" pitchFamily="34" charset="0"/>
              <a:buChar char="•"/>
            </a:pPr>
            <a:r>
              <a:rPr lang="en-US" dirty="0" smtClean="0"/>
              <a:t>Can do variety of tasks</a:t>
            </a:r>
          </a:p>
          <a:p>
            <a:pPr marL="285750" indent="-285750">
              <a:buFont typeface="Arial" panose="020B0604020202020204" pitchFamily="34" charset="0"/>
              <a:buChar char="•"/>
            </a:pPr>
            <a:r>
              <a:rPr lang="en-US" dirty="0" smtClean="0"/>
              <a:t>Able to learn new concepts</a:t>
            </a:r>
          </a:p>
          <a:p>
            <a:pPr marL="285750" indent="-285750">
              <a:buFont typeface="Arial" panose="020B0604020202020204" pitchFamily="34" charset="0"/>
              <a:buChar char="•"/>
            </a:pPr>
            <a:r>
              <a:rPr lang="en-US" dirty="0" smtClean="0"/>
              <a:t>Can solve complex tasks</a:t>
            </a:r>
            <a:endParaRPr lang="en-US" dirty="0"/>
          </a:p>
        </p:txBody>
      </p:sp>
      <p:pic>
        <p:nvPicPr>
          <p:cNvPr id="1028" name="Picture 4" descr="Interactive Brain - How Injury Can Affect the Brain | BrainLin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18525" y="3721608"/>
            <a:ext cx="2783869" cy="215595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Architecture of Artificial Neural Network - NashTech Blo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781909" y="3566160"/>
            <a:ext cx="2239784" cy="209594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a:picLocks noChangeAspect="1"/>
          </p:cNvPicPr>
          <p:nvPr/>
        </p:nvPicPr>
        <p:blipFill>
          <a:blip r:embed="rId5"/>
          <a:stretch>
            <a:fillRect/>
          </a:stretch>
        </p:blipFill>
        <p:spPr>
          <a:xfrm>
            <a:off x="8519160" y="0"/>
            <a:ext cx="3433456" cy="2124434"/>
          </a:xfrm>
          <a:prstGeom prst="rect">
            <a:avLst/>
          </a:prstGeom>
        </p:spPr>
      </p:pic>
    </p:spTree>
    <p:extLst>
      <p:ext uri="{BB962C8B-B14F-4D97-AF65-F5344CB8AC3E}">
        <p14:creationId xmlns:p14="http://schemas.microsoft.com/office/powerpoint/2010/main" val="278734701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Artificial Neural Network (ANN)</a:t>
            </a:r>
            <a:endParaRPr lang="en-US" dirty="0"/>
          </a:p>
        </p:txBody>
      </p:sp>
      <p:sp>
        <p:nvSpPr>
          <p:cNvPr id="3" name="Content Placeholder 2"/>
          <p:cNvSpPr>
            <a:spLocks noGrp="1"/>
          </p:cNvSpPr>
          <p:nvPr>
            <p:ph idx="1"/>
          </p:nvPr>
        </p:nvSpPr>
        <p:spPr/>
        <p:txBody>
          <a:bodyPr/>
          <a:lstStyle/>
          <a:p>
            <a:r>
              <a:rPr lang="en-US" dirty="0" smtClean="0"/>
              <a:t>ANNs are at the very core of deep learning.</a:t>
            </a:r>
          </a:p>
          <a:p>
            <a:r>
              <a:rPr lang="en-US" dirty="0" smtClean="0"/>
              <a:t>ANNs are versatile, powerful and scalable, making them ideal to large and highly complex ML tasks.</a:t>
            </a:r>
            <a:endParaRPr lang="en-US" dirty="0"/>
          </a:p>
        </p:txBody>
      </p:sp>
    </p:spTree>
    <p:extLst>
      <p:ext uri="{BB962C8B-B14F-4D97-AF65-F5344CB8AC3E}">
        <p14:creationId xmlns:p14="http://schemas.microsoft.com/office/powerpoint/2010/main" val="318708133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 brief history of Neural Networks (NNs)</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785609931"/>
              </p:ext>
            </p:extLst>
          </p:nvPr>
        </p:nvGraphicFramePr>
        <p:xfrm>
          <a:off x="-853440" y="1944497"/>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Rectangle 4"/>
          <p:cNvSpPr/>
          <p:nvPr/>
        </p:nvSpPr>
        <p:spPr>
          <a:xfrm>
            <a:off x="8109637" y="2055614"/>
            <a:ext cx="4173803" cy="646331"/>
          </a:xfrm>
          <a:prstGeom prst="rect">
            <a:avLst/>
          </a:prstGeom>
        </p:spPr>
        <p:txBody>
          <a:bodyPr wrap="square">
            <a:spAutoFit/>
          </a:bodyPr>
          <a:lstStyle/>
          <a:p>
            <a:r>
              <a:rPr lang="en-US" dirty="0" smtClean="0">
                <a:hlinkClick r:id="rId7"/>
              </a:rPr>
              <a:t>https://link.springer.com/article/10.1007/BF02478259</a:t>
            </a:r>
            <a:r>
              <a:rPr lang="en-US" dirty="0" smtClean="0"/>
              <a:t> </a:t>
            </a:r>
            <a:endParaRPr lang="en-US" dirty="0"/>
          </a:p>
        </p:txBody>
      </p:sp>
    </p:spTree>
    <p:extLst>
      <p:ext uri="{BB962C8B-B14F-4D97-AF65-F5344CB8AC3E}">
        <p14:creationId xmlns:p14="http://schemas.microsoft.com/office/powerpoint/2010/main" val="282945893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makes it different this time?</a:t>
            </a:r>
            <a:endParaRPr lang="en-US" dirty="0"/>
          </a:p>
        </p:txBody>
      </p:sp>
      <p:sp>
        <p:nvSpPr>
          <p:cNvPr id="3" name="Content Placeholder 2"/>
          <p:cNvSpPr>
            <a:spLocks noGrp="1"/>
          </p:cNvSpPr>
          <p:nvPr>
            <p:ph idx="1"/>
          </p:nvPr>
        </p:nvSpPr>
        <p:spPr/>
        <p:txBody>
          <a:bodyPr/>
          <a:lstStyle/>
          <a:p>
            <a:r>
              <a:rPr lang="en-US" dirty="0" smtClean="0"/>
              <a:t>Huge quantity of data is now available that can train sophisticated models that can outperform other ML techniques on very large and complex problems.</a:t>
            </a:r>
          </a:p>
          <a:p>
            <a:r>
              <a:rPr lang="en-US" dirty="0" smtClean="0"/>
              <a:t>High computing power now makes it possible to train large neural networks in a reasonable amount of time.</a:t>
            </a:r>
          </a:p>
          <a:p>
            <a:r>
              <a:rPr lang="en-US" dirty="0" smtClean="0"/>
              <a:t>We now have more improved training algorithms.</a:t>
            </a:r>
          </a:p>
          <a:p>
            <a:r>
              <a:rPr lang="en-US" dirty="0" smtClean="0"/>
              <a:t>More funding has started pouring in to this area due to the rapid progress. More products based on ANNs make headline news, which pulls more and more attention and funding towards them.</a:t>
            </a:r>
          </a:p>
          <a:p>
            <a:endParaRPr lang="en-US" dirty="0"/>
          </a:p>
        </p:txBody>
      </p:sp>
    </p:spTree>
    <p:extLst>
      <p:ext uri="{BB962C8B-B14F-4D97-AF65-F5344CB8AC3E}">
        <p14:creationId xmlns:p14="http://schemas.microsoft.com/office/powerpoint/2010/main" val="335544995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Features in Machine Learning</a:t>
            </a:r>
            <a:endParaRPr lang="en-US" dirty="0"/>
          </a:p>
        </p:txBody>
      </p:sp>
      <p:pic>
        <p:nvPicPr>
          <p:cNvPr id="5" name="Picture 4"/>
          <p:cNvPicPr>
            <a:picLocks noChangeAspect="1"/>
          </p:cNvPicPr>
          <p:nvPr/>
        </p:nvPicPr>
        <p:blipFill>
          <a:blip r:embed="rId2"/>
          <a:stretch>
            <a:fillRect/>
          </a:stretch>
        </p:blipFill>
        <p:spPr>
          <a:xfrm>
            <a:off x="838200" y="1800125"/>
            <a:ext cx="7478169" cy="1428949"/>
          </a:xfrm>
          <a:prstGeom prst="rect">
            <a:avLst/>
          </a:prstGeom>
        </p:spPr>
      </p:pic>
    </p:spTree>
    <p:extLst>
      <p:ext uri="{BB962C8B-B14F-4D97-AF65-F5344CB8AC3E}">
        <p14:creationId xmlns:p14="http://schemas.microsoft.com/office/powerpoint/2010/main" val="270296230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Features in Machine Learning</a:t>
            </a:r>
            <a:endParaRPr lang="en-US" dirty="0"/>
          </a:p>
        </p:txBody>
      </p:sp>
      <p:pic>
        <p:nvPicPr>
          <p:cNvPr id="4" name="Picture 3"/>
          <p:cNvPicPr>
            <a:picLocks noChangeAspect="1"/>
          </p:cNvPicPr>
          <p:nvPr/>
        </p:nvPicPr>
        <p:blipFill>
          <a:blip r:embed="rId2"/>
          <a:stretch>
            <a:fillRect/>
          </a:stretch>
        </p:blipFill>
        <p:spPr>
          <a:xfrm>
            <a:off x="838200" y="1608392"/>
            <a:ext cx="7659169" cy="2562583"/>
          </a:xfrm>
          <a:prstGeom prst="rect">
            <a:avLst/>
          </a:prstGeom>
        </p:spPr>
      </p:pic>
    </p:spTree>
    <p:extLst>
      <p:ext uri="{BB962C8B-B14F-4D97-AF65-F5344CB8AC3E}">
        <p14:creationId xmlns:p14="http://schemas.microsoft.com/office/powerpoint/2010/main" val="22656020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Features in Machine Learning</a:t>
            </a:r>
            <a:endParaRPr lang="en-US" dirty="0"/>
          </a:p>
        </p:txBody>
      </p:sp>
      <p:pic>
        <p:nvPicPr>
          <p:cNvPr id="4" name="Picture 3"/>
          <p:cNvPicPr>
            <a:picLocks noChangeAspect="1"/>
          </p:cNvPicPr>
          <p:nvPr/>
        </p:nvPicPr>
        <p:blipFill>
          <a:blip r:embed="rId2"/>
          <a:stretch>
            <a:fillRect/>
          </a:stretch>
        </p:blipFill>
        <p:spPr>
          <a:xfrm>
            <a:off x="838200" y="2272220"/>
            <a:ext cx="7859222" cy="3648584"/>
          </a:xfrm>
          <a:prstGeom prst="rect">
            <a:avLst/>
          </a:prstGeom>
        </p:spPr>
      </p:pic>
    </p:spTree>
    <p:extLst>
      <p:ext uri="{BB962C8B-B14F-4D97-AF65-F5344CB8AC3E}">
        <p14:creationId xmlns:p14="http://schemas.microsoft.com/office/powerpoint/2010/main" val="15225213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Features in Machine Learning</a:t>
            </a:r>
            <a:endParaRPr lang="en-US" dirty="0"/>
          </a:p>
        </p:txBody>
      </p:sp>
      <p:pic>
        <p:nvPicPr>
          <p:cNvPr id="4" name="Picture 3"/>
          <p:cNvPicPr>
            <a:picLocks noChangeAspect="1"/>
          </p:cNvPicPr>
          <p:nvPr/>
        </p:nvPicPr>
        <p:blipFill>
          <a:blip r:embed="rId2"/>
          <a:stretch>
            <a:fillRect/>
          </a:stretch>
        </p:blipFill>
        <p:spPr>
          <a:xfrm>
            <a:off x="838200" y="1967759"/>
            <a:ext cx="8002117" cy="4239217"/>
          </a:xfrm>
          <a:prstGeom prst="rect">
            <a:avLst/>
          </a:prstGeom>
        </p:spPr>
      </p:pic>
    </p:spTree>
    <p:extLst>
      <p:ext uri="{BB962C8B-B14F-4D97-AF65-F5344CB8AC3E}">
        <p14:creationId xmlns:p14="http://schemas.microsoft.com/office/powerpoint/2010/main" val="24534067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Features in Machine Learning</a:t>
            </a:r>
            <a:endParaRPr lang="en-US" dirty="0"/>
          </a:p>
        </p:txBody>
      </p:sp>
      <p:pic>
        <p:nvPicPr>
          <p:cNvPr id="4" name="Picture 3"/>
          <p:cNvPicPr>
            <a:picLocks noChangeAspect="1"/>
          </p:cNvPicPr>
          <p:nvPr/>
        </p:nvPicPr>
        <p:blipFill>
          <a:blip r:embed="rId2"/>
          <a:stretch>
            <a:fillRect/>
          </a:stretch>
        </p:blipFill>
        <p:spPr>
          <a:xfrm>
            <a:off x="838200" y="2006980"/>
            <a:ext cx="8097380" cy="4563112"/>
          </a:xfrm>
          <a:prstGeom prst="rect">
            <a:avLst/>
          </a:prstGeom>
        </p:spPr>
      </p:pic>
    </p:spTree>
    <p:extLst>
      <p:ext uri="{BB962C8B-B14F-4D97-AF65-F5344CB8AC3E}">
        <p14:creationId xmlns:p14="http://schemas.microsoft.com/office/powerpoint/2010/main" val="1789479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Features in Machine Learning</a:t>
            </a:r>
            <a:endParaRPr lang="en-US" dirty="0"/>
          </a:p>
        </p:txBody>
      </p:sp>
      <p:pic>
        <p:nvPicPr>
          <p:cNvPr id="4" name="Picture 3"/>
          <p:cNvPicPr>
            <a:picLocks noChangeAspect="1"/>
          </p:cNvPicPr>
          <p:nvPr/>
        </p:nvPicPr>
        <p:blipFill>
          <a:blip r:embed="rId2"/>
          <a:stretch>
            <a:fillRect/>
          </a:stretch>
        </p:blipFill>
        <p:spPr>
          <a:xfrm>
            <a:off x="838200" y="1571816"/>
            <a:ext cx="8145012" cy="4610743"/>
          </a:xfrm>
          <a:prstGeom prst="rect">
            <a:avLst/>
          </a:prstGeom>
        </p:spPr>
      </p:pic>
    </p:spTree>
    <p:extLst>
      <p:ext uri="{BB962C8B-B14F-4D97-AF65-F5344CB8AC3E}">
        <p14:creationId xmlns:p14="http://schemas.microsoft.com/office/powerpoint/2010/main" val="13093802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Features in Machine Learning</a:t>
            </a:r>
            <a:endParaRPr lang="en-US" dirty="0"/>
          </a:p>
        </p:txBody>
      </p:sp>
      <p:pic>
        <p:nvPicPr>
          <p:cNvPr id="4" name="Picture 3"/>
          <p:cNvPicPr>
            <a:picLocks noChangeAspect="1"/>
          </p:cNvPicPr>
          <p:nvPr/>
        </p:nvPicPr>
        <p:blipFill>
          <a:blip r:embed="rId2"/>
          <a:stretch>
            <a:fillRect/>
          </a:stretch>
        </p:blipFill>
        <p:spPr>
          <a:xfrm>
            <a:off x="838200" y="1754946"/>
            <a:ext cx="7944959" cy="4591691"/>
          </a:xfrm>
          <a:prstGeom prst="rect">
            <a:avLst/>
          </a:prstGeom>
        </p:spPr>
      </p:pic>
    </p:spTree>
    <p:extLst>
      <p:ext uri="{BB962C8B-B14F-4D97-AF65-F5344CB8AC3E}">
        <p14:creationId xmlns:p14="http://schemas.microsoft.com/office/powerpoint/2010/main" val="42077027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971099" y="613969"/>
            <a:ext cx="8249801" cy="5630061"/>
          </a:xfrm>
          <a:prstGeom prst="rect">
            <a:avLst/>
          </a:prstGeom>
        </p:spPr>
      </p:pic>
    </p:spTree>
    <p:extLst>
      <p:ext uri="{BB962C8B-B14F-4D97-AF65-F5344CB8AC3E}">
        <p14:creationId xmlns:p14="http://schemas.microsoft.com/office/powerpoint/2010/main" val="28512868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Biological Neurons</a:t>
            </a:r>
            <a:endParaRPr lang="en-US" dirty="0"/>
          </a:p>
        </p:txBody>
      </p:sp>
      <p:pic>
        <p:nvPicPr>
          <p:cNvPr id="4" name="Picture 3"/>
          <p:cNvPicPr>
            <a:picLocks noChangeAspect="1"/>
          </p:cNvPicPr>
          <p:nvPr/>
        </p:nvPicPr>
        <p:blipFill>
          <a:blip r:embed="rId2"/>
          <a:stretch>
            <a:fillRect/>
          </a:stretch>
        </p:blipFill>
        <p:spPr>
          <a:xfrm>
            <a:off x="0" y="1544384"/>
            <a:ext cx="5658640" cy="3134162"/>
          </a:xfrm>
          <a:prstGeom prst="rect">
            <a:avLst/>
          </a:prstGeom>
        </p:spPr>
      </p:pic>
      <p:sp>
        <p:nvSpPr>
          <p:cNvPr id="5" name="TextBox 4"/>
          <p:cNvSpPr txBox="1"/>
          <p:nvPr/>
        </p:nvSpPr>
        <p:spPr>
          <a:xfrm>
            <a:off x="6025896" y="1690688"/>
            <a:ext cx="6166104" cy="3693319"/>
          </a:xfrm>
          <a:prstGeom prst="rect">
            <a:avLst/>
          </a:prstGeom>
          <a:noFill/>
        </p:spPr>
        <p:txBody>
          <a:bodyPr wrap="square" rtlCol="0">
            <a:spAutoFit/>
          </a:bodyPr>
          <a:lstStyle/>
          <a:p>
            <a:pPr marL="285750" indent="-285750">
              <a:buFont typeface="Arial" panose="020B0604020202020204" pitchFamily="34" charset="0"/>
              <a:buChar char="•"/>
            </a:pPr>
            <a:r>
              <a:rPr lang="en-US" dirty="0" smtClean="0"/>
              <a:t>Biological Neuron: Unusually looking cell mostly found in animal brains.</a:t>
            </a:r>
          </a:p>
          <a:p>
            <a:pPr marL="285750" indent="-285750">
              <a:buFont typeface="Arial" panose="020B0604020202020204" pitchFamily="34" charset="0"/>
              <a:buChar char="•"/>
            </a:pPr>
            <a:r>
              <a:rPr lang="en-US" dirty="0" smtClean="0"/>
              <a:t>It is composed of a cell body, containing the nucleus and most of the cell’s complex components, many branching extensions called dendrites, one very long extension called the axon.</a:t>
            </a:r>
          </a:p>
          <a:p>
            <a:pPr marL="285750" indent="-285750">
              <a:buFont typeface="Arial" panose="020B0604020202020204" pitchFamily="34" charset="0"/>
              <a:buChar char="•"/>
            </a:pPr>
            <a:r>
              <a:rPr lang="en-US" dirty="0" smtClean="0"/>
              <a:t>Near its extremity, axon splits off into many branches called </a:t>
            </a:r>
            <a:r>
              <a:rPr lang="en-US" dirty="0" err="1" smtClean="0"/>
              <a:t>telondria</a:t>
            </a:r>
            <a:r>
              <a:rPr lang="en-US" dirty="0" smtClean="0"/>
              <a:t>, and at the tip of these branches are </a:t>
            </a:r>
            <a:r>
              <a:rPr lang="en-US" dirty="0" err="1" smtClean="0"/>
              <a:t>minisule</a:t>
            </a:r>
            <a:r>
              <a:rPr lang="en-US" dirty="0" smtClean="0"/>
              <a:t> structures called synaptic terminals (synapses), which are connected to the dendrites of other neurons.</a:t>
            </a:r>
          </a:p>
          <a:p>
            <a:pPr marL="285750" indent="-285750">
              <a:buFont typeface="Arial" panose="020B0604020202020204" pitchFamily="34" charset="0"/>
              <a:buChar char="•"/>
            </a:pPr>
            <a:r>
              <a:rPr lang="en-US" dirty="0" smtClean="0"/>
              <a:t>Biological neurons produce short electrical impulses called action potentials (AP), which travel along the axons and make synapses release chemicals called neurotransmitters.</a:t>
            </a:r>
          </a:p>
        </p:txBody>
      </p:sp>
    </p:spTree>
    <p:extLst>
      <p:ext uri="{BB962C8B-B14F-4D97-AF65-F5344CB8AC3E}">
        <p14:creationId xmlns:p14="http://schemas.microsoft.com/office/powerpoint/2010/main" val="258987035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Biological Neurons</a:t>
            </a:r>
            <a:endParaRPr lang="en-US" dirty="0"/>
          </a:p>
        </p:txBody>
      </p:sp>
      <p:pic>
        <p:nvPicPr>
          <p:cNvPr id="4" name="Picture 3"/>
          <p:cNvPicPr>
            <a:picLocks noChangeAspect="1"/>
          </p:cNvPicPr>
          <p:nvPr/>
        </p:nvPicPr>
        <p:blipFill>
          <a:blip r:embed="rId3"/>
          <a:stretch>
            <a:fillRect/>
          </a:stretch>
        </p:blipFill>
        <p:spPr>
          <a:xfrm>
            <a:off x="0" y="1544384"/>
            <a:ext cx="5658640" cy="3134162"/>
          </a:xfrm>
          <a:prstGeom prst="rect">
            <a:avLst/>
          </a:prstGeom>
        </p:spPr>
      </p:pic>
      <p:sp>
        <p:nvSpPr>
          <p:cNvPr id="5" name="TextBox 4"/>
          <p:cNvSpPr txBox="1"/>
          <p:nvPr/>
        </p:nvSpPr>
        <p:spPr>
          <a:xfrm>
            <a:off x="6025896" y="1690688"/>
            <a:ext cx="6166104" cy="923330"/>
          </a:xfrm>
          <a:prstGeom prst="rect">
            <a:avLst/>
          </a:prstGeom>
          <a:noFill/>
        </p:spPr>
        <p:txBody>
          <a:bodyPr wrap="square" rtlCol="0">
            <a:spAutoFit/>
          </a:bodyPr>
          <a:lstStyle/>
          <a:p>
            <a:pPr marL="285750" indent="-285750">
              <a:buFont typeface="Arial" panose="020B0604020202020204" pitchFamily="34" charset="0"/>
              <a:buChar char="•"/>
            </a:pPr>
            <a:r>
              <a:rPr lang="en-US" dirty="0" smtClean="0"/>
              <a:t>Individual biological neurons behave in a rather simple way, they are organized in a vast network of billions, with each neuron connected to thousands of other neurons.</a:t>
            </a:r>
          </a:p>
        </p:txBody>
      </p:sp>
      <p:sp>
        <p:nvSpPr>
          <p:cNvPr id="3" name="TextBox 2"/>
          <p:cNvSpPr txBox="1"/>
          <p:nvPr/>
        </p:nvSpPr>
        <p:spPr>
          <a:xfrm>
            <a:off x="6217920" y="3703320"/>
            <a:ext cx="5135880" cy="369332"/>
          </a:xfrm>
          <a:prstGeom prst="rect">
            <a:avLst/>
          </a:prstGeom>
          <a:noFill/>
        </p:spPr>
        <p:txBody>
          <a:bodyPr wrap="square" rtlCol="0">
            <a:spAutoFit/>
          </a:bodyPr>
          <a:lstStyle/>
          <a:p>
            <a:r>
              <a:rPr lang="en-US" dirty="0" smtClean="0"/>
              <a:t>Complex systems: </a:t>
            </a:r>
            <a:r>
              <a:rPr lang="en-US" dirty="0" smtClean="0">
                <a:hlinkClick r:id="rId4"/>
              </a:rPr>
              <a:t>https://netlogoweb.org/</a:t>
            </a:r>
            <a:r>
              <a:rPr lang="en-US" dirty="0" smtClean="0"/>
              <a:t> </a:t>
            </a:r>
            <a:endParaRPr lang="en-US" dirty="0"/>
          </a:p>
        </p:txBody>
      </p:sp>
    </p:spTree>
    <p:extLst>
      <p:ext uri="{BB962C8B-B14F-4D97-AF65-F5344CB8AC3E}">
        <p14:creationId xmlns:p14="http://schemas.microsoft.com/office/powerpoint/2010/main" val="18521341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Biological Neurons</a:t>
            </a:r>
            <a:endParaRPr lang="en-US" dirty="0"/>
          </a:p>
        </p:txBody>
      </p:sp>
      <p:pic>
        <p:nvPicPr>
          <p:cNvPr id="4" name="Picture 3"/>
          <p:cNvPicPr>
            <a:picLocks noChangeAspect="1"/>
          </p:cNvPicPr>
          <p:nvPr/>
        </p:nvPicPr>
        <p:blipFill>
          <a:blip r:embed="rId3"/>
          <a:stretch>
            <a:fillRect/>
          </a:stretch>
        </p:blipFill>
        <p:spPr>
          <a:xfrm>
            <a:off x="0" y="1544384"/>
            <a:ext cx="5658640" cy="3134162"/>
          </a:xfrm>
          <a:prstGeom prst="rect">
            <a:avLst/>
          </a:prstGeom>
        </p:spPr>
      </p:pic>
      <p:sp>
        <p:nvSpPr>
          <p:cNvPr id="5" name="TextBox 4"/>
          <p:cNvSpPr txBox="1"/>
          <p:nvPr/>
        </p:nvSpPr>
        <p:spPr>
          <a:xfrm>
            <a:off x="6025896" y="1690688"/>
            <a:ext cx="6166104" cy="646331"/>
          </a:xfrm>
          <a:prstGeom prst="rect">
            <a:avLst/>
          </a:prstGeom>
          <a:noFill/>
        </p:spPr>
        <p:txBody>
          <a:bodyPr wrap="square" rtlCol="0">
            <a:spAutoFit/>
          </a:bodyPr>
          <a:lstStyle/>
          <a:p>
            <a:pPr marL="285750" indent="-285750">
              <a:buFont typeface="Arial" panose="020B0604020202020204" pitchFamily="34" charset="0"/>
              <a:buChar char="•"/>
            </a:pPr>
            <a:r>
              <a:rPr lang="en-US" dirty="0" smtClean="0"/>
              <a:t>Neurons are often organized in consecutive layers, especially in the cerebral cortex.</a:t>
            </a:r>
          </a:p>
        </p:txBody>
      </p:sp>
      <p:pic>
        <p:nvPicPr>
          <p:cNvPr id="3" name="Picture 2"/>
          <p:cNvPicPr>
            <a:picLocks noChangeAspect="1"/>
          </p:cNvPicPr>
          <p:nvPr/>
        </p:nvPicPr>
        <p:blipFill>
          <a:blip r:embed="rId4"/>
          <a:stretch>
            <a:fillRect/>
          </a:stretch>
        </p:blipFill>
        <p:spPr>
          <a:xfrm>
            <a:off x="5292378" y="3666749"/>
            <a:ext cx="6782747" cy="2191056"/>
          </a:xfrm>
          <a:prstGeom prst="rect">
            <a:avLst/>
          </a:prstGeom>
        </p:spPr>
      </p:pic>
    </p:spTree>
    <p:extLst>
      <p:ext uri="{BB962C8B-B14F-4D97-AF65-F5344CB8AC3E}">
        <p14:creationId xmlns:p14="http://schemas.microsoft.com/office/powerpoint/2010/main" val="208557804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866309" y="461548"/>
            <a:ext cx="8459381" cy="5934903"/>
          </a:xfrm>
          <a:prstGeom prst="rect">
            <a:avLst/>
          </a:prstGeom>
        </p:spPr>
      </p:pic>
    </p:spTree>
    <p:extLst>
      <p:ext uri="{BB962C8B-B14F-4D97-AF65-F5344CB8AC3E}">
        <p14:creationId xmlns:p14="http://schemas.microsoft.com/office/powerpoint/2010/main" val="358925448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050432" y="205389"/>
            <a:ext cx="7030431" cy="2295845"/>
          </a:xfrm>
          <a:prstGeom prst="rect">
            <a:avLst/>
          </a:prstGeom>
        </p:spPr>
      </p:pic>
    </p:spTree>
    <p:extLst>
      <p:ext uri="{BB962C8B-B14F-4D97-AF65-F5344CB8AC3E}">
        <p14:creationId xmlns:p14="http://schemas.microsoft.com/office/powerpoint/2010/main" val="2503909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775841" y="97445"/>
            <a:ext cx="8183117" cy="4029637"/>
          </a:xfrm>
          <a:prstGeom prst="rect">
            <a:avLst/>
          </a:prstGeom>
        </p:spPr>
      </p:pic>
    </p:spTree>
    <p:extLst>
      <p:ext uri="{BB962C8B-B14F-4D97-AF65-F5344CB8AC3E}">
        <p14:creationId xmlns:p14="http://schemas.microsoft.com/office/powerpoint/2010/main" val="7662670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040842" y="91678"/>
            <a:ext cx="7964011" cy="4772691"/>
          </a:xfrm>
          <a:prstGeom prst="rect">
            <a:avLst/>
          </a:prstGeom>
        </p:spPr>
      </p:pic>
    </p:spTree>
    <p:extLst>
      <p:ext uri="{BB962C8B-B14F-4D97-AF65-F5344CB8AC3E}">
        <p14:creationId xmlns:p14="http://schemas.microsoft.com/office/powerpoint/2010/main" val="15610482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233</TotalTime>
  <Words>534</Words>
  <Application>Microsoft Office PowerPoint</Application>
  <PresentationFormat>Widescreen</PresentationFormat>
  <Paragraphs>47</Paragraphs>
  <Slides>21</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Calibri Light</vt:lpstr>
      <vt:lpstr>Office Theme</vt:lpstr>
      <vt:lpstr>Introduction to Artificial Neural Networks</vt:lpstr>
      <vt:lpstr>Goal: Build an Intelligent System</vt:lpstr>
      <vt:lpstr>Goal: Build an Intelligent System</vt:lpstr>
      <vt:lpstr>Artificial Neural Network (ANN)</vt:lpstr>
      <vt:lpstr> A brief history of Neural Networks (NNs)</vt:lpstr>
      <vt:lpstr>What makes it different this time?</vt:lpstr>
      <vt:lpstr>Features in Machine Learning</vt:lpstr>
      <vt:lpstr>Features in Machine Learning</vt:lpstr>
      <vt:lpstr>Features in Machine Learning</vt:lpstr>
      <vt:lpstr>Features in Machine Learning</vt:lpstr>
      <vt:lpstr>Features in Machine Learning</vt:lpstr>
      <vt:lpstr>Features in Machine Learning</vt:lpstr>
      <vt:lpstr>Features in Machine Learning</vt:lpstr>
      <vt:lpstr>PowerPoint Presentation</vt:lpstr>
      <vt:lpstr>Biological Neurons</vt:lpstr>
      <vt:lpstr>Biological Neurons</vt:lpstr>
      <vt:lpstr>Biological Neurons</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Artificial Neural Networks</dc:title>
  <dc:creator>ASUS</dc:creator>
  <cp:lastModifiedBy>ASUS</cp:lastModifiedBy>
  <cp:revision>12</cp:revision>
  <dcterms:created xsi:type="dcterms:W3CDTF">2025-06-21T13:34:43Z</dcterms:created>
  <dcterms:modified xsi:type="dcterms:W3CDTF">2025-06-21T17:28:16Z</dcterms:modified>
</cp:coreProperties>
</file>